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38620" y="0"/>
            <a:ext cx="6949380" cy="10287000"/>
          </a:xfrm>
          <a:prstGeom prst="rect">
            <a:avLst/>
          </a:prstGeom>
          <a:solidFill>
            <a:srgbClr val="EAE0C7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609600"/>
            <a:ext cx="33039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D4B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0498" y="609600"/>
            <a:ext cx="328460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· STATISTICS II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2286000"/>
            <a:ext cx="10140483" cy="24861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300" spc="-126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Statistical Analysis of </a:t>
            </a:r>
            <a:pPr algn="l" indent="0" marL="0">
              <a:lnSpc>
                <a:spcPct val="102000"/>
              </a:lnSpc>
              <a:buNone/>
            </a:pPr>
            <a:r>
              <a:rPr lang="en-US" sz="6300" i="1" spc="-126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CICIDS 2017 </a:t>
            </a:r>
            <a:pPr algn="l" indent="0" marL="0">
              <a:lnSpc>
                <a:spcPct val="102000"/>
              </a:lnSpc>
              <a:buNone/>
            </a:pPr>
            <a:r>
              <a:rPr lang="en-US" sz="6300" spc="-126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Intrusion </a:t>
            </a:r>
            <a:pPr algn="l" indent="0" marL="0">
              <a:lnSpc>
                <a:spcPct val="102000"/>
              </a:lnSpc>
              <a:buNone/>
            </a:pPr>
            <a:r>
              <a:rPr lang="en-US" sz="6300" i="1" spc="-126" kern="0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6300" dirty="0"/>
          </a:p>
        </p:txBody>
      </p:sp>
      <p:sp>
        <p:nvSpPr>
          <p:cNvPr id="6" name="Shape 4"/>
          <p:cNvSpPr/>
          <p:nvPr/>
        </p:nvSpPr>
        <p:spPr>
          <a:xfrm>
            <a:off x="762000" y="5096024"/>
            <a:ext cx="1143000" cy="14288"/>
          </a:xfrm>
          <a:prstGeom prst="rect">
            <a:avLst/>
          </a:prstGeom>
          <a:solidFill>
            <a:srgbClr val="5A6173"/>
          </a:solidFill>
          <a:ln/>
        </p:spPr>
      </p:sp>
      <p:sp>
        <p:nvSpPr>
          <p:cNvPr id="7" name="Text 5"/>
          <p:cNvSpPr/>
          <p:nvPr/>
        </p:nvSpPr>
        <p:spPr>
          <a:xfrm>
            <a:off x="762000" y="5377011"/>
            <a:ext cx="8633460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Mapping normal traffic and isolating threats via multiple linear &amp; logistic regression.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762000" y="9565481"/>
            <a:ext cx="3259009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25" b="1" spc="247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IDC 5205 · MAY 2026</a:t>
            </a:r>
            <a:endParaRPr lang="en-US" sz="1125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32582" y="2212333"/>
            <a:ext cx="5862335" cy="586233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866144" y="609600"/>
            <a:ext cx="2896624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234" kern="0" dirty="0">
                <a:solidFill>
                  <a:srgbClr val="70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MATRIX · CICIDS 2017</a:t>
            </a:r>
            <a:endParaRPr lang="en-US" sz="9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58345" y="609600"/>
            <a:ext cx="8438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73163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31739" y="609600"/>
            <a:ext cx="256802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RESEARCH QUESTIONS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5927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200" spc="-76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Defining the </a:t>
            </a:r>
            <a:pPr algn="l" indent="0" marL="0">
              <a:lnSpc>
                <a:spcPct val="104000"/>
              </a:lnSpc>
              <a:buNone/>
            </a:pPr>
            <a:r>
              <a:rPr lang="en-US" sz="4200" i="1" spc="-76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 </a:t>
            </a:r>
            <a:pPr algn="l" indent="0" marL="0">
              <a:lnSpc>
                <a:spcPct val="104000"/>
              </a:lnSpc>
              <a:buNone/>
            </a:pPr>
            <a:r>
              <a:rPr lang="en-US" sz="4200" spc="-76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the </a:t>
            </a:r>
            <a:pPr algn="l" indent="0" marL="0">
              <a:lnSpc>
                <a:spcPct val="104000"/>
              </a:lnSpc>
              <a:buNone/>
            </a:pPr>
            <a:r>
              <a:rPr lang="en-US" sz="4200" i="1" spc="-76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threat</a:t>
            </a:r>
            <a:pPr algn="l" indent="0" marL="0">
              <a:lnSpc>
                <a:spcPct val="104000"/>
              </a:lnSpc>
              <a:buNone/>
            </a:pPr>
            <a:r>
              <a:rPr lang="en-US" sz="4200" spc="-76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62000" y="1859607"/>
            <a:ext cx="9810750" cy="6456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5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split the question in two: first describe normal network behavior, then learn what makes an attack look different.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762000" y="2771924"/>
            <a:ext cx="5435501" cy="2712095"/>
          </a:xfrm>
          <a:prstGeom prst="roundRect">
            <a:avLst>
              <a:gd name="adj" fmla="val 1405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2975" y="2667149"/>
            <a:ext cx="1315938" cy="165646"/>
          </a:xfrm>
          <a:prstGeom prst="rect">
            <a:avLst/>
          </a:prstGeom>
          <a:solidFill>
            <a:srgbClr val="F4EEDF"/>
          </a:solidFill>
          <a:ln/>
        </p:spPr>
      </p:sp>
      <p:sp>
        <p:nvSpPr>
          <p:cNvPr id="9" name="Text 7"/>
          <p:cNvSpPr/>
          <p:nvPr/>
        </p:nvSpPr>
        <p:spPr>
          <a:xfrm>
            <a:off x="1019175" y="2667149"/>
            <a:ext cx="1239738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62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TERRAIN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19175" y="3067199"/>
            <a:ext cx="5068785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CICIDS 2017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19175" y="3684389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2105025" y="3627239"/>
            <a:ext cx="3950360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Canadian Institute for Cybersecurity.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19175" y="3943350"/>
            <a:ext cx="4921151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4" name="Text 12"/>
          <p:cNvSpPr/>
          <p:nvPr/>
        </p:nvSpPr>
        <p:spPr>
          <a:xfrm>
            <a:off x="1019175" y="4105275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2105025" y="4048125"/>
            <a:ext cx="3950360" cy="479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 columns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describing packet sizes, timing, TCP flags, and routing.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19175" y="4585097"/>
            <a:ext cx="4921151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7" name="Text 15"/>
          <p:cNvSpPr/>
          <p:nvPr/>
        </p:nvSpPr>
        <p:spPr>
          <a:xfrm>
            <a:off x="1019175" y="4747022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endParaRPr lang="en-US" sz="825" dirty="0"/>
          </a:p>
        </p:txBody>
      </p:sp>
      <p:sp>
        <p:nvSpPr>
          <p:cNvPr id="18" name="Text 16"/>
          <p:cNvSpPr/>
          <p:nvPr/>
        </p:nvSpPr>
        <p:spPr>
          <a:xfrm>
            <a:off x="2105025" y="4689872"/>
            <a:ext cx="3950360" cy="479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~250 rows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drawn from each raw CSV across 8 days of traffic, cleaned to remove infinities and NAs.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26101" y="2771924"/>
            <a:ext cx="5435650" cy="2712095"/>
          </a:xfrm>
          <a:prstGeom prst="roundRect">
            <a:avLst>
              <a:gd name="adj" fmla="val 1405"/>
            </a:avLst>
          </a:prstGeom>
          <a:solidFill>
            <a:srgbClr val="FBF7E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26101" y="5474494"/>
            <a:ext cx="543565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1" name="Shape 19"/>
          <p:cNvSpPr/>
          <p:nvPr/>
        </p:nvSpPr>
        <p:spPr>
          <a:xfrm>
            <a:off x="6426101" y="2771924"/>
            <a:ext cx="5435650" cy="28575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2" name="Shape 20"/>
          <p:cNvSpPr/>
          <p:nvPr/>
        </p:nvSpPr>
        <p:spPr>
          <a:xfrm>
            <a:off x="6426101" y="2771924"/>
            <a:ext cx="9525" cy="271209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52225" y="2771924"/>
            <a:ext cx="9525" cy="271209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4" name="Shape 22"/>
          <p:cNvSpPr/>
          <p:nvPr/>
        </p:nvSpPr>
        <p:spPr>
          <a:xfrm>
            <a:off x="6607076" y="2686199"/>
            <a:ext cx="1110555" cy="165646"/>
          </a:xfrm>
          <a:prstGeom prst="rect">
            <a:avLst/>
          </a:prstGeom>
          <a:solidFill>
            <a:srgbClr val="F4EEDF"/>
          </a:solidFill>
          <a:ln/>
        </p:spPr>
      </p:sp>
      <p:sp>
        <p:nvSpPr>
          <p:cNvPr id="25" name="Text 23"/>
          <p:cNvSpPr/>
          <p:nvPr/>
        </p:nvSpPr>
        <p:spPr>
          <a:xfrm>
            <a:off x="6683276" y="2686199"/>
            <a:ext cx="1034355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62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MLR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683276" y="3086249"/>
            <a:ext cx="5068939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Establish what's normal.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6683276" y="3703439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825" dirty="0"/>
          </a:p>
        </p:txBody>
      </p:sp>
      <p:sp>
        <p:nvSpPr>
          <p:cNvPr id="28" name="Text 26"/>
          <p:cNvSpPr/>
          <p:nvPr/>
        </p:nvSpPr>
        <p:spPr>
          <a:xfrm>
            <a:off x="7769126" y="3646289"/>
            <a:ext cx="3950513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Benign traffic only.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683276" y="3962400"/>
            <a:ext cx="49213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0" name="Text 28"/>
          <p:cNvSpPr/>
          <p:nvPr/>
        </p:nvSpPr>
        <p:spPr>
          <a:xfrm>
            <a:off x="6683276" y="4124325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825" dirty="0"/>
          </a:p>
        </p:txBody>
      </p:sp>
      <p:sp>
        <p:nvSpPr>
          <p:cNvPr id="31" name="Text 29"/>
          <p:cNvSpPr/>
          <p:nvPr/>
        </p:nvSpPr>
        <p:spPr>
          <a:xfrm>
            <a:off x="7769126" y="4067175"/>
            <a:ext cx="3950513" cy="479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network flow features best predict total byte volume ( </a:t>
            </a:r>
            <a:pPr algn="l" indent="0" marL="0">
              <a:lnSpc>
                <a:spcPct val="145000"/>
              </a:lnSpc>
              <a:buNone/>
            </a:pPr>
            <a:r>
              <a:rPr lang="en-US" sz="1200" i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Flow.Bytes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)?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683276" y="4604147"/>
            <a:ext cx="49213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3" name="Text 31"/>
          <p:cNvSpPr/>
          <p:nvPr/>
        </p:nvSpPr>
        <p:spPr>
          <a:xfrm>
            <a:off x="6683276" y="4766072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825" dirty="0"/>
          </a:p>
        </p:txBody>
      </p:sp>
      <p:sp>
        <p:nvSpPr>
          <p:cNvPr id="34" name="Text 32"/>
          <p:cNvSpPr/>
          <p:nvPr/>
        </p:nvSpPr>
        <p:spPr>
          <a:xfrm>
            <a:off x="7769126" y="4708922"/>
            <a:ext cx="3950513" cy="479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Identify the components that contribute to network flow in benign network configurations.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2090350" y="2771924"/>
            <a:ext cx="5435650" cy="2712095"/>
          </a:xfrm>
          <a:prstGeom prst="roundRect">
            <a:avLst>
              <a:gd name="adj" fmla="val 1405"/>
            </a:avLst>
          </a:prstGeom>
          <a:solidFill>
            <a:srgbClr val="FBF7E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090350" y="5474494"/>
            <a:ext cx="543565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7" name="Shape 35"/>
          <p:cNvSpPr/>
          <p:nvPr/>
        </p:nvSpPr>
        <p:spPr>
          <a:xfrm>
            <a:off x="12090350" y="2771924"/>
            <a:ext cx="5435650" cy="28575"/>
          </a:xfrm>
          <a:prstGeom prst="rect">
            <a:avLst/>
          </a:prstGeom>
          <a:solidFill>
            <a:srgbClr val="B33A2E"/>
          </a:solidFill>
          <a:ln/>
        </p:spPr>
      </p:sp>
      <p:sp>
        <p:nvSpPr>
          <p:cNvPr id="38" name="Shape 36"/>
          <p:cNvSpPr/>
          <p:nvPr/>
        </p:nvSpPr>
        <p:spPr>
          <a:xfrm>
            <a:off x="12090350" y="2771924"/>
            <a:ext cx="9525" cy="271209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9" name="Shape 37"/>
          <p:cNvSpPr/>
          <p:nvPr/>
        </p:nvSpPr>
        <p:spPr>
          <a:xfrm>
            <a:off x="17516475" y="2771924"/>
            <a:ext cx="9525" cy="271209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0" name="Shape 38"/>
          <p:cNvSpPr/>
          <p:nvPr/>
        </p:nvSpPr>
        <p:spPr>
          <a:xfrm>
            <a:off x="12271325" y="2686199"/>
            <a:ext cx="1428155" cy="165646"/>
          </a:xfrm>
          <a:prstGeom prst="rect">
            <a:avLst/>
          </a:prstGeom>
          <a:solidFill>
            <a:srgbClr val="F4EEDF"/>
          </a:solidFill>
          <a:ln/>
        </p:spPr>
      </p:sp>
      <p:sp>
        <p:nvSpPr>
          <p:cNvPr id="41" name="Text 39"/>
          <p:cNvSpPr/>
          <p:nvPr/>
        </p:nvSpPr>
        <p:spPr>
          <a:xfrm>
            <a:off x="12347525" y="2686199"/>
            <a:ext cx="1351955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62" kern="0" dirty="0">
                <a:solidFill>
                  <a:srgbClr val="B3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LOGISTIC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2347525" y="3086249"/>
            <a:ext cx="5068939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i="1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Catch the culprit.</a:t>
            </a:r>
            <a:endParaRPr lang="en-US" sz="2100" dirty="0"/>
          </a:p>
        </p:txBody>
      </p:sp>
      <p:sp>
        <p:nvSpPr>
          <p:cNvPr id="43" name="Text 41"/>
          <p:cNvSpPr/>
          <p:nvPr/>
        </p:nvSpPr>
        <p:spPr>
          <a:xfrm>
            <a:off x="12347525" y="3703439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825" dirty="0"/>
          </a:p>
        </p:txBody>
      </p:sp>
      <p:sp>
        <p:nvSpPr>
          <p:cNvPr id="44" name="Text 42"/>
          <p:cNvSpPr/>
          <p:nvPr/>
        </p:nvSpPr>
        <p:spPr>
          <a:xfrm>
            <a:off x="13433375" y="3646289"/>
            <a:ext cx="3950513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traffic — benign and attack.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2347525" y="3962400"/>
            <a:ext cx="49213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7525" y="4124325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825" dirty="0"/>
          </a:p>
        </p:txBody>
      </p:sp>
      <p:sp>
        <p:nvSpPr>
          <p:cNvPr id="47" name="Text 45"/>
          <p:cNvSpPr/>
          <p:nvPr/>
        </p:nvSpPr>
        <p:spPr>
          <a:xfrm>
            <a:off x="13433375" y="4067175"/>
            <a:ext cx="3950513" cy="479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features actually </a:t>
            </a:r>
            <a:pPr algn="l"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distinguish attack flows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benign ones?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12347525" y="4604147"/>
            <a:ext cx="49213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9" name="Text 47"/>
          <p:cNvSpPr/>
          <p:nvPr/>
        </p:nvSpPr>
        <p:spPr>
          <a:xfrm>
            <a:off x="12347525" y="4766072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825" dirty="0"/>
          </a:p>
        </p:txBody>
      </p:sp>
      <p:sp>
        <p:nvSpPr>
          <p:cNvPr id="50" name="Text 48"/>
          <p:cNvSpPr/>
          <p:nvPr/>
        </p:nvSpPr>
        <p:spPr>
          <a:xfrm>
            <a:off x="13433375" y="4708922"/>
            <a:ext cx="3950513" cy="479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Identify the risk factors and classify each flow as benign or attack.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52" name="Text 50"/>
          <p:cNvSpPr/>
          <p:nvPr/>
        </p:nvSpPr>
        <p:spPr>
          <a:xfrm>
            <a:off x="762000" y="9723239"/>
            <a:ext cx="5016206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15336589" y="9723239"/>
            <a:ext cx="2265611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58345" y="609600"/>
            <a:ext cx="8438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154528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345382" y="609600"/>
            <a:ext cx="244316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VARIABLE GROUPING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spc="-81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algn="l" indent="0" marL="0">
              <a:lnSpc>
                <a:spcPct val="104000"/>
              </a:lnSpc>
              <a:buNone/>
            </a:pPr>
            <a:r>
              <a:rPr lang="en-US" sz="4500" i="1" spc="-81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predictor sets </a:t>
            </a:r>
            <a:pPr algn="l" indent="0" marL="0">
              <a:lnSpc>
                <a:spcPct val="104000"/>
              </a:lnSpc>
              <a:buNone/>
            </a:pPr>
            <a:r>
              <a:rPr lang="en-US" sz="4500" spc="-81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behind each model.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762000" y="1899196"/>
            <a:ext cx="9810750" cy="6179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 variable selection, two compact predictor sets remain — eight for the linear baseline, and thirteen for the classifier (later pruned to eleven via VIF in </a:t>
            </a:r>
            <a:pPr algn="l" indent="0" marL="0">
              <a:lnSpc>
                <a:spcPct val="145000"/>
              </a:lnSpc>
              <a:buNone/>
            </a:pPr>
            <a:r>
              <a:rPr lang="en-US" sz="1449" dirty="0">
                <a:solidFill>
                  <a:srgbClr val="5A61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Logistic.R</a:t>
            </a:r>
            <a:pPr algn="l" indent="0" marL="0">
              <a:lnSpc>
                <a:spcPct val="145000"/>
              </a:lnSpc>
              <a:buNone/>
            </a:pPr>
            <a:r>
              <a:rPr lang="en-US" sz="15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762000" y="2707630"/>
            <a:ext cx="8229600" cy="5925741"/>
          </a:xfrm>
          <a:prstGeom prst="roundRect">
            <a:avLst>
              <a:gd name="adj" fmla="val 643"/>
            </a:avLst>
          </a:prstGeom>
          <a:solidFill>
            <a:srgbClr val="FBF7EC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8623846"/>
            <a:ext cx="82296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9" name="Shape 7"/>
          <p:cNvSpPr/>
          <p:nvPr/>
        </p:nvSpPr>
        <p:spPr>
          <a:xfrm>
            <a:off x="762000" y="2707630"/>
            <a:ext cx="8229600" cy="28575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Shape 8"/>
          <p:cNvSpPr/>
          <p:nvPr/>
        </p:nvSpPr>
        <p:spPr>
          <a:xfrm>
            <a:off x="762000" y="2707630"/>
            <a:ext cx="9525" cy="5925741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1" name="Shape 9"/>
          <p:cNvSpPr/>
          <p:nvPr/>
        </p:nvSpPr>
        <p:spPr>
          <a:xfrm>
            <a:off x="8982075" y="2707630"/>
            <a:ext cx="9525" cy="5925741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2" name="Shape 10"/>
          <p:cNvSpPr/>
          <p:nvPr/>
        </p:nvSpPr>
        <p:spPr>
          <a:xfrm>
            <a:off x="942975" y="2621905"/>
            <a:ext cx="2322165" cy="179487"/>
          </a:xfrm>
          <a:prstGeom prst="rect">
            <a:avLst/>
          </a:prstGeom>
          <a:solidFill>
            <a:srgbClr val="F4EEDF"/>
          </a:solidFill>
          <a:ln/>
        </p:spPr>
      </p:sp>
      <p:sp>
        <p:nvSpPr>
          <p:cNvPr id="13" name="Text 11"/>
          <p:cNvSpPr/>
          <p:nvPr/>
        </p:nvSpPr>
        <p:spPr>
          <a:xfrm>
            <a:off x="1019175" y="2621905"/>
            <a:ext cx="2245965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76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LINEAR REGRESSION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1057275" y="3021955"/>
            <a:ext cx="7868221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25" b="1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Predicting </a:t>
            </a:r>
            <a:pPr algn="l" indent="0" marL="0">
              <a:lnSpc>
                <a:spcPct val="120000"/>
              </a:lnSpc>
              <a:buNone/>
            </a:pPr>
            <a:r>
              <a:rPr lang="en-US" sz="2025" b="1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Flow.Bytes</a:t>
            </a:r>
            <a:endParaRPr lang="en-US" sz="2025" dirty="0"/>
          </a:p>
        </p:txBody>
      </p:sp>
      <p:sp>
        <p:nvSpPr>
          <p:cNvPr id="15" name="Text 13"/>
          <p:cNvSpPr/>
          <p:nvPr/>
        </p:nvSpPr>
        <p:spPr>
          <a:xfrm>
            <a:off x="1057275" y="3482876"/>
            <a:ext cx="7868221" cy="2180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5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USED IN </a:t>
            </a:r>
            <a:pPr algn="l" indent="0" marL="0">
              <a:lnSpc>
                <a:spcPct val="145000"/>
              </a:lnSpc>
              <a:buNone/>
            </a:pPr>
            <a:r>
              <a:rPr lang="en-US" sz="926" spc="156" kern="0" dirty="0">
                <a:solidFill>
                  <a:srgbClr val="8A8E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MLR_DATA.CSV</a:t>
            </a:r>
            <a:endParaRPr lang="en-US" sz="975" dirty="0"/>
          </a:p>
        </p:txBody>
      </p:sp>
      <p:sp>
        <p:nvSpPr>
          <p:cNvPr id="16" name="Shape 14"/>
          <p:cNvSpPr/>
          <p:nvPr/>
        </p:nvSpPr>
        <p:spPr>
          <a:xfrm>
            <a:off x="1057275" y="3862834"/>
            <a:ext cx="1528316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17" name="Text 15"/>
          <p:cNvSpPr/>
          <p:nvPr/>
        </p:nvSpPr>
        <p:spPr>
          <a:xfrm>
            <a:off x="1114425" y="3881884"/>
            <a:ext cx="1490216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min_seg_size_forward</a:t>
            </a:r>
            <a:endParaRPr lang="en-US" sz="1013" dirty="0"/>
          </a:p>
        </p:txBody>
      </p:sp>
      <p:sp>
        <p:nvSpPr>
          <p:cNvPr id="18" name="Text 16"/>
          <p:cNvSpPr/>
          <p:nvPr/>
        </p:nvSpPr>
        <p:spPr>
          <a:xfrm>
            <a:off x="3552825" y="3862834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Minimum segment size in forward direction.</a:t>
            </a:r>
            <a:endParaRPr lang="en-US" sz="1163" dirty="0"/>
          </a:p>
        </p:txBody>
      </p:sp>
      <p:sp>
        <p:nvSpPr>
          <p:cNvPr id="19" name="Shape 17"/>
          <p:cNvSpPr/>
          <p:nvPr/>
        </p:nvSpPr>
        <p:spPr>
          <a:xfrm>
            <a:off x="1057275" y="4141143"/>
            <a:ext cx="76390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20" name="Shape 18"/>
          <p:cNvSpPr/>
          <p:nvPr/>
        </p:nvSpPr>
        <p:spPr>
          <a:xfrm>
            <a:off x="1057275" y="4217343"/>
            <a:ext cx="1245543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21" name="Text 19"/>
          <p:cNvSpPr/>
          <p:nvPr/>
        </p:nvSpPr>
        <p:spPr>
          <a:xfrm>
            <a:off x="1114425" y="4236393"/>
            <a:ext cx="1207443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act_data_pkt_fwd</a:t>
            </a:r>
            <a:endParaRPr lang="en-US" sz="1013" dirty="0"/>
          </a:p>
        </p:txBody>
      </p:sp>
      <p:sp>
        <p:nvSpPr>
          <p:cNvPr id="22" name="Text 20"/>
          <p:cNvSpPr/>
          <p:nvPr/>
        </p:nvSpPr>
        <p:spPr>
          <a:xfrm>
            <a:off x="3552825" y="4217343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 of forward packets with actual data.</a:t>
            </a:r>
            <a:endParaRPr lang="en-US" sz="1163" dirty="0"/>
          </a:p>
        </p:txBody>
      </p:sp>
      <p:sp>
        <p:nvSpPr>
          <p:cNvPr id="23" name="Shape 21"/>
          <p:cNvSpPr/>
          <p:nvPr/>
        </p:nvSpPr>
        <p:spPr>
          <a:xfrm>
            <a:off x="1057275" y="4495651"/>
            <a:ext cx="76390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24" name="Shape 22"/>
          <p:cNvSpPr/>
          <p:nvPr/>
        </p:nvSpPr>
        <p:spPr>
          <a:xfrm>
            <a:off x="1057275" y="4571851"/>
            <a:ext cx="1528316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25" name="Text 23"/>
          <p:cNvSpPr/>
          <p:nvPr/>
        </p:nvSpPr>
        <p:spPr>
          <a:xfrm>
            <a:off x="1114425" y="4590901"/>
            <a:ext cx="1490216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Avg.Bwd.Segment.Size</a:t>
            </a:r>
            <a:endParaRPr lang="en-US" sz="1013" dirty="0"/>
          </a:p>
        </p:txBody>
      </p:sp>
      <p:sp>
        <p:nvSpPr>
          <p:cNvPr id="26" name="Text 24"/>
          <p:cNvSpPr/>
          <p:nvPr/>
        </p:nvSpPr>
        <p:spPr>
          <a:xfrm>
            <a:off x="3552825" y="4571851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Average size of backward data segments.</a:t>
            </a:r>
            <a:endParaRPr lang="en-US" sz="1163" dirty="0"/>
          </a:p>
        </p:txBody>
      </p:sp>
      <p:sp>
        <p:nvSpPr>
          <p:cNvPr id="27" name="Shape 25"/>
          <p:cNvSpPr/>
          <p:nvPr/>
        </p:nvSpPr>
        <p:spPr>
          <a:xfrm>
            <a:off x="1057275" y="4850160"/>
            <a:ext cx="76390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28" name="Shape 26"/>
          <p:cNvSpPr/>
          <p:nvPr/>
        </p:nvSpPr>
        <p:spPr>
          <a:xfrm>
            <a:off x="1057275" y="4926360"/>
            <a:ext cx="1599009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29" name="Text 27"/>
          <p:cNvSpPr/>
          <p:nvPr/>
        </p:nvSpPr>
        <p:spPr>
          <a:xfrm>
            <a:off x="1114425" y="4945410"/>
            <a:ext cx="1560909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Bwd.Packet.Length.Min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3552825" y="4926360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Minimum length of backward packets.</a:t>
            </a:r>
            <a:endParaRPr lang="en-US" sz="1163" dirty="0"/>
          </a:p>
        </p:txBody>
      </p:sp>
      <p:sp>
        <p:nvSpPr>
          <p:cNvPr id="31" name="Shape 29"/>
          <p:cNvSpPr/>
          <p:nvPr/>
        </p:nvSpPr>
        <p:spPr>
          <a:xfrm>
            <a:off x="1057275" y="5204668"/>
            <a:ext cx="76390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32" name="Shape 30"/>
          <p:cNvSpPr/>
          <p:nvPr/>
        </p:nvSpPr>
        <p:spPr>
          <a:xfrm>
            <a:off x="1057275" y="5280868"/>
            <a:ext cx="1599009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33" name="Text 31"/>
          <p:cNvSpPr/>
          <p:nvPr/>
        </p:nvSpPr>
        <p:spPr>
          <a:xfrm>
            <a:off x="1114425" y="5299918"/>
            <a:ext cx="1560909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Bwd.Packet.Length.Std</a:t>
            </a:r>
            <a:endParaRPr lang="en-US" sz="1013" dirty="0"/>
          </a:p>
        </p:txBody>
      </p:sp>
      <p:sp>
        <p:nvSpPr>
          <p:cNvPr id="34" name="Text 32"/>
          <p:cNvSpPr/>
          <p:nvPr/>
        </p:nvSpPr>
        <p:spPr>
          <a:xfrm>
            <a:off x="3552825" y="5280868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 deviation of backward packet lengths.</a:t>
            </a:r>
            <a:endParaRPr lang="en-US" sz="1163" dirty="0"/>
          </a:p>
        </p:txBody>
      </p:sp>
      <p:sp>
        <p:nvSpPr>
          <p:cNvPr id="35" name="Shape 33"/>
          <p:cNvSpPr/>
          <p:nvPr/>
        </p:nvSpPr>
        <p:spPr>
          <a:xfrm>
            <a:off x="1057275" y="5559177"/>
            <a:ext cx="76390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36" name="Shape 34"/>
          <p:cNvSpPr/>
          <p:nvPr/>
        </p:nvSpPr>
        <p:spPr>
          <a:xfrm>
            <a:off x="1057275" y="5635377"/>
            <a:ext cx="1104156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37" name="Text 35"/>
          <p:cNvSpPr/>
          <p:nvPr/>
        </p:nvSpPr>
        <p:spPr>
          <a:xfrm>
            <a:off x="1114425" y="5654427"/>
            <a:ext cx="1066056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PSH.Flag.Count</a:t>
            </a:r>
            <a:endParaRPr lang="en-US" sz="1013" dirty="0"/>
          </a:p>
        </p:txBody>
      </p:sp>
      <p:sp>
        <p:nvSpPr>
          <p:cNvPr id="38" name="Text 36"/>
          <p:cNvSpPr/>
          <p:nvPr/>
        </p:nvSpPr>
        <p:spPr>
          <a:xfrm>
            <a:off x="3552825" y="5635377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 of push TCP flags.</a:t>
            </a:r>
            <a:endParaRPr lang="en-US" sz="1163" dirty="0"/>
          </a:p>
        </p:txBody>
      </p:sp>
      <p:sp>
        <p:nvSpPr>
          <p:cNvPr id="39" name="Shape 37"/>
          <p:cNvSpPr/>
          <p:nvPr/>
        </p:nvSpPr>
        <p:spPr>
          <a:xfrm>
            <a:off x="1057275" y="5913686"/>
            <a:ext cx="76390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40" name="Shape 38"/>
          <p:cNvSpPr/>
          <p:nvPr/>
        </p:nvSpPr>
        <p:spPr>
          <a:xfrm>
            <a:off x="1057275" y="5989886"/>
            <a:ext cx="821382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41" name="Text 39"/>
          <p:cNvSpPr/>
          <p:nvPr/>
        </p:nvSpPr>
        <p:spPr>
          <a:xfrm>
            <a:off x="1114425" y="6008936"/>
            <a:ext cx="783282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Active.Max</a:t>
            </a:r>
            <a:endParaRPr lang="en-US" sz="1013" dirty="0"/>
          </a:p>
        </p:txBody>
      </p:sp>
      <p:sp>
        <p:nvSpPr>
          <p:cNvPr id="42" name="Text 40"/>
          <p:cNvSpPr/>
          <p:nvPr/>
        </p:nvSpPr>
        <p:spPr>
          <a:xfrm>
            <a:off x="3552825" y="5989886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Maximum time flow remained active.</a:t>
            </a:r>
            <a:endParaRPr lang="en-US" sz="1163" dirty="0"/>
          </a:p>
        </p:txBody>
      </p:sp>
      <p:sp>
        <p:nvSpPr>
          <p:cNvPr id="43" name="Shape 41"/>
          <p:cNvSpPr/>
          <p:nvPr/>
        </p:nvSpPr>
        <p:spPr>
          <a:xfrm>
            <a:off x="1057275" y="6268194"/>
            <a:ext cx="76390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44" name="Shape 42"/>
          <p:cNvSpPr/>
          <p:nvPr/>
        </p:nvSpPr>
        <p:spPr>
          <a:xfrm>
            <a:off x="1057275" y="6344394"/>
            <a:ext cx="821382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45" name="Text 43"/>
          <p:cNvSpPr/>
          <p:nvPr/>
        </p:nvSpPr>
        <p:spPr>
          <a:xfrm>
            <a:off x="1114425" y="6363444"/>
            <a:ext cx="783282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Active.Std</a:t>
            </a:r>
            <a:endParaRPr lang="en-US" sz="1013" dirty="0"/>
          </a:p>
        </p:txBody>
      </p:sp>
      <p:sp>
        <p:nvSpPr>
          <p:cNvPr id="46" name="Text 44"/>
          <p:cNvSpPr/>
          <p:nvPr/>
        </p:nvSpPr>
        <p:spPr>
          <a:xfrm>
            <a:off x="3552825" y="6344394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 deviation of active time.</a:t>
            </a:r>
            <a:endParaRPr lang="en-US" sz="1163" dirty="0"/>
          </a:p>
        </p:txBody>
      </p:sp>
      <p:sp>
        <p:nvSpPr>
          <p:cNvPr id="47" name="Shape 45"/>
          <p:cNvSpPr/>
          <p:nvPr/>
        </p:nvSpPr>
        <p:spPr>
          <a:xfrm>
            <a:off x="9296400" y="2707630"/>
            <a:ext cx="8229600" cy="5925741"/>
          </a:xfrm>
          <a:prstGeom prst="roundRect">
            <a:avLst>
              <a:gd name="adj" fmla="val 643"/>
            </a:avLst>
          </a:prstGeom>
          <a:solidFill>
            <a:srgbClr val="FBF7EC"/>
          </a:solidFill>
          <a:ln/>
        </p:spPr>
      </p:sp>
      <p:sp>
        <p:nvSpPr>
          <p:cNvPr id="48" name="Shape 46"/>
          <p:cNvSpPr/>
          <p:nvPr/>
        </p:nvSpPr>
        <p:spPr>
          <a:xfrm>
            <a:off x="9296400" y="8623846"/>
            <a:ext cx="82296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9" name="Shape 47"/>
          <p:cNvSpPr/>
          <p:nvPr/>
        </p:nvSpPr>
        <p:spPr>
          <a:xfrm>
            <a:off x="9296400" y="2707630"/>
            <a:ext cx="8229600" cy="28575"/>
          </a:xfrm>
          <a:prstGeom prst="rect">
            <a:avLst/>
          </a:prstGeom>
          <a:solidFill>
            <a:srgbClr val="B33A2E"/>
          </a:solidFill>
          <a:ln/>
        </p:spPr>
      </p:sp>
      <p:sp>
        <p:nvSpPr>
          <p:cNvPr id="50" name="Shape 48"/>
          <p:cNvSpPr/>
          <p:nvPr/>
        </p:nvSpPr>
        <p:spPr>
          <a:xfrm>
            <a:off x="9296400" y="2707630"/>
            <a:ext cx="9525" cy="5925741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51" name="Shape 49"/>
          <p:cNvSpPr/>
          <p:nvPr/>
        </p:nvSpPr>
        <p:spPr>
          <a:xfrm>
            <a:off x="17516475" y="2707630"/>
            <a:ext cx="9525" cy="5925741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52" name="Shape 50"/>
          <p:cNvSpPr/>
          <p:nvPr/>
        </p:nvSpPr>
        <p:spPr>
          <a:xfrm>
            <a:off x="9477375" y="2621905"/>
            <a:ext cx="2459236" cy="179487"/>
          </a:xfrm>
          <a:prstGeom prst="rect">
            <a:avLst/>
          </a:prstGeom>
          <a:solidFill>
            <a:srgbClr val="F4EEDF"/>
          </a:solidFill>
          <a:ln/>
        </p:spPr>
      </p:sp>
      <p:sp>
        <p:nvSpPr>
          <p:cNvPr id="53" name="Text 51"/>
          <p:cNvSpPr/>
          <p:nvPr/>
        </p:nvSpPr>
        <p:spPr>
          <a:xfrm>
            <a:off x="9553575" y="2621905"/>
            <a:ext cx="2383036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76" kern="0" dirty="0">
                <a:solidFill>
                  <a:srgbClr val="B3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LOGISTIC REGRESSION</a:t>
            </a:r>
            <a:endParaRPr lang="en-US" sz="975" dirty="0"/>
          </a:p>
        </p:txBody>
      </p:sp>
      <p:sp>
        <p:nvSpPr>
          <p:cNvPr id="54" name="Text 52"/>
          <p:cNvSpPr/>
          <p:nvPr/>
        </p:nvSpPr>
        <p:spPr>
          <a:xfrm>
            <a:off x="9591675" y="3021955"/>
            <a:ext cx="7868221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25" b="1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Predicting </a:t>
            </a:r>
            <a:pPr algn="l" indent="0" marL="0">
              <a:lnSpc>
                <a:spcPct val="120000"/>
              </a:lnSpc>
              <a:buNone/>
            </a:pPr>
            <a:r>
              <a:rPr lang="en-US" sz="2025" b="1" i="1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Attack_Flag</a:t>
            </a:r>
            <a:endParaRPr lang="en-US" sz="2025" dirty="0"/>
          </a:p>
        </p:txBody>
      </p:sp>
      <p:sp>
        <p:nvSpPr>
          <p:cNvPr id="55" name="Text 53"/>
          <p:cNvSpPr/>
          <p:nvPr/>
        </p:nvSpPr>
        <p:spPr>
          <a:xfrm>
            <a:off x="9591675" y="3482876"/>
            <a:ext cx="7868221" cy="2180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5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USED IN </a:t>
            </a:r>
            <a:pPr algn="l" indent="0" marL="0">
              <a:lnSpc>
                <a:spcPct val="145000"/>
              </a:lnSpc>
              <a:buNone/>
            </a:pPr>
            <a:r>
              <a:rPr lang="en-US" sz="926" spc="156" kern="0" dirty="0">
                <a:solidFill>
                  <a:srgbClr val="8A8E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GLM_DATA.CSV</a:t>
            </a:r>
            <a:endParaRPr lang="en-US" sz="975" dirty="0"/>
          </a:p>
        </p:txBody>
      </p:sp>
      <p:sp>
        <p:nvSpPr>
          <p:cNvPr id="56" name="Shape 54"/>
          <p:cNvSpPr/>
          <p:nvPr/>
        </p:nvSpPr>
        <p:spPr>
          <a:xfrm>
            <a:off x="9591675" y="3862834"/>
            <a:ext cx="1245543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57" name="Text 55"/>
          <p:cNvSpPr/>
          <p:nvPr/>
        </p:nvSpPr>
        <p:spPr>
          <a:xfrm>
            <a:off x="9648825" y="3881884"/>
            <a:ext cx="1207443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Destination.Port</a:t>
            </a:r>
            <a:endParaRPr lang="en-US" sz="1013" dirty="0"/>
          </a:p>
        </p:txBody>
      </p:sp>
      <p:sp>
        <p:nvSpPr>
          <p:cNvPr id="58" name="Text 56"/>
          <p:cNvSpPr/>
          <p:nvPr/>
        </p:nvSpPr>
        <p:spPr>
          <a:xfrm>
            <a:off x="12087225" y="3862834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targeted network port.</a:t>
            </a:r>
            <a:endParaRPr lang="en-US" sz="1163" dirty="0"/>
          </a:p>
        </p:txBody>
      </p:sp>
      <p:sp>
        <p:nvSpPr>
          <p:cNvPr id="59" name="Shape 57"/>
          <p:cNvSpPr/>
          <p:nvPr/>
        </p:nvSpPr>
        <p:spPr>
          <a:xfrm>
            <a:off x="9591675" y="4141143"/>
            <a:ext cx="76390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60" name="Shape 58"/>
          <p:cNvSpPr/>
          <p:nvPr/>
        </p:nvSpPr>
        <p:spPr>
          <a:xfrm>
            <a:off x="9591675" y="4217343"/>
            <a:ext cx="1669703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61" name="Text 59"/>
          <p:cNvSpPr/>
          <p:nvPr/>
        </p:nvSpPr>
        <p:spPr>
          <a:xfrm>
            <a:off x="9648825" y="4236393"/>
            <a:ext cx="1631603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Packet.Length.Variance</a:t>
            </a:r>
            <a:endParaRPr lang="en-US" sz="1013" dirty="0"/>
          </a:p>
        </p:txBody>
      </p:sp>
      <p:sp>
        <p:nvSpPr>
          <p:cNvPr id="62" name="Text 60"/>
          <p:cNvSpPr/>
          <p:nvPr/>
        </p:nvSpPr>
        <p:spPr>
          <a:xfrm>
            <a:off x="12087225" y="4217343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Variance in packet payload size.</a:t>
            </a:r>
            <a:endParaRPr lang="en-US" sz="1163" dirty="0"/>
          </a:p>
        </p:txBody>
      </p:sp>
      <p:sp>
        <p:nvSpPr>
          <p:cNvPr id="63" name="Shape 61"/>
          <p:cNvSpPr/>
          <p:nvPr/>
        </p:nvSpPr>
        <p:spPr>
          <a:xfrm>
            <a:off x="9591675" y="4495651"/>
            <a:ext cx="76390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64" name="Shape 62"/>
          <p:cNvSpPr/>
          <p:nvPr/>
        </p:nvSpPr>
        <p:spPr>
          <a:xfrm>
            <a:off x="9591675" y="4571851"/>
            <a:ext cx="1528316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65" name="Text 63"/>
          <p:cNvSpPr/>
          <p:nvPr/>
        </p:nvSpPr>
        <p:spPr>
          <a:xfrm>
            <a:off x="9648825" y="4590901"/>
            <a:ext cx="1490216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Avg.Fwd.Segment.Size</a:t>
            </a:r>
            <a:endParaRPr lang="en-US" sz="1013" dirty="0"/>
          </a:p>
        </p:txBody>
      </p:sp>
      <p:sp>
        <p:nvSpPr>
          <p:cNvPr id="66" name="Text 64"/>
          <p:cNvSpPr/>
          <p:nvPr/>
        </p:nvSpPr>
        <p:spPr>
          <a:xfrm>
            <a:off x="12087225" y="4571851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Average size of forward data segments.</a:t>
            </a:r>
            <a:endParaRPr lang="en-US" sz="1163" dirty="0"/>
          </a:p>
        </p:txBody>
      </p:sp>
      <p:sp>
        <p:nvSpPr>
          <p:cNvPr id="67" name="Shape 65"/>
          <p:cNvSpPr/>
          <p:nvPr/>
        </p:nvSpPr>
        <p:spPr>
          <a:xfrm>
            <a:off x="9591675" y="4850160"/>
            <a:ext cx="76390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68" name="Shape 66"/>
          <p:cNvSpPr/>
          <p:nvPr/>
        </p:nvSpPr>
        <p:spPr>
          <a:xfrm>
            <a:off x="9591675" y="4926360"/>
            <a:ext cx="1528316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69" name="Text 67"/>
          <p:cNvSpPr/>
          <p:nvPr/>
        </p:nvSpPr>
        <p:spPr>
          <a:xfrm>
            <a:off x="9648825" y="4945410"/>
            <a:ext cx="1490216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Avg.Bwd.Segment.Size</a:t>
            </a:r>
            <a:endParaRPr lang="en-US" sz="1013" dirty="0"/>
          </a:p>
        </p:txBody>
      </p:sp>
      <p:sp>
        <p:nvSpPr>
          <p:cNvPr id="70" name="Text 68"/>
          <p:cNvSpPr/>
          <p:nvPr/>
        </p:nvSpPr>
        <p:spPr>
          <a:xfrm>
            <a:off x="12087225" y="4926360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Average size of backward data segments.</a:t>
            </a:r>
            <a:endParaRPr lang="en-US" sz="1163" dirty="0"/>
          </a:p>
        </p:txBody>
      </p:sp>
      <p:sp>
        <p:nvSpPr>
          <p:cNvPr id="71" name="Shape 69"/>
          <p:cNvSpPr/>
          <p:nvPr/>
        </p:nvSpPr>
        <p:spPr>
          <a:xfrm>
            <a:off x="9591675" y="5204668"/>
            <a:ext cx="76390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72" name="Shape 70"/>
          <p:cNvSpPr/>
          <p:nvPr/>
        </p:nvSpPr>
        <p:spPr>
          <a:xfrm>
            <a:off x="9591675" y="5280868"/>
            <a:ext cx="1599009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73" name="Text 71"/>
          <p:cNvSpPr/>
          <p:nvPr/>
        </p:nvSpPr>
        <p:spPr>
          <a:xfrm>
            <a:off x="9648825" y="5299918"/>
            <a:ext cx="1560909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Fwd.Packet.Length.Min</a:t>
            </a:r>
            <a:endParaRPr lang="en-US" sz="1013" dirty="0"/>
          </a:p>
        </p:txBody>
      </p:sp>
      <p:sp>
        <p:nvSpPr>
          <p:cNvPr id="74" name="Text 72"/>
          <p:cNvSpPr/>
          <p:nvPr/>
        </p:nvSpPr>
        <p:spPr>
          <a:xfrm>
            <a:off x="12087225" y="5280868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Minimum length of forward packets.</a:t>
            </a:r>
            <a:endParaRPr lang="en-US" sz="1163" dirty="0"/>
          </a:p>
        </p:txBody>
      </p:sp>
      <p:sp>
        <p:nvSpPr>
          <p:cNvPr id="75" name="Shape 73"/>
          <p:cNvSpPr/>
          <p:nvPr/>
        </p:nvSpPr>
        <p:spPr>
          <a:xfrm>
            <a:off x="9591675" y="5559177"/>
            <a:ext cx="76390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76" name="Shape 74"/>
          <p:cNvSpPr/>
          <p:nvPr/>
        </p:nvSpPr>
        <p:spPr>
          <a:xfrm>
            <a:off x="9591675" y="5635377"/>
            <a:ext cx="1033462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77" name="Text 75"/>
          <p:cNvSpPr/>
          <p:nvPr/>
        </p:nvSpPr>
        <p:spPr>
          <a:xfrm>
            <a:off x="9648825" y="5654427"/>
            <a:ext cx="995362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Bwd.IAT.Total</a:t>
            </a:r>
            <a:endParaRPr lang="en-US" sz="1013" dirty="0"/>
          </a:p>
        </p:txBody>
      </p:sp>
      <p:sp>
        <p:nvSpPr>
          <p:cNvPr id="78" name="Text 76"/>
          <p:cNvSpPr/>
          <p:nvPr/>
        </p:nvSpPr>
        <p:spPr>
          <a:xfrm>
            <a:off x="12087225" y="5635377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 inter-arrival time for backward packets.</a:t>
            </a:r>
            <a:endParaRPr lang="en-US" sz="1163" dirty="0"/>
          </a:p>
        </p:txBody>
      </p:sp>
      <p:sp>
        <p:nvSpPr>
          <p:cNvPr id="79" name="Shape 77"/>
          <p:cNvSpPr/>
          <p:nvPr/>
        </p:nvSpPr>
        <p:spPr>
          <a:xfrm>
            <a:off x="9591675" y="5913686"/>
            <a:ext cx="76390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80" name="Shape 78"/>
          <p:cNvSpPr/>
          <p:nvPr/>
        </p:nvSpPr>
        <p:spPr>
          <a:xfrm>
            <a:off x="9591675" y="5989886"/>
            <a:ext cx="892076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81" name="Text 79"/>
          <p:cNvSpPr/>
          <p:nvPr/>
        </p:nvSpPr>
        <p:spPr>
          <a:xfrm>
            <a:off x="9648825" y="6008936"/>
            <a:ext cx="853976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Bwd.IAT.Max</a:t>
            </a:r>
            <a:endParaRPr lang="en-US" sz="1013" dirty="0"/>
          </a:p>
        </p:txBody>
      </p:sp>
      <p:sp>
        <p:nvSpPr>
          <p:cNvPr id="82" name="Text 80"/>
          <p:cNvSpPr/>
          <p:nvPr/>
        </p:nvSpPr>
        <p:spPr>
          <a:xfrm>
            <a:off x="12087225" y="5989886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Maximum inter-arrival time for backward packets.</a:t>
            </a:r>
            <a:endParaRPr lang="en-US" sz="1163" dirty="0"/>
          </a:p>
        </p:txBody>
      </p:sp>
      <p:sp>
        <p:nvSpPr>
          <p:cNvPr id="83" name="Shape 81"/>
          <p:cNvSpPr/>
          <p:nvPr/>
        </p:nvSpPr>
        <p:spPr>
          <a:xfrm>
            <a:off x="9591675" y="6268194"/>
            <a:ext cx="76390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84" name="Shape 82"/>
          <p:cNvSpPr/>
          <p:nvPr/>
        </p:nvSpPr>
        <p:spPr>
          <a:xfrm>
            <a:off x="9591675" y="6344394"/>
            <a:ext cx="1740396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85" name="Text 83"/>
          <p:cNvSpPr/>
          <p:nvPr/>
        </p:nvSpPr>
        <p:spPr>
          <a:xfrm>
            <a:off x="9648825" y="6363444"/>
            <a:ext cx="1702296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Init_Win_bytes_backward</a:t>
            </a:r>
            <a:endParaRPr lang="en-US" sz="1013" dirty="0"/>
          </a:p>
        </p:txBody>
      </p:sp>
      <p:sp>
        <p:nvSpPr>
          <p:cNvPr id="86" name="Text 84"/>
          <p:cNvSpPr/>
          <p:nvPr/>
        </p:nvSpPr>
        <p:spPr>
          <a:xfrm>
            <a:off x="12087225" y="6344394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Initial TCP window size (backward).</a:t>
            </a:r>
            <a:endParaRPr lang="en-US" sz="1163" dirty="0"/>
          </a:p>
        </p:txBody>
      </p:sp>
      <p:sp>
        <p:nvSpPr>
          <p:cNvPr id="87" name="Shape 85"/>
          <p:cNvSpPr/>
          <p:nvPr/>
        </p:nvSpPr>
        <p:spPr>
          <a:xfrm>
            <a:off x="9591675" y="6622703"/>
            <a:ext cx="76390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88" name="Shape 86"/>
          <p:cNvSpPr/>
          <p:nvPr/>
        </p:nvSpPr>
        <p:spPr>
          <a:xfrm>
            <a:off x="9591675" y="6698903"/>
            <a:ext cx="1033462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89" name="Text 87"/>
          <p:cNvSpPr/>
          <p:nvPr/>
        </p:nvSpPr>
        <p:spPr>
          <a:xfrm>
            <a:off x="9648825" y="6717953"/>
            <a:ext cx="995362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Down.Up.Ratio</a:t>
            </a:r>
            <a:endParaRPr lang="en-US" sz="1013" dirty="0"/>
          </a:p>
        </p:txBody>
      </p:sp>
      <p:sp>
        <p:nvSpPr>
          <p:cNvPr id="90" name="Text 88"/>
          <p:cNvSpPr/>
          <p:nvPr/>
        </p:nvSpPr>
        <p:spPr>
          <a:xfrm>
            <a:off x="12087225" y="6698903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Ratio of downloaded to uploaded data.</a:t>
            </a:r>
            <a:endParaRPr lang="en-US" sz="1163" dirty="0"/>
          </a:p>
        </p:txBody>
      </p:sp>
      <p:sp>
        <p:nvSpPr>
          <p:cNvPr id="91" name="Shape 89"/>
          <p:cNvSpPr/>
          <p:nvPr/>
        </p:nvSpPr>
        <p:spPr>
          <a:xfrm>
            <a:off x="9591675" y="6977211"/>
            <a:ext cx="76390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92" name="Shape 90"/>
          <p:cNvSpPr/>
          <p:nvPr/>
        </p:nvSpPr>
        <p:spPr>
          <a:xfrm>
            <a:off x="9591675" y="7053411"/>
            <a:ext cx="1104156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93" name="Text 91"/>
          <p:cNvSpPr/>
          <p:nvPr/>
        </p:nvSpPr>
        <p:spPr>
          <a:xfrm>
            <a:off x="9648825" y="7072461"/>
            <a:ext cx="1066056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URG.Flag.Count</a:t>
            </a:r>
            <a:endParaRPr lang="en-US" sz="1013" dirty="0"/>
          </a:p>
        </p:txBody>
      </p:sp>
      <p:sp>
        <p:nvSpPr>
          <p:cNvPr id="94" name="Text 92"/>
          <p:cNvSpPr/>
          <p:nvPr/>
        </p:nvSpPr>
        <p:spPr>
          <a:xfrm>
            <a:off x="12087225" y="7053411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 of urgent TCP flags.</a:t>
            </a:r>
            <a:endParaRPr lang="en-US" sz="1163" dirty="0"/>
          </a:p>
        </p:txBody>
      </p:sp>
      <p:sp>
        <p:nvSpPr>
          <p:cNvPr id="95" name="Shape 93"/>
          <p:cNvSpPr/>
          <p:nvPr/>
        </p:nvSpPr>
        <p:spPr>
          <a:xfrm>
            <a:off x="9591675" y="7331720"/>
            <a:ext cx="76390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96" name="Shape 94"/>
          <p:cNvSpPr/>
          <p:nvPr/>
        </p:nvSpPr>
        <p:spPr>
          <a:xfrm>
            <a:off x="9591675" y="7407920"/>
            <a:ext cx="1104156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97" name="Text 95"/>
          <p:cNvSpPr/>
          <p:nvPr/>
        </p:nvSpPr>
        <p:spPr>
          <a:xfrm>
            <a:off x="9648825" y="7426970"/>
            <a:ext cx="1066056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PSH.Flag.Count</a:t>
            </a:r>
            <a:endParaRPr lang="en-US" sz="1013" dirty="0"/>
          </a:p>
        </p:txBody>
      </p:sp>
      <p:sp>
        <p:nvSpPr>
          <p:cNvPr id="98" name="Text 96"/>
          <p:cNvSpPr/>
          <p:nvPr/>
        </p:nvSpPr>
        <p:spPr>
          <a:xfrm>
            <a:off x="12087225" y="7407920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 of push TCP flags.</a:t>
            </a:r>
            <a:endParaRPr lang="en-US" sz="1163" dirty="0"/>
          </a:p>
        </p:txBody>
      </p:sp>
      <p:sp>
        <p:nvSpPr>
          <p:cNvPr id="99" name="Shape 97"/>
          <p:cNvSpPr/>
          <p:nvPr/>
        </p:nvSpPr>
        <p:spPr>
          <a:xfrm>
            <a:off x="9591675" y="7686229"/>
            <a:ext cx="76390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100" name="Shape 98"/>
          <p:cNvSpPr/>
          <p:nvPr/>
        </p:nvSpPr>
        <p:spPr>
          <a:xfrm>
            <a:off x="9591675" y="7762429"/>
            <a:ext cx="679996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101" name="Text 99"/>
          <p:cNvSpPr/>
          <p:nvPr/>
        </p:nvSpPr>
        <p:spPr>
          <a:xfrm>
            <a:off x="9648825" y="7781479"/>
            <a:ext cx="641896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Idle.Min</a:t>
            </a:r>
            <a:endParaRPr lang="en-US" sz="1013" dirty="0"/>
          </a:p>
        </p:txBody>
      </p:sp>
      <p:sp>
        <p:nvSpPr>
          <p:cNvPr id="102" name="Text 100"/>
          <p:cNvSpPr/>
          <p:nvPr/>
        </p:nvSpPr>
        <p:spPr>
          <a:xfrm>
            <a:off x="12087225" y="7762429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Minimum idle time between flows.</a:t>
            </a:r>
            <a:endParaRPr lang="en-US" sz="1163" dirty="0"/>
          </a:p>
        </p:txBody>
      </p:sp>
      <p:sp>
        <p:nvSpPr>
          <p:cNvPr id="103" name="Shape 101"/>
          <p:cNvSpPr/>
          <p:nvPr/>
        </p:nvSpPr>
        <p:spPr>
          <a:xfrm>
            <a:off x="9591675" y="8040737"/>
            <a:ext cx="76390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591675" y="8116937"/>
            <a:ext cx="821382" cy="211634"/>
          </a:xfrm>
          <a:prstGeom prst="roundRect">
            <a:avLst>
              <a:gd name="adj" fmla="val 13502"/>
            </a:avLst>
          </a:prstGeom>
          <a:solidFill>
            <a:srgbClr val="EAE0C7"/>
          </a:solidFill>
          <a:ln/>
        </p:spPr>
      </p:sp>
      <p:sp>
        <p:nvSpPr>
          <p:cNvPr id="105" name="Text 103"/>
          <p:cNvSpPr/>
          <p:nvPr/>
        </p:nvSpPr>
        <p:spPr>
          <a:xfrm>
            <a:off x="9648825" y="8135987"/>
            <a:ext cx="783282" cy="21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Active.Std</a:t>
            </a:r>
            <a:endParaRPr lang="en-US" sz="1013" dirty="0"/>
          </a:p>
        </p:txBody>
      </p:sp>
      <p:sp>
        <p:nvSpPr>
          <p:cNvPr id="106" name="Text 104"/>
          <p:cNvSpPr/>
          <p:nvPr/>
        </p:nvSpPr>
        <p:spPr>
          <a:xfrm>
            <a:off x="12087225" y="8116937"/>
            <a:ext cx="5297805" cy="249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 deviation of active time.</a:t>
            </a:r>
            <a:endParaRPr lang="en-US" sz="1163" dirty="0"/>
          </a:p>
        </p:txBody>
      </p:sp>
      <p:sp>
        <p:nvSpPr>
          <p:cNvPr id="107" name="Shape 105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08" name="Text 106"/>
          <p:cNvSpPr/>
          <p:nvPr/>
        </p:nvSpPr>
        <p:spPr>
          <a:xfrm>
            <a:off x="762000" y="9723239"/>
            <a:ext cx="5016206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109" name="Text 107"/>
          <p:cNvSpPr/>
          <p:nvPr/>
        </p:nvSpPr>
        <p:spPr>
          <a:xfrm>
            <a:off x="15336589" y="9723239"/>
            <a:ext cx="2265611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58345" y="609600"/>
            <a:ext cx="8438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154528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345382" y="609600"/>
            <a:ext cx="279913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DESCRIPTIVE STATISTICS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spc="-81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Benign and attack distributions </a:t>
            </a:r>
            <a:pPr algn="l" indent="0" marL="0">
              <a:lnSpc>
                <a:spcPct val="104000"/>
              </a:lnSpc>
              <a:buNone/>
            </a:pPr>
            <a:r>
              <a:rPr lang="en-US" sz="4500" i="1" spc="-81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overlap </a:t>
            </a:r>
            <a:pPr algn="l" indent="0" marL="0">
              <a:lnSpc>
                <a:spcPct val="104000"/>
              </a:lnSpc>
              <a:buNone/>
            </a:pPr>
            <a:r>
              <a:rPr lang="en-US" sz="4500" spc="-81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but their tails diverge.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762000" y="1899196"/>
            <a:ext cx="9810750" cy="6179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Side-by-side densities of three key flow features. The bulk of each distribution sits in similar territory; the differences live in the tails and around port-range modes.</a:t>
            </a:r>
            <a:endParaRPr lang="en-US" sz="1575" dirty="0"/>
          </a:p>
        </p:txBody>
      </p:sp>
      <p:sp>
        <p:nvSpPr>
          <p:cNvPr id="7" name="Text 5"/>
          <p:cNvSpPr/>
          <p:nvPr/>
        </p:nvSpPr>
        <p:spPr>
          <a:xfrm>
            <a:off x="762000" y="2726680"/>
            <a:ext cx="5598566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76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OF DESTINATION.PORT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762000" y="3001417"/>
            <a:ext cx="5435501" cy="238125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7CDB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875" y="3727698"/>
            <a:ext cx="5149751" cy="92868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2000" y="5468392"/>
            <a:ext cx="5598566" cy="196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63" spc="121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ATTACK</a:t>
            </a:r>
            <a:endParaRPr lang="en-US" sz="863" dirty="0"/>
          </a:p>
        </p:txBody>
      </p:sp>
      <p:sp>
        <p:nvSpPr>
          <p:cNvPr id="11" name="Text 8"/>
          <p:cNvSpPr/>
          <p:nvPr/>
        </p:nvSpPr>
        <p:spPr>
          <a:xfrm>
            <a:off x="6426101" y="2726680"/>
            <a:ext cx="5598719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76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OF AVG.BWD.SEGMENT.SIZE</a:t>
            </a:r>
            <a:endParaRPr lang="en-US" sz="975" dirty="0"/>
          </a:p>
        </p:txBody>
      </p:sp>
      <p:sp>
        <p:nvSpPr>
          <p:cNvPr id="12" name="Shape 9"/>
          <p:cNvSpPr/>
          <p:nvPr/>
        </p:nvSpPr>
        <p:spPr>
          <a:xfrm>
            <a:off x="6426101" y="3001417"/>
            <a:ext cx="5435650" cy="238125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7CDB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8976" y="3731121"/>
            <a:ext cx="5149900" cy="9216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26101" y="5468392"/>
            <a:ext cx="5598719" cy="196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63" spc="121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ATTACK</a:t>
            </a:r>
            <a:endParaRPr lang="en-US" sz="863" dirty="0"/>
          </a:p>
        </p:txBody>
      </p:sp>
      <p:sp>
        <p:nvSpPr>
          <p:cNvPr id="15" name="Text 11"/>
          <p:cNvSpPr/>
          <p:nvPr/>
        </p:nvSpPr>
        <p:spPr>
          <a:xfrm>
            <a:off x="12090350" y="2726680"/>
            <a:ext cx="5598719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76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OF PACKET.LENGTH.VARIANCE</a:t>
            </a:r>
            <a:endParaRPr lang="en-US" sz="975" dirty="0"/>
          </a:p>
        </p:txBody>
      </p:sp>
      <p:sp>
        <p:nvSpPr>
          <p:cNvPr id="16" name="Shape 12"/>
          <p:cNvSpPr/>
          <p:nvPr/>
        </p:nvSpPr>
        <p:spPr>
          <a:xfrm>
            <a:off x="12090350" y="3001417"/>
            <a:ext cx="5435650" cy="238125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7CDB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3225" y="3730526"/>
            <a:ext cx="5149900" cy="92288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090350" y="5468392"/>
            <a:ext cx="5598719" cy="196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63" spc="121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ATTACK</a:t>
            </a:r>
            <a:endParaRPr lang="en-US" sz="863" dirty="0"/>
          </a:p>
        </p:txBody>
      </p:sp>
      <p:sp>
        <p:nvSpPr>
          <p:cNvPr id="19" name="Shape 14"/>
          <p:cNvSpPr/>
          <p:nvPr/>
        </p:nvSpPr>
        <p:spPr>
          <a:xfrm>
            <a:off x="762000" y="5855791"/>
            <a:ext cx="6873776" cy="3464868"/>
          </a:xfrm>
          <a:prstGeom prst="roundRect">
            <a:avLst>
              <a:gd name="adj" fmla="val 1100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19175" y="6093916"/>
            <a:ext cx="6550209" cy="2369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80" b="1" spc="216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FINDING</a:t>
            </a:r>
            <a:endParaRPr lang="en-US" sz="1080" dirty="0"/>
          </a:p>
        </p:txBody>
      </p:sp>
      <p:sp>
        <p:nvSpPr>
          <p:cNvPr id="21" name="Text 16"/>
          <p:cNvSpPr/>
          <p:nvPr/>
        </p:nvSpPr>
        <p:spPr>
          <a:xfrm>
            <a:off x="1019175" y="6407051"/>
            <a:ext cx="6550209" cy="28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Attack flows are heavily </a:t>
            </a:r>
            <a:r>
              <a:rPr lang="en-US" sz="1200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right-skewed</a:t>
            </a: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most cluster near zero, but a small subset reaches extreme tail values — see the </a:t>
            </a:r>
            <a:r>
              <a:rPr lang="en-US" sz="1200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mean-vs-median gap</a:t>
            </a: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table (medians of </a:t>
            </a:r>
            <a:r>
              <a:rPr lang="en-US" sz="1200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and 12</a:t>
            </a: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vs means of </a:t>
            </a:r>
            <a:r>
              <a:rPr lang="en-US" sz="1200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854 and 2.3M</a:t>
            </a: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For </a:t>
            </a:r>
            <a:r>
              <a:rPr lang="en-US" sz="1200" dirty="0">
                <a:solidFill>
                  <a:srgbClr val="2C3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Destination.Port</a:t>
            </a: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this also produces a visible </a:t>
            </a:r>
            <a:r>
              <a:rPr lang="en-US" sz="12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 mode</a:t>
            </a: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around the dynamic-port range; the bimodality is less visible in the other two because the extreme values are too rare and too spread out to register on a linear density plot.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902476" y="5855791"/>
            <a:ext cx="9623375" cy="3464868"/>
          </a:xfrm>
          <a:prstGeom prst="roundRect">
            <a:avLst>
              <a:gd name="adj" fmla="val 1100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159651" y="6093916"/>
            <a:ext cx="9382296" cy="2369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80" b="1" spc="216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STATISTICS · BENIGN VS ATTACK</a:t>
            </a:r>
            <a:endParaRPr lang="en-US" sz="1080" dirty="0"/>
          </a:p>
        </p:txBody>
      </p:sp>
      <p:sp>
        <p:nvSpPr>
          <p:cNvPr id="24" name="Shape 19"/>
          <p:cNvSpPr/>
          <p:nvPr/>
        </p:nvSpPr>
        <p:spPr>
          <a:xfrm>
            <a:off x="8159651" y="6739384"/>
            <a:ext cx="2911376" cy="9525"/>
          </a:xfrm>
          <a:prstGeom prst="rect">
            <a:avLst/>
          </a:prstGeom>
          <a:solidFill>
            <a:srgbClr val="1A1D26"/>
          </a:solidFill>
          <a:ln/>
        </p:spPr>
      </p:sp>
      <p:sp>
        <p:nvSpPr>
          <p:cNvPr id="25" name="Text 20"/>
          <p:cNvSpPr/>
          <p:nvPr/>
        </p:nvSpPr>
        <p:spPr>
          <a:xfrm>
            <a:off x="8273951" y="6492776"/>
            <a:ext cx="2770117" cy="1989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26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11071027" y="6739384"/>
            <a:ext cx="1106537" cy="9525"/>
          </a:xfrm>
          <a:prstGeom prst="rect">
            <a:avLst/>
          </a:prstGeom>
          <a:solidFill>
            <a:srgbClr val="1A1D26"/>
          </a:solidFill>
          <a:ln/>
        </p:spPr>
      </p:sp>
      <p:sp>
        <p:nvSpPr>
          <p:cNvPr id="27" name="Text 22"/>
          <p:cNvSpPr/>
          <p:nvPr/>
        </p:nvSpPr>
        <p:spPr>
          <a:xfrm>
            <a:off x="11185327" y="6492776"/>
            <a:ext cx="954137" cy="1989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26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12177564" y="6739384"/>
            <a:ext cx="982414" cy="9525"/>
          </a:xfrm>
          <a:prstGeom prst="rect">
            <a:avLst/>
          </a:prstGeom>
          <a:solidFill>
            <a:srgbClr val="1A1D26"/>
          </a:solidFill>
          <a:ln/>
        </p:spPr>
      </p:sp>
      <p:sp>
        <p:nvSpPr>
          <p:cNvPr id="29" name="Text 24"/>
          <p:cNvSpPr/>
          <p:nvPr/>
        </p:nvSpPr>
        <p:spPr>
          <a:xfrm>
            <a:off x="12215664" y="6492776"/>
            <a:ext cx="830014" cy="1989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00" b="1" spc="126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13159978" y="6739384"/>
            <a:ext cx="1479203" cy="9525"/>
          </a:xfrm>
          <a:prstGeom prst="rect">
            <a:avLst/>
          </a:prstGeom>
          <a:solidFill>
            <a:srgbClr val="1A1D26"/>
          </a:solidFill>
          <a:ln/>
        </p:spPr>
      </p:sp>
      <p:sp>
        <p:nvSpPr>
          <p:cNvPr id="31" name="Text 26"/>
          <p:cNvSpPr/>
          <p:nvPr/>
        </p:nvSpPr>
        <p:spPr>
          <a:xfrm>
            <a:off x="13198078" y="6492776"/>
            <a:ext cx="1326803" cy="1989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00" b="1" spc="126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14639181" y="6739384"/>
            <a:ext cx="1149995" cy="9525"/>
          </a:xfrm>
          <a:prstGeom prst="rect">
            <a:avLst/>
          </a:prstGeom>
          <a:solidFill>
            <a:srgbClr val="1A1D26"/>
          </a:solidFill>
          <a:ln/>
        </p:spPr>
      </p:sp>
      <p:sp>
        <p:nvSpPr>
          <p:cNvPr id="33" name="Text 28"/>
          <p:cNvSpPr/>
          <p:nvPr/>
        </p:nvSpPr>
        <p:spPr>
          <a:xfrm>
            <a:off x="14677281" y="6492776"/>
            <a:ext cx="997595" cy="1989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00" b="1" spc="126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</a:t>
            </a:r>
            <a:endParaRPr lang="en-US" sz="900" dirty="0"/>
          </a:p>
        </p:txBody>
      </p:sp>
      <p:sp>
        <p:nvSpPr>
          <p:cNvPr id="34" name="Shape 29"/>
          <p:cNvSpPr/>
          <p:nvPr/>
        </p:nvSpPr>
        <p:spPr>
          <a:xfrm>
            <a:off x="15789176" y="6739384"/>
            <a:ext cx="1479500" cy="9525"/>
          </a:xfrm>
          <a:prstGeom prst="rect">
            <a:avLst/>
          </a:prstGeom>
          <a:solidFill>
            <a:srgbClr val="1A1D26"/>
          </a:solidFill>
          <a:ln/>
        </p:spPr>
      </p:sp>
      <p:sp>
        <p:nvSpPr>
          <p:cNvPr id="35" name="Text 30"/>
          <p:cNvSpPr/>
          <p:nvPr/>
        </p:nvSpPr>
        <p:spPr>
          <a:xfrm>
            <a:off x="15827276" y="6492776"/>
            <a:ext cx="1327100" cy="1989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00" b="1" spc="126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</a:t>
            </a:r>
            <a:endParaRPr lang="en-US" sz="900" dirty="0"/>
          </a:p>
        </p:txBody>
      </p:sp>
      <p:sp>
        <p:nvSpPr>
          <p:cNvPr id="36" name="Shape 31"/>
          <p:cNvSpPr/>
          <p:nvPr/>
        </p:nvSpPr>
        <p:spPr>
          <a:xfrm>
            <a:off x="8159651" y="7127528"/>
            <a:ext cx="2911376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7" name="Text 32"/>
          <p:cNvSpPr/>
          <p:nvPr/>
        </p:nvSpPr>
        <p:spPr>
          <a:xfrm>
            <a:off x="8273951" y="6834634"/>
            <a:ext cx="2770117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Destination.Port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11071027" y="7127528"/>
            <a:ext cx="1106537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9" name="Text 34"/>
          <p:cNvSpPr/>
          <p:nvPr/>
        </p:nvSpPr>
        <p:spPr>
          <a:xfrm>
            <a:off x="11185327" y="6834634"/>
            <a:ext cx="954137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25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Benign</a:t>
            </a:r>
            <a:endParaRPr lang="en-US" sz="1125" dirty="0"/>
          </a:p>
        </p:txBody>
      </p:sp>
      <p:sp>
        <p:nvSpPr>
          <p:cNvPr id="40" name="Shape 35"/>
          <p:cNvSpPr/>
          <p:nvPr/>
        </p:nvSpPr>
        <p:spPr>
          <a:xfrm>
            <a:off x="12177564" y="7127528"/>
            <a:ext cx="982414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1" name="Text 36"/>
          <p:cNvSpPr/>
          <p:nvPr/>
        </p:nvSpPr>
        <p:spPr>
          <a:xfrm>
            <a:off x="12215664" y="6834634"/>
            <a:ext cx="830014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1,611</a:t>
            </a:r>
            <a:endParaRPr lang="en-US" sz="1125" dirty="0"/>
          </a:p>
        </p:txBody>
      </p:sp>
      <p:sp>
        <p:nvSpPr>
          <p:cNvPr id="42" name="Shape 37"/>
          <p:cNvSpPr/>
          <p:nvPr/>
        </p:nvSpPr>
        <p:spPr>
          <a:xfrm>
            <a:off x="13159978" y="7127528"/>
            <a:ext cx="1479203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3" name="Text 38"/>
          <p:cNvSpPr/>
          <p:nvPr/>
        </p:nvSpPr>
        <p:spPr>
          <a:xfrm>
            <a:off x="13198078" y="6834634"/>
            <a:ext cx="1326803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8,846</a:t>
            </a:r>
            <a:endParaRPr lang="en-US" sz="1125" dirty="0"/>
          </a:p>
        </p:txBody>
      </p:sp>
      <p:sp>
        <p:nvSpPr>
          <p:cNvPr id="44" name="Shape 39"/>
          <p:cNvSpPr/>
          <p:nvPr/>
        </p:nvSpPr>
        <p:spPr>
          <a:xfrm>
            <a:off x="14639181" y="7127528"/>
            <a:ext cx="1149995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5" name="Text 40"/>
          <p:cNvSpPr/>
          <p:nvPr/>
        </p:nvSpPr>
        <p:spPr>
          <a:xfrm>
            <a:off x="14677281" y="6834634"/>
            <a:ext cx="997595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</a:t>
            </a:r>
            <a:endParaRPr lang="en-US" sz="1125" dirty="0"/>
          </a:p>
        </p:txBody>
      </p:sp>
      <p:sp>
        <p:nvSpPr>
          <p:cNvPr id="46" name="Shape 41"/>
          <p:cNvSpPr/>
          <p:nvPr/>
        </p:nvSpPr>
        <p:spPr>
          <a:xfrm>
            <a:off x="15789176" y="7127528"/>
            <a:ext cx="14795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7" name="Text 42"/>
          <p:cNvSpPr/>
          <p:nvPr/>
        </p:nvSpPr>
        <p:spPr>
          <a:xfrm>
            <a:off x="15827276" y="6834634"/>
            <a:ext cx="1327100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19,146</a:t>
            </a:r>
            <a:endParaRPr lang="en-US" sz="1125" dirty="0"/>
          </a:p>
        </p:txBody>
      </p:sp>
      <p:sp>
        <p:nvSpPr>
          <p:cNvPr id="48" name="Shape 43"/>
          <p:cNvSpPr/>
          <p:nvPr/>
        </p:nvSpPr>
        <p:spPr>
          <a:xfrm>
            <a:off x="8159651" y="7515671"/>
            <a:ext cx="2911376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9" name="Text 44"/>
          <p:cNvSpPr/>
          <p:nvPr/>
        </p:nvSpPr>
        <p:spPr>
          <a:xfrm>
            <a:off x="8273951" y="7222778"/>
            <a:ext cx="2770117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dirty="0">
                <a:solidFill>
                  <a:srgbClr val="8A8E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Destination.Port</a:t>
            </a:r>
            <a:endParaRPr lang="en-US" sz="1050" dirty="0"/>
          </a:p>
        </p:txBody>
      </p:sp>
      <p:sp>
        <p:nvSpPr>
          <p:cNvPr id="50" name="Shape 45"/>
          <p:cNvSpPr/>
          <p:nvPr/>
        </p:nvSpPr>
        <p:spPr>
          <a:xfrm>
            <a:off x="11071027" y="7515671"/>
            <a:ext cx="1106537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51" name="Text 46"/>
          <p:cNvSpPr/>
          <p:nvPr/>
        </p:nvSpPr>
        <p:spPr>
          <a:xfrm>
            <a:off x="11185327" y="7222778"/>
            <a:ext cx="954137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25" b="1" dirty="0">
                <a:solidFill>
                  <a:srgbClr val="B33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</a:t>
            </a:r>
            <a:endParaRPr lang="en-US" sz="1125" dirty="0"/>
          </a:p>
        </p:txBody>
      </p:sp>
      <p:sp>
        <p:nvSpPr>
          <p:cNvPr id="52" name="Shape 47"/>
          <p:cNvSpPr/>
          <p:nvPr/>
        </p:nvSpPr>
        <p:spPr>
          <a:xfrm>
            <a:off x="12177564" y="7515671"/>
            <a:ext cx="982414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53" name="Text 48"/>
          <p:cNvSpPr/>
          <p:nvPr/>
        </p:nvSpPr>
        <p:spPr>
          <a:xfrm>
            <a:off x="12215664" y="7222778"/>
            <a:ext cx="830014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386</a:t>
            </a:r>
            <a:endParaRPr lang="en-US" sz="1125" dirty="0"/>
          </a:p>
        </p:txBody>
      </p:sp>
      <p:sp>
        <p:nvSpPr>
          <p:cNvPr id="54" name="Shape 49"/>
          <p:cNvSpPr/>
          <p:nvPr/>
        </p:nvSpPr>
        <p:spPr>
          <a:xfrm>
            <a:off x="13159978" y="7515671"/>
            <a:ext cx="1479203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55" name="Text 50"/>
          <p:cNvSpPr/>
          <p:nvPr/>
        </p:nvSpPr>
        <p:spPr>
          <a:xfrm>
            <a:off x="13198078" y="7222778"/>
            <a:ext cx="1326803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3,477</a:t>
            </a:r>
            <a:endParaRPr lang="en-US" sz="1125" dirty="0"/>
          </a:p>
        </p:txBody>
      </p:sp>
      <p:sp>
        <p:nvSpPr>
          <p:cNvPr id="56" name="Shape 51"/>
          <p:cNvSpPr/>
          <p:nvPr/>
        </p:nvSpPr>
        <p:spPr>
          <a:xfrm>
            <a:off x="14639181" y="7515671"/>
            <a:ext cx="1149995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57" name="Text 52"/>
          <p:cNvSpPr/>
          <p:nvPr/>
        </p:nvSpPr>
        <p:spPr>
          <a:xfrm>
            <a:off x="14677281" y="7222778"/>
            <a:ext cx="997595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</a:t>
            </a:r>
            <a:endParaRPr lang="en-US" sz="1125" dirty="0"/>
          </a:p>
        </p:txBody>
      </p:sp>
      <p:sp>
        <p:nvSpPr>
          <p:cNvPr id="58" name="Shape 53"/>
          <p:cNvSpPr/>
          <p:nvPr/>
        </p:nvSpPr>
        <p:spPr>
          <a:xfrm>
            <a:off x="15789176" y="7515671"/>
            <a:ext cx="14795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59" name="Text 54"/>
          <p:cNvSpPr/>
          <p:nvPr/>
        </p:nvSpPr>
        <p:spPr>
          <a:xfrm>
            <a:off x="15827276" y="7222778"/>
            <a:ext cx="1327100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9,250</a:t>
            </a:r>
            <a:endParaRPr lang="en-US" sz="1125" dirty="0"/>
          </a:p>
        </p:txBody>
      </p:sp>
      <p:sp>
        <p:nvSpPr>
          <p:cNvPr id="60" name="Shape 55"/>
          <p:cNvSpPr/>
          <p:nvPr/>
        </p:nvSpPr>
        <p:spPr>
          <a:xfrm>
            <a:off x="8159651" y="7903815"/>
            <a:ext cx="2911376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61" name="Text 56"/>
          <p:cNvSpPr/>
          <p:nvPr/>
        </p:nvSpPr>
        <p:spPr>
          <a:xfrm>
            <a:off x="8273951" y="7610921"/>
            <a:ext cx="2770117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Avg.Bwd.Segment.Size</a:t>
            </a:r>
            <a:endParaRPr lang="en-US" sz="1050" dirty="0"/>
          </a:p>
        </p:txBody>
      </p:sp>
      <p:sp>
        <p:nvSpPr>
          <p:cNvPr id="62" name="Shape 57"/>
          <p:cNvSpPr/>
          <p:nvPr/>
        </p:nvSpPr>
        <p:spPr>
          <a:xfrm>
            <a:off x="11071027" y="7903815"/>
            <a:ext cx="1106537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63" name="Text 58"/>
          <p:cNvSpPr/>
          <p:nvPr/>
        </p:nvSpPr>
        <p:spPr>
          <a:xfrm>
            <a:off x="11185327" y="7610921"/>
            <a:ext cx="954137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25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Benign</a:t>
            </a:r>
            <a:endParaRPr lang="en-US" sz="1125" dirty="0"/>
          </a:p>
        </p:txBody>
      </p:sp>
      <p:sp>
        <p:nvSpPr>
          <p:cNvPr id="64" name="Shape 59"/>
          <p:cNvSpPr/>
          <p:nvPr/>
        </p:nvSpPr>
        <p:spPr>
          <a:xfrm>
            <a:off x="12177564" y="7903815"/>
            <a:ext cx="982414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65" name="Text 60"/>
          <p:cNvSpPr/>
          <p:nvPr/>
        </p:nvSpPr>
        <p:spPr>
          <a:xfrm>
            <a:off x="12215664" y="7610921"/>
            <a:ext cx="830014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1,611</a:t>
            </a:r>
            <a:endParaRPr lang="en-US" sz="1125" dirty="0"/>
          </a:p>
        </p:txBody>
      </p:sp>
      <p:sp>
        <p:nvSpPr>
          <p:cNvPr id="66" name="Shape 61"/>
          <p:cNvSpPr/>
          <p:nvPr/>
        </p:nvSpPr>
        <p:spPr>
          <a:xfrm>
            <a:off x="13159978" y="7903815"/>
            <a:ext cx="1479203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67" name="Text 62"/>
          <p:cNvSpPr/>
          <p:nvPr/>
        </p:nvSpPr>
        <p:spPr>
          <a:xfrm>
            <a:off x="13198078" y="7610921"/>
            <a:ext cx="1326803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155</a:t>
            </a:r>
            <a:endParaRPr lang="en-US" sz="1125" dirty="0"/>
          </a:p>
        </p:txBody>
      </p:sp>
      <p:sp>
        <p:nvSpPr>
          <p:cNvPr id="68" name="Shape 63"/>
          <p:cNvSpPr/>
          <p:nvPr/>
        </p:nvSpPr>
        <p:spPr>
          <a:xfrm>
            <a:off x="14639181" y="7903815"/>
            <a:ext cx="1149995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69" name="Text 64"/>
          <p:cNvSpPr/>
          <p:nvPr/>
        </p:nvSpPr>
        <p:spPr>
          <a:xfrm>
            <a:off x="14677281" y="7610921"/>
            <a:ext cx="997595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</a:t>
            </a:r>
            <a:endParaRPr lang="en-US" sz="1125" dirty="0"/>
          </a:p>
        </p:txBody>
      </p:sp>
      <p:sp>
        <p:nvSpPr>
          <p:cNvPr id="70" name="Shape 65"/>
          <p:cNvSpPr/>
          <p:nvPr/>
        </p:nvSpPr>
        <p:spPr>
          <a:xfrm>
            <a:off x="15789176" y="7903815"/>
            <a:ext cx="14795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71" name="Text 66"/>
          <p:cNvSpPr/>
          <p:nvPr/>
        </p:nvSpPr>
        <p:spPr>
          <a:xfrm>
            <a:off x="15827276" y="7610921"/>
            <a:ext cx="1327100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278</a:t>
            </a:r>
            <a:endParaRPr lang="en-US" sz="1125" dirty="0"/>
          </a:p>
        </p:txBody>
      </p:sp>
      <p:sp>
        <p:nvSpPr>
          <p:cNvPr id="72" name="Shape 67"/>
          <p:cNvSpPr/>
          <p:nvPr/>
        </p:nvSpPr>
        <p:spPr>
          <a:xfrm>
            <a:off x="8159651" y="8291959"/>
            <a:ext cx="2911376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73" name="Text 68"/>
          <p:cNvSpPr/>
          <p:nvPr/>
        </p:nvSpPr>
        <p:spPr>
          <a:xfrm>
            <a:off x="8273951" y="7999065"/>
            <a:ext cx="2770117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dirty="0">
                <a:solidFill>
                  <a:srgbClr val="8A8E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Avg.Bwd.Segment.Size</a:t>
            </a:r>
            <a:endParaRPr lang="en-US" sz="1050" dirty="0"/>
          </a:p>
        </p:txBody>
      </p:sp>
      <p:sp>
        <p:nvSpPr>
          <p:cNvPr id="74" name="Shape 69"/>
          <p:cNvSpPr/>
          <p:nvPr/>
        </p:nvSpPr>
        <p:spPr>
          <a:xfrm>
            <a:off x="11071027" y="8291959"/>
            <a:ext cx="1106537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75" name="Text 70"/>
          <p:cNvSpPr/>
          <p:nvPr/>
        </p:nvSpPr>
        <p:spPr>
          <a:xfrm>
            <a:off x="11185327" y="7999065"/>
            <a:ext cx="954137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25" b="1" dirty="0">
                <a:solidFill>
                  <a:srgbClr val="B33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</a:t>
            </a:r>
            <a:endParaRPr lang="en-US" sz="1125" dirty="0"/>
          </a:p>
        </p:txBody>
      </p:sp>
      <p:sp>
        <p:nvSpPr>
          <p:cNvPr id="76" name="Shape 71"/>
          <p:cNvSpPr/>
          <p:nvPr/>
        </p:nvSpPr>
        <p:spPr>
          <a:xfrm>
            <a:off x="12177564" y="8291959"/>
            <a:ext cx="982414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77" name="Text 72"/>
          <p:cNvSpPr/>
          <p:nvPr/>
        </p:nvSpPr>
        <p:spPr>
          <a:xfrm>
            <a:off x="12215664" y="7999065"/>
            <a:ext cx="830014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386</a:t>
            </a:r>
            <a:endParaRPr lang="en-US" sz="1125" dirty="0"/>
          </a:p>
        </p:txBody>
      </p:sp>
      <p:sp>
        <p:nvSpPr>
          <p:cNvPr id="78" name="Shape 73"/>
          <p:cNvSpPr/>
          <p:nvPr/>
        </p:nvSpPr>
        <p:spPr>
          <a:xfrm>
            <a:off x="13159978" y="8291959"/>
            <a:ext cx="1479203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79" name="Text 74"/>
          <p:cNvSpPr/>
          <p:nvPr/>
        </p:nvSpPr>
        <p:spPr>
          <a:xfrm>
            <a:off x="13198078" y="7999065"/>
            <a:ext cx="1326803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854</a:t>
            </a:r>
            <a:endParaRPr lang="en-US" sz="1125" dirty="0"/>
          </a:p>
        </p:txBody>
      </p:sp>
      <p:sp>
        <p:nvSpPr>
          <p:cNvPr id="80" name="Shape 75"/>
          <p:cNvSpPr/>
          <p:nvPr/>
        </p:nvSpPr>
        <p:spPr>
          <a:xfrm>
            <a:off x="14639181" y="8291959"/>
            <a:ext cx="1149995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81" name="Text 76"/>
          <p:cNvSpPr/>
          <p:nvPr/>
        </p:nvSpPr>
        <p:spPr>
          <a:xfrm>
            <a:off x="14677281" y="7999065"/>
            <a:ext cx="997595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25" dirty="0"/>
          </a:p>
        </p:txBody>
      </p:sp>
      <p:sp>
        <p:nvSpPr>
          <p:cNvPr id="82" name="Shape 77"/>
          <p:cNvSpPr/>
          <p:nvPr/>
        </p:nvSpPr>
        <p:spPr>
          <a:xfrm>
            <a:off x="15789176" y="8291959"/>
            <a:ext cx="14795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83" name="Text 78"/>
          <p:cNvSpPr/>
          <p:nvPr/>
        </p:nvSpPr>
        <p:spPr>
          <a:xfrm>
            <a:off x="15827276" y="7999065"/>
            <a:ext cx="1327100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1,115</a:t>
            </a:r>
            <a:endParaRPr lang="en-US" sz="1125" dirty="0"/>
          </a:p>
        </p:txBody>
      </p:sp>
      <p:sp>
        <p:nvSpPr>
          <p:cNvPr id="84" name="Shape 79"/>
          <p:cNvSpPr/>
          <p:nvPr/>
        </p:nvSpPr>
        <p:spPr>
          <a:xfrm>
            <a:off x="8159651" y="8680103"/>
            <a:ext cx="2911376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85" name="Text 80"/>
          <p:cNvSpPr/>
          <p:nvPr/>
        </p:nvSpPr>
        <p:spPr>
          <a:xfrm>
            <a:off x="8273951" y="8387209"/>
            <a:ext cx="2770117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Packet.Length.Variance</a:t>
            </a:r>
            <a:endParaRPr lang="en-US" sz="1050" dirty="0"/>
          </a:p>
        </p:txBody>
      </p:sp>
      <p:sp>
        <p:nvSpPr>
          <p:cNvPr id="86" name="Shape 81"/>
          <p:cNvSpPr/>
          <p:nvPr/>
        </p:nvSpPr>
        <p:spPr>
          <a:xfrm>
            <a:off x="11071027" y="8680103"/>
            <a:ext cx="1106537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87" name="Text 82"/>
          <p:cNvSpPr/>
          <p:nvPr/>
        </p:nvSpPr>
        <p:spPr>
          <a:xfrm>
            <a:off x="11185327" y="8387209"/>
            <a:ext cx="954137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25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Benign</a:t>
            </a:r>
            <a:endParaRPr lang="en-US" sz="1125" dirty="0"/>
          </a:p>
        </p:txBody>
      </p:sp>
      <p:sp>
        <p:nvSpPr>
          <p:cNvPr id="88" name="Shape 83"/>
          <p:cNvSpPr/>
          <p:nvPr/>
        </p:nvSpPr>
        <p:spPr>
          <a:xfrm>
            <a:off x="12177564" y="8680103"/>
            <a:ext cx="982414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89" name="Text 84"/>
          <p:cNvSpPr/>
          <p:nvPr/>
        </p:nvSpPr>
        <p:spPr>
          <a:xfrm>
            <a:off x="12215664" y="8387209"/>
            <a:ext cx="830014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1,611</a:t>
            </a:r>
            <a:endParaRPr lang="en-US" sz="1125" dirty="0"/>
          </a:p>
        </p:txBody>
      </p:sp>
      <p:sp>
        <p:nvSpPr>
          <p:cNvPr id="90" name="Shape 85"/>
          <p:cNvSpPr/>
          <p:nvPr/>
        </p:nvSpPr>
        <p:spPr>
          <a:xfrm>
            <a:off x="13159978" y="8680103"/>
            <a:ext cx="1479203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91" name="Text 86"/>
          <p:cNvSpPr/>
          <p:nvPr/>
        </p:nvSpPr>
        <p:spPr>
          <a:xfrm>
            <a:off x="13198078" y="8387209"/>
            <a:ext cx="1326803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119,028</a:t>
            </a:r>
            <a:endParaRPr lang="en-US" sz="1125" dirty="0"/>
          </a:p>
        </p:txBody>
      </p:sp>
      <p:sp>
        <p:nvSpPr>
          <p:cNvPr id="92" name="Shape 87"/>
          <p:cNvSpPr/>
          <p:nvPr/>
        </p:nvSpPr>
        <p:spPr>
          <a:xfrm>
            <a:off x="14639181" y="8680103"/>
            <a:ext cx="1149995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93" name="Text 88"/>
          <p:cNvSpPr/>
          <p:nvPr/>
        </p:nvSpPr>
        <p:spPr>
          <a:xfrm>
            <a:off x="14677281" y="8387209"/>
            <a:ext cx="997595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811</a:t>
            </a:r>
            <a:endParaRPr lang="en-US" sz="1125" dirty="0"/>
          </a:p>
        </p:txBody>
      </p:sp>
      <p:sp>
        <p:nvSpPr>
          <p:cNvPr id="94" name="Shape 89"/>
          <p:cNvSpPr/>
          <p:nvPr/>
        </p:nvSpPr>
        <p:spPr>
          <a:xfrm>
            <a:off x="15789176" y="8680103"/>
            <a:ext cx="14795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95" name="Text 90"/>
          <p:cNvSpPr/>
          <p:nvPr/>
        </p:nvSpPr>
        <p:spPr>
          <a:xfrm>
            <a:off x="15827276" y="8387209"/>
            <a:ext cx="1327100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613,694</a:t>
            </a:r>
            <a:endParaRPr lang="en-US" sz="1125" dirty="0"/>
          </a:p>
        </p:txBody>
      </p:sp>
      <p:sp>
        <p:nvSpPr>
          <p:cNvPr id="96" name="Shape 91"/>
          <p:cNvSpPr/>
          <p:nvPr/>
        </p:nvSpPr>
        <p:spPr>
          <a:xfrm>
            <a:off x="8159651" y="9068246"/>
            <a:ext cx="2911376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97" name="Text 92"/>
          <p:cNvSpPr/>
          <p:nvPr/>
        </p:nvSpPr>
        <p:spPr>
          <a:xfrm>
            <a:off x="8273951" y="8775353"/>
            <a:ext cx="2770117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dirty="0">
                <a:solidFill>
                  <a:srgbClr val="8A8E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Packet.Length.Variance</a:t>
            </a:r>
            <a:endParaRPr lang="en-US" sz="1050" dirty="0"/>
          </a:p>
        </p:txBody>
      </p:sp>
      <p:sp>
        <p:nvSpPr>
          <p:cNvPr id="98" name="Shape 93"/>
          <p:cNvSpPr/>
          <p:nvPr/>
        </p:nvSpPr>
        <p:spPr>
          <a:xfrm>
            <a:off x="11071027" y="9068246"/>
            <a:ext cx="1106537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99" name="Text 94"/>
          <p:cNvSpPr/>
          <p:nvPr/>
        </p:nvSpPr>
        <p:spPr>
          <a:xfrm>
            <a:off x="11185327" y="8775353"/>
            <a:ext cx="954137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25" b="1" dirty="0">
                <a:solidFill>
                  <a:srgbClr val="B33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</a:t>
            </a:r>
            <a:endParaRPr lang="en-US" sz="1125" dirty="0"/>
          </a:p>
        </p:txBody>
      </p:sp>
      <p:sp>
        <p:nvSpPr>
          <p:cNvPr id="100" name="Shape 95"/>
          <p:cNvSpPr/>
          <p:nvPr/>
        </p:nvSpPr>
        <p:spPr>
          <a:xfrm>
            <a:off x="12177564" y="9068246"/>
            <a:ext cx="982414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01" name="Text 96"/>
          <p:cNvSpPr/>
          <p:nvPr/>
        </p:nvSpPr>
        <p:spPr>
          <a:xfrm>
            <a:off x="12215664" y="8775353"/>
            <a:ext cx="830014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386</a:t>
            </a:r>
            <a:endParaRPr lang="en-US" sz="1125" dirty="0"/>
          </a:p>
        </p:txBody>
      </p:sp>
      <p:sp>
        <p:nvSpPr>
          <p:cNvPr id="102" name="Shape 97"/>
          <p:cNvSpPr/>
          <p:nvPr/>
        </p:nvSpPr>
        <p:spPr>
          <a:xfrm>
            <a:off x="13159978" y="9068246"/>
            <a:ext cx="1479203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03" name="Text 98"/>
          <p:cNvSpPr/>
          <p:nvPr/>
        </p:nvSpPr>
        <p:spPr>
          <a:xfrm>
            <a:off x="13198078" y="8775353"/>
            <a:ext cx="1326803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2,348,052</a:t>
            </a:r>
            <a:endParaRPr lang="en-US" sz="1125" dirty="0"/>
          </a:p>
        </p:txBody>
      </p:sp>
      <p:sp>
        <p:nvSpPr>
          <p:cNvPr id="104" name="Shape 99"/>
          <p:cNvSpPr/>
          <p:nvPr/>
        </p:nvSpPr>
        <p:spPr>
          <a:xfrm>
            <a:off x="14639181" y="9068246"/>
            <a:ext cx="1149995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05" name="Text 100"/>
          <p:cNvSpPr/>
          <p:nvPr/>
        </p:nvSpPr>
        <p:spPr>
          <a:xfrm>
            <a:off x="14677281" y="8775353"/>
            <a:ext cx="997595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25" dirty="0"/>
          </a:p>
        </p:txBody>
      </p:sp>
      <p:sp>
        <p:nvSpPr>
          <p:cNvPr id="106" name="Shape 101"/>
          <p:cNvSpPr/>
          <p:nvPr/>
        </p:nvSpPr>
        <p:spPr>
          <a:xfrm>
            <a:off x="15789176" y="9068246"/>
            <a:ext cx="14795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07" name="Text 102"/>
          <p:cNvSpPr/>
          <p:nvPr/>
        </p:nvSpPr>
        <p:spPr>
          <a:xfrm>
            <a:off x="15827276" y="8775353"/>
            <a:ext cx="1327100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4,020,224</a:t>
            </a:r>
            <a:endParaRPr lang="en-US" sz="1125" dirty="0"/>
          </a:p>
        </p:txBody>
      </p:sp>
      <p:sp>
        <p:nvSpPr>
          <p:cNvPr id="108" name="Shape 103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09" name="Text 104"/>
          <p:cNvSpPr/>
          <p:nvPr/>
        </p:nvSpPr>
        <p:spPr>
          <a:xfrm>
            <a:off x="762000" y="9723239"/>
            <a:ext cx="5016206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110" name="Text 105"/>
          <p:cNvSpPr/>
          <p:nvPr/>
        </p:nvSpPr>
        <p:spPr>
          <a:xfrm>
            <a:off x="15336589" y="9723239"/>
            <a:ext cx="2265611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58345" y="609600"/>
            <a:ext cx="8438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154528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345382" y="609600"/>
            <a:ext cx="220518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CATEGORICAL RISK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spc="-81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port category </a:t>
            </a:r>
            <a:pPr algn="l" indent="0" marL="0">
              <a:lnSpc>
                <a:spcPct val="104000"/>
              </a:lnSpc>
              <a:buNone/>
            </a:pPr>
            <a:r>
              <a:rPr lang="en-US" sz="4500" i="1" spc="-81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anomaly </a:t>
            </a:r>
            <a:pPr algn="l" indent="0" marL="0">
              <a:lnSpc>
                <a:spcPct val="104000"/>
              </a:lnSpc>
              <a:buNone/>
            </a:pPr>
            <a:r>
              <a:rPr lang="en-US" sz="4500" spc="-81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where attacks hide.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762000" y="1899196"/>
            <a:ext cx="9810750" cy="6179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mapped </a:t>
            </a:r>
            <a:pPr algn="l" indent="0" marL="0">
              <a:lnSpc>
                <a:spcPct val="145000"/>
              </a:lnSpc>
              <a:buNone/>
            </a:pPr>
            <a:r>
              <a:rPr lang="en-US" sz="1339" i="1" dirty="0">
                <a:solidFill>
                  <a:srgbClr val="5A61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Destination.Port </a:t>
            </a:r>
            <a:pPr algn="l" indent="0" marL="0">
              <a:lnSpc>
                <a:spcPct val="145000"/>
              </a:lnSpc>
              <a:buNone/>
            </a:pPr>
            <a:r>
              <a:rPr lang="en-US" sz="15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the three IANA ranges, then measured how often each range carries an attack.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762000" y="2821930"/>
            <a:ext cx="5435501" cy="2221111"/>
          </a:xfrm>
          <a:prstGeom prst="roundRect">
            <a:avLst>
              <a:gd name="adj" fmla="val 1715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0125" y="3041005"/>
            <a:ext cx="5108028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95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75" dirty="0"/>
          </a:p>
        </p:txBody>
      </p:sp>
      <p:sp>
        <p:nvSpPr>
          <p:cNvPr id="9" name="Text 7"/>
          <p:cNvSpPr/>
          <p:nvPr/>
        </p:nvSpPr>
        <p:spPr>
          <a:xfrm>
            <a:off x="1000125" y="3334792"/>
            <a:ext cx="5108028" cy="3481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25" spc="-23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Dynamic Ports</a:t>
            </a:r>
            <a:endParaRPr lang="en-US" sz="2325" dirty="0"/>
          </a:p>
        </p:txBody>
      </p:sp>
      <p:sp>
        <p:nvSpPr>
          <p:cNvPr id="10" name="Text 8"/>
          <p:cNvSpPr/>
          <p:nvPr/>
        </p:nvSpPr>
        <p:spPr>
          <a:xfrm>
            <a:off x="1000125" y="3759101"/>
            <a:ext cx="5108028" cy="252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63" dirty="0">
                <a:solidFill>
                  <a:srgbClr val="5A61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49 152 – 65 535</a:t>
            </a:r>
            <a:endParaRPr lang="en-US" sz="1163" dirty="0"/>
          </a:p>
        </p:txBody>
      </p:sp>
      <p:sp>
        <p:nvSpPr>
          <p:cNvPr id="11" name="Shape 9"/>
          <p:cNvSpPr/>
          <p:nvPr/>
        </p:nvSpPr>
        <p:spPr>
          <a:xfrm>
            <a:off x="1000125" y="4125516"/>
            <a:ext cx="4959251" cy="247650"/>
          </a:xfrm>
          <a:prstGeom prst="roundRect">
            <a:avLst>
              <a:gd name="adj" fmla="val 11538"/>
            </a:avLst>
          </a:prstGeom>
          <a:ln w="9525">
            <a:solidFill>
              <a:srgbClr val="D7CDB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9650" y="4135041"/>
            <a:ext cx="4732586" cy="2286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85850" y="4135041"/>
            <a:ext cx="472216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54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95.8% benign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742236" y="4135041"/>
            <a:ext cx="207466" cy="228600"/>
          </a:xfrm>
          <a:prstGeom prst="rect">
            <a:avLst/>
          </a:prstGeom>
          <a:solidFill>
            <a:srgbClr val="B33A2E"/>
          </a:solidFill>
          <a:ln/>
        </p:spPr>
      </p:sp>
      <p:sp>
        <p:nvSpPr>
          <p:cNvPr id="15" name="Text 13"/>
          <p:cNvSpPr/>
          <p:nvPr/>
        </p:nvSpPr>
        <p:spPr>
          <a:xfrm>
            <a:off x="1000125" y="4582716"/>
            <a:ext cx="5108028" cy="260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8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4.2% attack rate — the cleanest range.</a:t>
            </a:r>
            <a:endParaRPr lang="en-US" sz="1208" dirty="0"/>
          </a:p>
        </p:txBody>
      </p:sp>
      <p:sp>
        <p:nvSpPr>
          <p:cNvPr id="16" name="Shape 14"/>
          <p:cNvSpPr/>
          <p:nvPr/>
        </p:nvSpPr>
        <p:spPr>
          <a:xfrm>
            <a:off x="6426101" y="2821930"/>
            <a:ext cx="5435650" cy="2221111"/>
          </a:xfrm>
          <a:prstGeom prst="roundRect">
            <a:avLst>
              <a:gd name="adj" fmla="val 1715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64226" y="3041005"/>
            <a:ext cx="5108182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95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6664226" y="3334792"/>
            <a:ext cx="5108182" cy="3481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25" spc="-23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Well-known Ports</a:t>
            </a:r>
            <a:endParaRPr lang="en-US" sz="2325" dirty="0"/>
          </a:p>
        </p:txBody>
      </p:sp>
      <p:sp>
        <p:nvSpPr>
          <p:cNvPr id="19" name="Text 17"/>
          <p:cNvSpPr/>
          <p:nvPr/>
        </p:nvSpPr>
        <p:spPr>
          <a:xfrm>
            <a:off x="6664226" y="3759101"/>
            <a:ext cx="5108182" cy="252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63" dirty="0">
                <a:solidFill>
                  <a:srgbClr val="5A61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– 1 023</a:t>
            </a:r>
            <a:endParaRPr lang="en-US" sz="1163" dirty="0"/>
          </a:p>
        </p:txBody>
      </p:sp>
      <p:sp>
        <p:nvSpPr>
          <p:cNvPr id="20" name="Shape 18"/>
          <p:cNvSpPr/>
          <p:nvPr/>
        </p:nvSpPr>
        <p:spPr>
          <a:xfrm>
            <a:off x="6664226" y="4125516"/>
            <a:ext cx="4959400" cy="247650"/>
          </a:xfrm>
          <a:prstGeom prst="roundRect">
            <a:avLst>
              <a:gd name="adj" fmla="val 11538"/>
            </a:avLst>
          </a:prstGeom>
          <a:ln w="9525">
            <a:solidFill>
              <a:srgbClr val="D7CDB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73751" y="4135041"/>
            <a:ext cx="4085630" cy="2286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49951" y="4135041"/>
            <a:ext cx="405579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54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82.7% benign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759380" y="4135041"/>
            <a:ext cx="854571" cy="228600"/>
          </a:xfrm>
          <a:prstGeom prst="rect">
            <a:avLst/>
          </a:prstGeom>
          <a:solidFill>
            <a:srgbClr val="B33A2E"/>
          </a:solidFill>
          <a:ln/>
        </p:spPr>
      </p:sp>
      <p:sp>
        <p:nvSpPr>
          <p:cNvPr id="24" name="Text 22"/>
          <p:cNvSpPr/>
          <p:nvPr/>
        </p:nvSpPr>
        <p:spPr>
          <a:xfrm>
            <a:off x="10835580" y="4135041"/>
            <a:ext cx="77837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54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17.3%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664226" y="4582716"/>
            <a:ext cx="5108182" cy="260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8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17.3% attack rate — elevated.</a:t>
            </a:r>
            <a:endParaRPr lang="en-US" sz="1208" dirty="0"/>
          </a:p>
        </p:txBody>
      </p:sp>
      <p:sp>
        <p:nvSpPr>
          <p:cNvPr id="26" name="Shape 24"/>
          <p:cNvSpPr/>
          <p:nvPr/>
        </p:nvSpPr>
        <p:spPr>
          <a:xfrm>
            <a:off x="12090350" y="2821930"/>
            <a:ext cx="5435650" cy="2221111"/>
          </a:xfrm>
          <a:prstGeom prst="roundRect">
            <a:avLst>
              <a:gd name="adj" fmla="val 1715"/>
            </a:avLst>
          </a:prstGeom>
          <a:solidFill>
            <a:srgbClr val="FAEFE9"/>
          </a:solidFill>
          <a:ln w="9525">
            <a:solidFill>
              <a:srgbClr val="E5B5A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328475" y="3041005"/>
            <a:ext cx="5108182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95" kern="0" dirty="0">
                <a:solidFill>
                  <a:srgbClr val="B3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75" dirty="0"/>
          </a:p>
        </p:txBody>
      </p:sp>
      <p:sp>
        <p:nvSpPr>
          <p:cNvPr id="28" name="Text 26"/>
          <p:cNvSpPr/>
          <p:nvPr/>
        </p:nvSpPr>
        <p:spPr>
          <a:xfrm>
            <a:off x="12328475" y="3334792"/>
            <a:ext cx="5108182" cy="3481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25" spc="-23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Registered Ports</a:t>
            </a:r>
            <a:endParaRPr lang="en-US" sz="2325" dirty="0"/>
          </a:p>
        </p:txBody>
      </p:sp>
      <p:sp>
        <p:nvSpPr>
          <p:cNvPr id="29" name="Text 27"/>
          <p:cNvSpPr/>
          <p:nvPr/>
        </p:nvSpPr>
        <p:spPr>
          <a:xfrm>
            <a:off x="12328475" y="3759101"/>
            <a:ext cx="5108182" cy="252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63" dirty="0">
                <a:solidFill>
                  <a:srgbClr val="5A61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1 024 – 49 151</a:t>
            </a:r>
            <a:endParaRPr lang="en-US" sz="1163" dirty="0"/>
          </a:p>
        </p:txBody>
      </p:sp>
      <p:sp>
        <p:nvSpPr>
          <p:cNvPr id="30" name="Shape 28"/>
          <p:cNvSpPr/>
          <p:nvPr/>
        </p:nvSpPr>
        <p:spPr>
          <a:xfrm>
            <a:off x="12328475" y="4125516"/>
            <a:ext cx="4959400" cy="247650"/>
          </a:xfrm>
          <a:prstGeom prst="roundRect">
            <a:avLst>
              <a:gd name="adj" fmla="val 11538"/>
            </a:avLst>
          </a:prstGeom>
          <a:ln w="9525">
            <a:solidFill>
              <a:srgbClr val="D7CDB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338000" y="4135041"/>
            <a:ext cx="2746772" cy="2286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2" name="Text 30"/>
          <p:cNvSpPr/>
          <p:nvPr/>
        </p:nvSpPr>
        <p:spPr>
          <a:xfrm>
            <a:off x="12414200" y="4135041"/>
            <a:ext cx="26767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54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55.6% benign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5084772" y="4135041"/>
            <a:ext cx="2193429" cy="228600"/>
          </a:xfrm>
          <a:prstGeom prst="rect">
            <a:avLst/>
          </a:prstGeom>
          <a:solidFill>
            <a:srgbClr val="B33A2E"/>
          </a:solidFill>
          <a:ln/>
        </p:spPr>
      </p:sp>
      <p:sp>
        <p:nvSpPr>
          <p:cNvPr id="34" name="Text 32"/>
          <p:cNvSpPr/>
          <p:nvPr/>
        </p:nvSpPr>
        <p:spPr>
          <a:xfrm>
            <a:off x="15160972" y="4135041"/>
            <a:ext cx="211722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54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44.4%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2328475" y="4582716"/>
            <a:ext cx="5108182" cy="260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8" i="1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Nearly half of all flows here are hostile.</a:t>
            </a:r>
            <a:endParaRPr lang="en-US" sz="1208" dirty="0"/>
          </a:p>
        </p:txBody>
      </p:sp>
      <p:sp>
        <p:nvSpPr>
          <p:cNvPr id="36" name="Shape 34"/>
          <p:cNvSpPr/>
          <p:nvPr/>
        </p:nvSpPr>
        <p:spPr>
          <a:xfrm>
            <a:off x="762000" y="5347841"/>
            <a:ext cx="16764000" cy="1236018"/>
          </a:xfrm>
          <a:prstGeom prst="roundRect">
            <a:avLst>
              <a:gd name="adj" fmla="val 3082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76325" y="5701159"/>
            <a:ext cx="14208725" cy="2369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80" b="1" spc="216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CHI-SQUARE INDEPENDENCE TEST</a:t>
            </a:r>
            <a:endParaRPr lang="en-US" sz="1080" dirty="0"/>
          </a:p>
        </p:txBody>
      </p:sp>
      <p:sp>
        <p:nvSpPr>
          <p:cNvPr id="38" name="Text 36"/>
          <p:cNvSpPr/>
          <p:nvPr/>
        </p:nvSpPr>
        <p:spPr>
          <a:xfrm>
            <a:off x="1076325" y="5976193"/>
            <a:ext cx="14208725" cy="2922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8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</a:t>
            </a:r>
            <a:pPr algn="l" indent="0" marL="0">
              <a:lnSpc>
                <a:spcPct val="145000"/>
              </a:lnSpc>
              <a:buNone/>
            </a:pPr>
            <a:r>
              <a:rPr lang="en-US" sz="1380" b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highly significant </a:t>
            </a:r>
            <a:pPr algn="l" indent="0" marL="0">
              <a:lnSpc>
                <a:spcPct val="145000"/>
              </a:lnSpc>
              <a:buNone/>
            </a:pPr>
            <a:r>
              <a:rPr lang="en-US" sz="138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relationship between destination-port category and attack status — the </a:t>
            </a:r>
            <a:pPr algn="l" indent="0" marL="0">
              <a:lnSpc>
                <a:spcPct val="145000"/>
              </a:lnSpc>
              <a:buNone/>
            </a:pPr>
            <a:r>
              <a:rPr lang="en-US" sz="1380" b="1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registered range </a:t>
            </a:r>
            <a:pPr algn="l" indent="0" marL="0">
              <a:lnSpc>
                <a:spcPct val="145000"/>
              </a:lnSpc>
              <a:buNone/>
            </a:pPr>
            <a:r>
              <a:rPr lang="en-US" sz="138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a real, statistical hot zone, not noise.</a:t>
            </a:r>
            <a:endParaRPr lang="en-US" sz="1380" dirty="0"/>
          </a:p>
        </p:txBody>
      </p:sp>
      <p:sp>
        <p:nvSpPr>
          <p:cNvPr id="39" name="Text 37"/>
          <p:cNvSpPr/>
          <p:nvPr/>
        </p:nvSpPr>
        <p:spPr>
          <a:xfrm>
            <a:off x="15137904" y="5605016"/>
            <a:ext cx="2073771" cy="75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80000"/>
              </a:lnSpc>
              <a:buNone/>
            </a:pPr>
            <a:r>
              <a:rPr lang="en-US" sz="1208" dirty="0">
                <a:solidFill>
                  <a:srgbClr val="2C3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χ² = </a:t>
            </a:r>
            <a:pPr algn="r" indent="0" marL="0">
              <a:lnSpc>
                <a:spcPct val="180000"/>
              </a:lnSpc>
              <a:buNone/>
            </a:pPr>
            <a:r>
              <a:rPr lang="en-US" sz="1950" b="1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135.83 </a:t>
            </a:r>
            <a:pPr algn="r" indent="0" marL="0">
              <a:lnSpc>
                <a:spcPct val="180000"/>
              </a:lnSpc>
              <a:buNone/>
            </a:pPr>
            <a:r>
              <a:rPr lang="en-US" sz="1208" dirty="0">
                <a:solidFill>
                  <a:srgbClr val="2C3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2 p &lt; </a:t>
            </a:r>
            <a:pPr algn="r" indent="0" marL="0">
              <a:lnSpc>
                <a:spcPct val="180000"/>
              </a:lnSpc>
              <a:buNone/>
            </a:pPr>
            <a:r>
              <a:rPr lang="en-US" sz="1208" b="1" dirty="0">
                <a:solidFill>
                  <a:srgbClr val="B33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2.22e-16</a:t>
            </a:r>
            <a:endParaRPr lang="en-US" sz="1208" dirty="0"/>
          </a:p>
        </p:txBody>
      </p:sp>
      <p:sp>
        <p:nvSpPr>
          <p:cNvPr id="40" name="Shape 38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1" name="Text 39"/>
          <p:cNvSpPr/>
          <p:nvPr/>
        </p:nvSpPr>
        <p:spPr>
          <a:xfrm>
            <a:off x="762000" y="9723239"/>
            <a:ext cx="5016206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5336589" y="9723239"/>
            <a:ext cx="2265611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58345" y="609600"/>
            <a:ext cx="8438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16847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PRE-MODELING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484834" y="609600"/>
            <a:ext cx="244941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VARIABLE SELECTION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6125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350" spc="-78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Pruning the </a:t>
            </a:r>
            <a:pPr algn="l" indent="0" marL="0">
              <a:lnSpc>
                <a:spcPct val="104000"/>
              </a:lnSpc>
              <a:buNone/>
            </a:pPr>
            <a:r>
              <a:rPr lang="en-US" sz="4350" i="1" spc="-78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redundant </a:t>
            </a:r>
            <a:pPr algn="l" indent="0" marL="0">
              <a:lnSpc>
                <a:spcPct val="104000"/>
              </a:lnSpc>
              <a:buNone/>
            </a:pPr>
            <a:r>
              <a:rPr lang="en-US" sz="4350" spc="-78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predictors.</a:t>
            </a:r>
            <a:endParaRPr lang="en-US" sz="4350" dirty="0"/>
          </a:p>
        </p:txBody>
      </p:sp>
      <p:sp>
        <p:nvSpPr>
          <p:cNvPr id="6" name="Text 4"/>
          <p:cNvSpPr/>
          <p:nvPr/>
        </p:nvSpPr>
        <p:spPr>
          <a:xfrm>
            <a:off x="762000" y="1841302"/>
            <a:ext cx="9810750" cy="576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4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either model is fit, we screen the candidates for multicollinearity. Heavily redundant variables are cut by correlation prune, then by stepwise BIC, then by iterative VIF pruning (logistic only).</a:t>
            </a:r>
            <a:endParaRPr lang="en-US" sz="1463" dirty="0"/>
          </a:p>
        </p:txBody>
      </p:sp>
      <p:sp>
        <p:nvSpPr>
          <p:cNvPr id="7" name="Shape 5"/>
          <p:cNvSpPr/>
          <p:nvPr/>
        </p:nvSpPr>
        <p:spPr>
          <a:xfrm>
            <a:off x="762000" y="2589312"/>
            <a:ext cx="16764000" cy="1178868"/>
          </a:xfrm>
          <a:prstGeom prst="roundRect">
            <a:avLst>
              <a:gd name="adj" fmla="val 3232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2975" y="2751237"/>
            <a:ext cx="3096211" cy="196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63" b="1" spc="138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INPUT</a:t>
            </a:r>
            <a:endParaRPr lang="en-US" sz="863" dirty="0"/>
          </a:p>
        </p:txBody>
      </p:sp>
      <p:sp>
        <p:nvSpPr>
          <p:cNvPr id="9" name="Text 7"/>
          <p:cNvSpPr/>
          <p:nvPr/>
        </p:nvSpPr>
        <p:spPr>
          <a:xfrm>
            <a:off x="942975" y="2986236"/>
            <a:ext cx="3096211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5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</a:t>
            </a:r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cols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942975" y="3386286"/>
            <a:ext cx="3096211" cy="205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CICIDS2017 flow features after CSV cleanup.</a:t>
            </a:r>
            <a:endParaRPr lang="en-US" sz="975" dirty="0"/>
          </a:p>
        </p:txBody>
      </p:sp>
      <p:sp>
        <p:nvSpPr>
          <p:cNvPr id="11" name="Shape 9"/>
          <p:cNvSpPr/>
          <p:nvPr/>
        </p:nvSpPr>
        <p:spPr>
          <a:xfrm>
            <a:off x="4120455" y="2598837"/>
            <a:ext cx="9525" cy="1159818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2" name="Text 10"/>
          <p:cNvSpPr/>
          <p:nvPr/>
        </p:nvSpPr>
        <p:spPr>
          <a:xfrm>
            <a:off x="4301430" y="2751237"/>
            <a:ext cx="3086401" cy="196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63" b="1" spc="138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+ NON-DEGENERATE</a:t>
            </a:r>
            <a:endParaRPr lang="en-US" sz="863" dirty="0"/>
          </a:p>
        </p:txBody>
      </p:sp>
      <p:sp>
        <p:nvSpPr>
          <p:cNvPr id="13" name="Text 11"/>
          <p:cNvSpPr/>
          <p:nvPr/>
        </p:nvSpPr>
        <p:spPr>
          <a:xfrm>
            <a:off x="4301430" y="2986236"/>
            <a:ext cx="308640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 note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4301430" y="3271986"/>
            <a:ext cx="3086401" cy="205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Zero-variance and non-numeric columns dropped.</a:t>
            </a:r>
            <a:endParaRPr lang="en-US" sz="975" dirty="0"/>
          </a:p>
        </p:txBody>
      </p:sp>
      <p:sp>
        <p:nvSpPr>
          <p:cNvPr id="15" name="Shape 13"/>
          <p:cNvSpPr/>
          <p:nvPr/>
        </p:nvSpPr>
        <p:spPr>
          <a:xfrm>
            <a:off x="7469386" y="2598837"/>
            <a:ext cx="9525" cy="1159818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6" name="Text 14"/>
          <p:cNvSpPr/>
          <p:nvPr/>
        </p:nvSpPr>
        <p:spPr>
          <a:xfrm>
            <a:off x="7650361" y="2751237"/>
            <a:ext cx="3086554" cy="196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63" b="1" spc="138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|R| &gt; 0.9 PRUNE</a:t>
            </a:r>
            <a:endParaRPr lang="en-US" sz="863" dirty="0"/>
          </a:p>
        </p:txBody>
      </p:sp>
      <p:sp>
        <p:nvSpPr>
          <p:cNvPr id="17" name="Text 15"/>
          <p:cNvSpPr/>
          <p:nvPr/>
        </p:nvSpPr>
        <p:spPr>
          <a:xfrm>
            <a:off x="7650361" y="2986236"/>
            <a:ext cx="308655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 note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7650361" y="3271986"/>
            <a:ext cx="3086554" cy="205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Highly correlated pairs removed.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10818465" y="2598837"/>
            <a:ext cx="9525" cy="1159818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0" name="Text 18"/>
          <p:cNvSpPr/>
          <p:nvPr/>
        </p:nvSpPr>
        <p:spPr>
          <a:xfrm>
            <a:off x="10999440" y="2751237"/>
            <a:ext cx="3086401" cy="196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63" b="1" spc="138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STEPWISE BIC</a:t>
            </a:r>
            <a:endParaRPr lang="en-US" sz="863" dirty="0"/>
          </a:p>
        </p:txBody>
      </p:sp>
      <p:sp>
        <p:nvSpPr>
          <p:cNvPr id="21" name="Text 19"/>
          <p:cNvSpPr/>
          <p:nvPr/>
        </p:nvSpPr>
        <p:spPr>
          <a:xfrm>
            <a:off x="10999440" y="2986236"/>
            <a:ext cx="308640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8A8E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 </a:t>
            </a:r>
            <a:pPr algn="l" indent="0" marL="0">
              <a:lnSpc>
                <a:spcPct val="100000"/>
              </a:lnSpc>
              <a:buNone/>
            </a:pPr>
            <a:r>
              <a:rPr lang="en-US" sz="1950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0999440" y="3271986"/>
            <a:ext cx="3086401" cy="205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predictors for MLR · 13 for logistic (in </a:t>
            </a:r>
            <a:pPr algn="l" indent="0" marL="0">
              <a:lnSpc>
                <a:spcPct val="135000"/>
              </a:lnSpc>
              <a:buNone/>
            </a:pPr>
            <a:r>
              <a:rPr lang="en-US" sz="788" i="1" dirty="0">
                <a:solidFill>
                  <a:srgbClr val="5A61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glm_data.csv</a:t>
            </a:r>
            <a:pPr algn="l" indent="0" marL="0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14167396" y="2598837"/>
            <a:ext cx="9525" cy="1159818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4" name="Text 22"/>
          <p:cNvSpPr/>
          <p:nvPr/>
        </p:nvSpPr>
        <p:spPr>
          <a:xfrm>
            <a:off x="14348371" y="2751237"/>
            <a:ext cx="3086554" cy="196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63" b="1" spc="138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VIF PRUNE · LOGISTIC ONLY</a:t>
            </a:r>
            <a:endParaRPr lang="en-US" sz="863" dirty="0"/>
          </a:p>
        </p:txBody>
      </p:sp>
      <p:sp>
        <p:nvSpPr>
          <p:cNvPr id="25" name="Text 23"/>
          <p:cNvSpPr/>
          <p:nvPr/>
        </p:nvSpPr>
        <p:spPr>
          <a:xfrm>
            <a:off x="14348371" y="2986236"/>
            <a:ext cx="308655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preds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4348371" y="3271986"/>
            <a:ext cx="3086554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Iterative prune of VIF &gt; 5 in </a:t>
            </a:r>
            <a:pPr algn="l" indent="0" marL="0">
              <a:lnSpc>
                <a:spcPct val="135000"/>
              </a:lnSpc>
              <a:buNone/>
            </a:pPr>
            <a:r>
              <a:rPr lang="en-US" sz="788" i="1" dirty="0">
                <a:solidFill>
                  <a:srgbClr val="5A61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Logistic.R </a:t>
            </a:r>
            <a:pPr algn="l" indent="0" marL="0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drops 2 of the 13.</a:t>
            </a:r>
            <a:endParaRPr lang="en-US" sz="975" dirty="0"/>
          </a:p>
        </p:txBody>
      </p:sp>
      <p:sp>
        <p:nvSpPr>
          <p:cNvPr id="27" name="Text 25"/>
          <p:cNvSpPr/>
          <p:nvPr/>
        </p:nvSpPr>
        <p:spPr>
          <a:xfrm>
            <a:off x="762000" y="3901529"/>
            <a:ext cx="17266920" cy="438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88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Intermediate column counts after the zero-variance drop and the |r| &gt; 0.9 pairwise prune (chips 2 and 3) are not reported in this deck — the raw CICIDS files are held by a different team member, so the in-between counts were not re-computed locally. The pipeline endpoints (79, 8, 13, 11) are exact.</a:t>
            </a:r>
            <a:endParaRPr lang="en-US" sz="1088" dirty="0"/>
          </a:p>
        </p:txBody>
      </p:sp>
      <p:sp>
        <p:nvSpPr>
          <p:cNvPr id="28" name="Text 26"/>
          <p:cNvSpPr/>
          <p:nvPr/>
        </p:nvSpPr>
        <p:spPr>
          <a:xfrm>
            <a:off x="762000" y="4454277"/>
            <a:ext cx="8496110" cy="210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38" b="1" spc="169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MLR PREDICTOR CORRELATIONS · PHASE 1 · 8 VARS</a:t>
            </a:r>
            <a:endParaRPr lang="en-US" sz="938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2000" y="4722168"/>
            <a:ext cx="8248650" cy="457200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9277350" y="4454277"/>
            <a:ext cx="8496110" cy="210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38" b="1" spc="169" kern="0" dirty="0">
                <a:solidFill>
                  <a:srgbClr val="B3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PREDICTOR CORRELATIONS · PHASE 2 · 13 VARS (POST-BIC, PRE-VIF)</a:t>
            </a:r>
            <a:endParaRPr lang="en-US" sz="938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277350" y="4722168"/>
            <a:ext cx="8248650" cy="4572000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762000" y="9389418"/>
            <a:ext cx="16678275" cy="252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matrices show intense pockets of correlation (dark </a:t>
            </a:r>
            <a:pPr algn="l" indent="0" marL="0">
              <a:lnSpc>
                <a:spcPct val="145000"/>
              </a:lnSpc>
              <a:buNone/>
            </a:pPr>
            <a:r>
              <a:rPr lang="en-US" sz="1163" b="1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navy </a:t>
            </a:r>
            <a:pPr algn="l" indent="0" marL="0">
              <a:lnSpc>
                <a:spcPct val="14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firebrick </a:t>
            </a:r>
            <a:pPr algn="l" indent="0" marL="0">
              <a:lnSpc>
                <a:spcPct val="145000"/>
              </a:lnSpc>
              <a:buNone/>
            </a:pPr>
            <a:r>
              <a:rPr lang="en-US" sz="1163" b="1" i="1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</a:t>
            </a:r>
            <a:pPr algn="l" indent="0" marL="0">
              <a:lnSpc>
                <a:spcPct val="145000"/>
              </a:lnSpc>
              <a:buNone/>
            </a:pPr>
            <a:r>
              <a:rPr lang="en-US" sz="11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), particularly among packet-size and length variables. All pairs with |r| &gt; 0.9 were pruned before stepwise BIC.</a:t>
            </a:r>
            <a:endParaRPr lang="en-US" sz="1163" dirty="0"/>
          </a:p>
        </p:txBody>
      </p:sp>
      <p:sp>
        <p:nvSpPr>
          <p:cNvPr id="33" name="Shape 29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4" name="Text 30"/>
          <p:cNvSpPr/>
          <p:nvPr/>
        </p:nvSpPr>
        <p:spPr>
          <a:xfrm>
            <a:off x="762000" y="9723239"/>
            <a:ext cx="5016206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35" name="Text 31"/>
          <p:cNvSpPr/>
          <p:nvPr/>
        </p:nvSpPr>
        <p:spPr>
          <a:xfrm>
            <a:off x="15336589" y="9723239"/>
            <a:ext cx="2265611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58345" y="609600"/>
            <a:ext cx="8438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9492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749326" y="609600"/>
            <a:ext cx="140597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MLR SETUP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6521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spc="-84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Modeling the </a:t>
            </a:r>
            <a:pPr algn="l" indent="0" marL="0">
              <a:lnSpc>
                <a:spcPct val="104000"/>
              </a:lnSpc>
              <a:buNone/>
            </a:pPr>
            <a:r>
              <a:rPr lang="en-US" sz="4650" i="1" spc="-84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shape </a:t>
            </a:r>
            <a:pPr algn="l" indent="0" marL="0">
              <a:lnSpc>
                <a:spcPct val="104000"/>
              </a:lnSpc>
              <a:buNone/>
            </a:pPr>
            <a:r>
              <a:rPr lang="en-US" sz="4650" spc="-84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normal traffic.</a:t>
            </a:r>
            <a:endParaRPr lang="en-US" sz="4650" dirty="0"/>
          </a:p>
        </p:txBody>
      </p:sp>
      <p:sp>
        <p:nvSpPr>
          <p:cNvPr id="6" name="Shape 4"/>
          <p:cNvSpPr/>
          <p:nvPr/>
        </p:nvSpPr>
        <p:spPr>
          <a:xfrm>
            <a:off x="762000" y="2185690"/>
            <a:ext cx="400050" cy="400050"/>
          </a:xfrm>
          <a:prstGeom prst="ellipse">
            <a:avLst/>
          </a:prstGeom>
          <a:solidFill>
            <a:srgbClr val="FBF7EC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3425" y="2195215"/>
            <a:ext cx="4572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33500" y="2242840"/>
            <a:ext cx="6426041" cy="224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13" b="1" spc="182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SCOPE</a:t>
            </a:r>
            <a:endParaRPr lang="en-US" sz="1013" dirty="0"/>
          </a:p>
        </p:txBody>
      </p:sp>
      <p:sp>
        <p:nvSpPr>
          <p:cNvPr id="9" name="Text 7"/>
          <p:cNvSpPr/>
          <p:nvPr/>
        </p:nvSpPr>
        <p:spPr>
          <a:xfrm>
            <a:off x="1333500" y="2486323"/>
            <a:ext cx="6426041" cy="521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13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First-order terms only — no interactions or polynomial expansions. Keep the model interpretable.</a:t>
            </a:r>
            <a:endParaRPr lang="en-US" sz="1313" dirty="0"/>
          </a:p>
        </p:txBody>
      </p:sp>
      <p:sp>
        <p:nvSpPr>
          <p:cNvPr id="10" name="Shape 8"/>
          <p:cNvSpPr/>
          <p:nvPr/>
        </p:nvSpPr>
        <p:spPr>
          <a:xfrm>
            <a:off x="762000" y="3122116"/>
            <a:ext cx="6810375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1" name="Shape 9"/>
          <p:cNvSpPr/>
          <p:nvPr/>
        </p:nvSpPr>
        <p:spPr>
          <a:xfrm>
            <a:off x="762000" y="3284041"/>
            <a:ext cx="400050" cy="400050"/>
          </a:xfrm>
          <a:prstGeom prst="ellipse">
            <a:avLst/>
          </a:prstGeom>
          <a:solidFill>
            <a:srgbClr val="FBF7EC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425" y="3293566"/>
            <a:ext cx="4572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33500" y="3341191"/>
            <a:ext cx="6073621" cy="224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13" b="1" spc="182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SELECTION</a:t>
            </a:r>
            <a:endParaRPr lang="en-US" sz="1013" dirty="0"/>
          </a:p>
        </p:txBody>
      </p:sp>
      <p:sp>
        <p:nvSpPr>
          <p:cNvPr id="14" name="Text 12"/>
          <p:cNvSpPr/>
          <p:nvPr/>
        </p:nvSpPr>
        <p:spPr>
          <a:xfrm>
            <a:off x="1333500" y="3584674"/>
            <a:ext cx="6073621" cy="2797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13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Stepwise BIC applied to the benign-only dataset to find the leanest predictor set.</a:t>
            </a:r>
            <a:endParaRPr lang="en-US" sz="1313" dirty="0"/>
          </a:p>
        </p:txBody>
      </p:sp>
      <p:sp>
        <p:nvSpPr>
          <p:cNvPr id="15" name="Shape 13"/>
          <p:cNvSpPr/>
          <p:nvPr/>
        </p:nvSpPr>
        <p:spPr>
          <a:xfrm>
            <a:off x="762000" y="3978771"/>
            <a:ext cx="6810375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6" name="Shape 14"/>
          <p:cNvSpPr/>
          <p:nvPr/>
        </p:nvSpPr>
        <p:spPr>
          <a:xfrm>
            <a:off x="762000" y="4140696"/>
            <a:ext cx="400050" cy="400050"/>
          </a:xfrm>
          <a:prstGeom prst="ellipse">
            <a:avLst/>
          </a:prstGeom>
          <a:solidFill>
            <a:srgbClr val="FBF7EC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3425" y="4150221"/>
            <a:ext cx="4572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333500" y="4197846"/>
            <a:ext cx="5535409" cy="224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13" b="1" spc="182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13" dirty="0"/>
          </a:p>
        </p:txBody>
      </p:sp>
      <p:sp>
        <p:nvSpPr>
          <p:cNvPr id="19" name="Text 17"/>
          <p:cNvSpPr/>
          <p:nvPr/>
        </p:nvSpPr>
        <p:spPr>
          <a:xfrm>
            <a:off x="1333500" y="4441329"/>
            <a:ext cx="5535409" cy="2797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13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predictors </a:t>
            </a:r>
            <a:pPr algn="l" indent="0" marL="0">
              <a:lnSpc>
                <a:spcPct val="145000"/>
              </a:lnSpc>
              <a:buNone/>
            </a:pPr>
            <a:r>
              <a:rPr lang="en-US" sz="1313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retained to model Flow.Bytes — see VIF check to the right.</a:t>
            </a:r>
            <a:endParaRPr lang="en-US" sz="1313" dirty="0"/>
          </a:p>
        </p:txBody>
      </p:sp>
      <p:sp>
        <p:nvSpPr>
          <p:cNvPr id="20" name="Text 18"/>
          <p:cNvSpPr/>
          <p:nvPr/>
        </p:nvSpPr>
        <p:spPr>
          <a:xfrm>
            <a:off x="7991475" y="2033290"/>
            <a:ext cx="9820561" cy="224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13" b="1" spc="182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MULTICOLLINEARITY CHECK · VIF</a:t>
            </a:r>
            <a:endParaRPr lang="en-US" sz="1013" dirty="0"/>
          </a:p>
        </p:txBody>
      </p:sp>
      <p:sp>
        <p:nvSpPr>
          <p:cNvPr id="21" name="Shape 19"/>
          <p:cNvSpPr/>
          <p:nvPr/>
        </p:nvSpPr>
        <p:spPr>
          <a:xfrm>
            <a:off x="7991475" y="2352973"/>
            <a:ext cx="9534525" cy="2335709"/>
          </a:xfrm>
          <a:prstGeom prst="roundRect">
            <a:avLst>
              <a:gd name="adj" fmla="val 2447"/>
            </a:avLst>
          </a:prstGeom>
          <a:solidFill>
            <a:srgbClr val="15181F"/>
          </a:solidFill>
          <a:ln/>
        </p:spPr>
      </p:sp>
      <p:sp>
        <p:nvSpPr>
          <p:cNvPr id="22" name="Text 20"/>
          <p:cNvSpPr/>
          <p:nvPr/>
        </p:nvSpPr>
        <p:spPr>
          <a:xfrm>
            <a:off x="8201025" y="2524423"/>
            <a:ext cx="9401461" cy="20309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013" i="1" dirty="0">
                <a:solidFill>
                  <a:srgbClr val="6B73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Variance Inflation Factor </a:t>
            </a:r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D4B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vif_values</a:t>
            </a:r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car::</a:t>
            </a:r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98C7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vif</a:t>
            </a:r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(m1) </a:t>
            </a:r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98C7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 </a:t>
            </a:r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(vif_values)</a:t>
            </a:r>
            <a:endParaRPr lang="en-US" sz="1013" dirty="0"/>
          </a:p>
          <a:p>
            <a:pPr algn="l" indent="0" marL="0">
              <a:lnSpc>
                <a:spcPct val="155000"/>
              </a:lnSpc>
              <a:buNone/>
            </a:pPr>
            <a:endParaRPr lang="en-US" sz="1013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     act_data_pkt_fwd        PSH.Flag.Count   Avg.Bwd.Segment.Size</a:t>
            </a:r>
            <a:endParaRPr lang="en-US" sz="1013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              </a:t>
            </a:r>
            <a:endParaRPr lang="en-US" sz="1013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98C7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1.720699</a:t>
            </a:r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98C7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2.261688</a:t>
            </a:r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algn="l" indent="0" marL="0">
              <a:lnSpc>
                <a:spcPct val="155000"/>
              </a:lnSpc>
              <a:buNone/>
            </a:pPr>
            <a:r>
              <a:rPr lang="en-US" sz="1013" b="1" dirty="0">
                <a:solidFill>
                  <a:srgbClr val="D4B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5.937063 </a:t>
            </a:r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 Bwd.Packet.Length.Std  Bwd.Packet.Length.Min    min_seg_size_forward</a:t>
            </a:r>
            <a:endParaRPr lang="en-US" sz="1013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              </a:t>
            </a:r>
            <a:endParaRPr lang="en-US" sz="1013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13" b="1" dirty="0">
                <a:solidFill>
                  <a:srgbClr val="D4B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6.830515</a:t>
            </a:r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98C7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1.769534</a:t>
            </a:r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98C7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1.038479 </a:t>
            </a:r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          Active.Std              Active.Max</a:t>
            </a:r>
            <a:endParaRPr lang="en-US" sz="1013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              </a:t>
            </a:r>
            <a:endParaRPr lang="en-US" sz="1013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98C7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2.406375</a:t>
            </a:r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algn="l" indent="0" marL="0">
              <a:lnSpc>
                <a:spcPct val="155000"/>
              </a:lnSpc>
              <a:buNone/>
            </a:pPr>
            <a:r>
              <a:rPr lang="en-US" sz="1013" dirty="0">
                <a:solidFill>
                  <a:srgbClr val="98C7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2.545160</a:t>
            </a:r>
            <a:endParaRPr lang="en-US" sz="1013" dirty="0"/>
          </a:p>
        </p:txBody>
      </p:sp>
      <p:sp>
        <p:nvSpPr>
          <p:cNvPr id="23" name="Shape 21"/>
          <p:cNvSpPr/>
          <p:nvPr/>
        </p:nvSpPr>
        <p:spPr>
          <a:xfrm>
            <a:off x="7991475" y="4841081"/>
            <a:ext cx="9534525" cy="1545878"/>
          </a:xfrm>
          <a:prstGeom prst="roundRect">
            <a:avLst>
              <a:gd name="adj" fmla="val 2465"/>
            </a:avLst>
          </a:prstGeom>
          <a:solidFill>
            <a:srgbClr val="FBF7EC"/>
          </a:solidFill>
          <a:ln/>
        </p:spPr>
      </p:sp>
      <p:sp>
        <p:nvSpPr>
          <p:cNvPr id="24" name="Shape 22"/>
          <p:cNvSpPr/>
          <p:nvPr/>
        </p:nvSpPr>
        <p:spPr>
          <a:xfrm>
            <a:off x="7991475" y="6377434"/>
            <a:ext cx="9534525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5" name="Shape 23"/>
          <p:cNvSpPr/>
          <p:nvPr/>
        </p:nvSpPr>
        <p:spPr>
          <a:xfrm>
            <a:off x="7991475" y="4841081"/>
            <a:ext cx="9534525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6" name="Shape 24"/>
          <p:cNvSpPr/>
          <p:nvPr/>
        </p:nvSpPr>
        <p:spPr>
          <a:xfrm>
            <a:off x="7991475" y="4841081"/>
            <a:ext cx="28575" cy="154587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7" name="Shape 25"/>
          <p:cNvSpPr/>
          <p:nvPr/>
        </p:nvSpPr>
        <p:spPr>
          <a:xfrm>
            <a:off x="17516475" y="4841081"/>
            <a:ext cx="9525" cy="1545878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8" name="Text 26"/>
          <p:cNvSpPr/>
          <p:nvPr/>
        </p:nvSpPr>
        <p:spPr>
          <a:xfrm>
            <a:off x="8248650" y="5041106"/>
            <a:ext cx="336798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5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⚑</a:t>
            </a:r>
            <a:endParaRPr lang="en-US" sz="2850" dirty="0"/>
          </a:p>
        </p:txBody>
      </p:sp>
      <p:sp>
        <p:nvSpPr>
          <p:cNvPr id="29" name="Text 27"/>
          <p:cNvSpPr/>
          <p:nvPr/>
        </p:nvSpPr>
        <p:spPr>
          <a:xfrm>
            <a:off x="8661648" y="5203031"/>
            <a:ext cx="8885014" cy="2369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80" b="1" spc="216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VIF CAVEAT · CLASS THRESHOLD &lt; 5</a:t>
            </a:r>
            <a:endParaRPr lang="en-US" sz="1080" dirty="0"/>
          </a:p>
        </p:txBody>
      </p:sp>
      <p:sp>
        <p:nvSpPr>
          <p:cNvPr id="30" name="Text 28"/>
          <p:cNvSpPr/>
          <p:nvPr/>
        </p:nvSpPr>
        <p:spPr>
          <a:xfrm>
            <a:off x="8661648" y="5497116"/>
            <a:ext cx="8885014" cy="727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0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Max VIF is </a:t>
            </a:r>
            <a:pPr algn="l" indent="0" marL="0">
              <a:lnSpc>
                <a:spcPct val="150000"/>
              </a:lnSpc>
              <a:buNone/>
            </a:pPr>
            <a:r>
              <a:rPr lang="en-US" sz="1208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6.83 </a:t>
            </a:r>
            <a:pPr algn="l" indent="0" marL="0">
              <a:lnSpc>
                <a:spcPct val="150000"/>
              </a:lnSpc>
              <a:buNone/>
            </a:pPr>
            <a:r>
              <a:rPr lang="en-US" sz="120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(Bwd.Packet.Length.Std), with Avg.Bwd.Segment.Size at </a:t>
            </a:r>
            <a:pPr algn="l" indent="0" marL="0">
              <a:lnSpc>
                <a:spcPct val="150000"/>
              </a:lnSpc>
              <a:buNone/>
            </a:pPr>
            <a:r>
              <a:rPr lang="en-US" sz="1208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5.94 </a:t>
            </a:r>
            <a:pPr algn="l" indent="0" marL="0">
              <a:lnSpc>
                <a:spcPct val="150000"/>
              </a:lnSpc>
              <a:buNone/>
            </a:pPr>
            <a:r>
              <a:rPr lang="en-US" sz="120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Both sit above the class threshold of 5, below the broader rule-of-thumb of 10. We retain them because they are substantively meaningful and dropping them noticeably hurts the fit — </a:t>
            </a:r>
            <a:pPr algn="l" indent="0" marL="0">
              <a:lnSpc>
                <a:spcPct val="150000"/>
              </a:lnSpc>
              <a:buNone/>
            </a:pPr>
            <a:r>
              <a:rPr lang="en-US" sz="1208" i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treated as a known caveat.</a:t>
            </a:r>
            <a:endParaRPr lang="en-US" sz="1208" dirty="0"/>
          </a:p>
        </p:txBody>
      </p:sp>
      <p:sp>
        <p:nvSpPr>
          <p:cNvPr id="31" name="Shape 29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2" name="Text 30"/>
          <p:cNvSpPr/>
          <p:nvPr/>
        </p:nvSpPr>
        <p:spPr>
          <a:xfrm>
            <a:off x="762000" y="9723239"/>
            <a:ext cx="5016206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5336589" y="9723239"/>
            <a:ext cx="2265611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58345" y="609600"/>
            <a:ext cx="8438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9492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749326" y="609600"/>
            <a:ext cx="16503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DIAGNOSTICS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6125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350" spc="-78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fit </a:t>
            </a:r>
            <a:pPr algn="l" indent="0" marL="0">
              <a:lnSpc>
                <a:spcPct val="104000"/>
              </a:lnSpc>
              <a:buNone/>
            </a:pPr>
            <a:r>
              <a:rPr lang="en-US" sz="4350" i="1" spc="-78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breaks every assumption</a:t>
            </a:r>
            <a:pPr algn="l" indent="0" marL="0">
              <a:lnSpc>
                <a:spcPct val="104000"/>
              </a:lnSpc>
              <a:buNone/>
            </a:pPr>
            <a:r>
              <a:rPr lang="en-US" sz="4350" spc="-78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4350" dirty="0"/>
          </a:p>
        </p:txBody>
      </p:sp>
      <p:sp>
        <p:nvSpPr>
          <p:cNvPr id="6" name="Text 4"/>
          <p:cNvSpPr/>
          <p:nvPr/>
        </p:nvSpPr>
        <p:spPr>
          <a:xfrm>
            <a:off x="762000" y="1879402"/>
            <a:ext cx="9810750" cy="576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4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trusting any p‑value, we check residuals. The default model fails on two counts — outliers and non-normality — both visible in the diagnostic triptych.</a:t>
            </a:r>
            <a:endParaRPr lang="en-US" sz="1463" dirty="0"/>
          </a:p>
        </p:txBody>
      </p:sp>
      <p:sp>
        <p:nvSpPr>
          <p:cNvPr id="7" name="Shape 5"/>
          <p:cNvSpPr/>
          <p:nvPr/>
        </p:nvSpPr>
        <p:spPr>
          <a:xfrm>
            <a:off x="762000" y="2627412"/>
            <a:ext cx="16764000" cy="3886200"/>
          </a:xfrm>
          <a:prstGeom prst="roundRect">
            <a:avLst>
              <a:gd name="adj" fmla="val 980"/>
            </a:avLst>
          </a:prstGeom>
          <a:solidFill>
            <a:srgbClr val="FFFFFF"/>
          </a:solidFill>
          <a:ln w="9525">
            <a:solidFill>
              <a:srgbClr val="D7CDB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0099" y="2770287"/>
            <a:ext cx="11467654" cy="360030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62000" y="6723162"/>
            <a:ext cx="8248650" cy="2625775"/>
          </a:xfrm>
          <a:prstGeom prst="roundRect">
            <a:avLst>
              <a:gd name="adj" fmla="val 1451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19175" y="6961287"/>
            <a:ext cx="7966329" cy="2369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80" b="1" spc="216" kern="0" dirty="0">
                <a:solidFill>
                  <a:srgbClr val="B3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· ROW 1198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1019175" y="7274421"/>
            <a:ext cx="7966329" cy="515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single observation drives the Cook's distance plot. Row 1198 has leverage </a:t>
            </a:r>
            <a:pPr algn="l" indent="0" marL="0">
              <a:lnSpc>
                <a:spcPct val="150000"/>
              </a:lnSpc>
              <a:buNone/>
            </a:pPr>
            <a:r>
              <a:rPr lang="en-US" sz="1252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0.99 </a:t>
            </a:r>
            <a:pPr algn="l" indent="0" marL="0">
              <a:lnSpc>
                <a:spcPct val="150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Cook's distance </a:t>
            </a:r>
            <a:pPr algn="l" indent="0" marL="0">
              <a:lnSpc>
                <a:spcPct val="150000"/>
              </a:lnSpc>
              <a:buNone/>
            </a:pPr>
            <a:r>
              <a:rPr lang="en-US" sz="1252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~5,800 </a:t>
            </a:r>
            <a:pPr algn="l" indent="0" marL="0">
              <a:lnSpc>
                <a:spcPct val="150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artificially inflating R² to 0.99 and warping the regression plane.</a:t>
            </a:r>
            <a:endParaRPr lang="en-US" sz="1252" dirty="0"/>
          </a:p>
        </p:txBody>
      </p:sp>
      <p:sp>
        <p:nvSpPr>
          <p:cNvPr id="12" name="Shape 9"/>
          <p:cNvSpPr/>
          <p:nvPr/>
        </p:nvSpPr>
        <p:spPr>
          <a:xfrm>
            <a:off x="1019175" y="7884914"/>
            <a:ext cx="7734300" cy="1225897"/>
          </a:xfrm>
          <a:prstGeom prst="roundRect">
            <a:avLst>
              <a:gd name="adj" fmla="val 4662"/>
            </a:avLst>
          </a:prstGeom>
          <a:solidFill>
            <a:srgbClr val="15181F"/>
          </a:solidFill>
          <a:ln/>
        </p:spPr>
      </p:sp>
      <p:sp>
        <p:nvSpPr>
          <p:cNvPr id="13" name="Text 10"/>
          <p:cNvSpPr/>
          <p:nvPr/>
        </p:nvSpPr>
        <p:spPr>
          <a:xfrm>
            <a:off x="1190625" y="8018264"/>
            <a:ext cx="7623429" cy="9972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975" i="1" dirty="0">
                <a:solidFill>
                  <a:srgbClr val="6B73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Row 1198 Outlier === </a:t>
            </a:r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98C7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98C7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(tab, row.names = </a:t>
            </a:r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98C7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 </a:t>
            </a:r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75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Variable Row_1198 Second_Val Z_Score Times_2nd</a:t>
            </a:r>
            <a:endParaRPr lang="en-US" sz="975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Flow.Bytes  </a:t>
            </a:r>
            <a:endParaRPr lang="en-US" sz="975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D4B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10716095</a:t>
            </a:r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98C7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977134</a:t>
            </a:r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98C7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312.81</a:t>
            </a:r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98C7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11.0 </a:t>
            </a:r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act_data_pkt_fwd     </a:t>
            </a:r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D4B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2626</a:t>
            </a:r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98C7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159</a:t>
            </a:r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98C7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311.82</a:t>
            </a:r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E8DEC4"/>
                </a:solidFill>
                <a:highlight>
                  <a:srgbClr val="15181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algn="l" indent="0" marL="0">
              <a:lnSpc>
                <a:spcPct val="155000"/>
              </a:lnSpc>
              <a:buNone/>
            </a:pPr>
            <a:r>
              <a:rPr lang="en-US" sz="975" dirty="0">
                <a:solidFill>
                  <a:srgbClr val="98C7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16.5</a:t>
            </a:r>
            <a:endParaRPr lang="en-US" sz="975" dirty="0"/>
          </a:p>
        </p:txBody>
      </p:sp>
      <p:sp>
        <p:nvSpPr>
          <p:cNvPr id="14" name="Shape 11"/>
          <p:cNvSpPr/>
          <p:nvPr/>
        </p:nvSpPr>
        <p:spPr>
          <a:xfrm>
            <a:off x="9277350" y="6723162"/>
            <a:ext cx="8248650" cy="2625775"/>
          </a:xfrm>
          <a:prstGeom prst="roundRect">
            <a:avLst>
              <a:gd name="adj" fmla="val 1451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534525" y="6961287"/>
            <a:ext cx="7966329" cy="2369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80" b="1" spc="216" kern="0" dirty="0">
                <a:solidFill>
                  <a:srgbClr val="B3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NON-NORMALITY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9534525" y="7274421"/>
            <a:ext cx="7966329" cy="515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algn="l" indent="0" marL="0">
              <a:lnSpc>
                <a:spcPct val="150000"/>
              </a:lnSpc>
              <a:buNone/>
            </a:pPr>
            <a:r>
              <a:rPr lang="en-US" sz="1252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Q‑Q plot </a:t>
            </a:r>
            <a:pPr algn="l" indent="0" marL="0">
              <a:lnSpc>
                <a:spcPct val="150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 massive deviation in both tails — the residuals are nowhere near normal. This destabilizes every confidence interval downstream.</a:t>
            </a:r>
            <a:endParaRPr lang="en-US" sz="1252" dirty="0"/>
          </a:p>
        </p:txBody>
      </p:sp>
      <p:sp>
        <p:nvSpPr>
          <p:cNvPr id="17" name="Text 14"/>
          <p:cNvSpPr/>
          <p:nvPr/>
        </p:nvSpPr>
        <p:spPr>
          <a:xfrm>
            <a:off x="9534525" y="7884914"/>
            <a:ext cx="7966329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spc="156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· NEXT SLIDE</a:t>
            </a:r>
            <a:endParaRPr lang="en-US" sz="975" dirty="0"/>
          </a:p>
        </p:txBody>
      </p:sp>
      <p:sp>
        <p:nvSpPr>
          <p:cNvPr id="18" name="Text 15"/>
          <p:cNvSpPr/>
          <p:nvPr/>
        </p:nvSpPr>
        <p:spPr>
          <a:xfrm>
            <a:off x="9534525" y="8131076"/>
            <a:ext cx="7966329" cy="276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 Row 1198, then re-check whether a log transform of </a:t>
            </a:r>
            <a:pPr algn="l" indent="0" marL="0">
              <a:lnSpc>
                <a:spcPct val="150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Flow.Bytes </a:t>
            </a:r>
            <a:pPr algn="l" indent="0" marL="0">
              <a:lnSpc>
                <a:spcPct val="150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calms the residual spread.</a:t>
            </a:r>
            <a:endParaRPr lang="en-US" sz="1252" dirty="0"/>
          </a:p>
        </p:txBody>
      </p:sp>
      <p:sp>
        <p:nvSpPr>
          <p:cNvPr id="19" name="Shape 16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0" name="Text 17"/>
          <p:cNvSpPr/>
          <p:nvPr/>
        </p:nvSpPr>
        <p:spPr>
          <a:xfrm>
            <a:off x="762000" y="9723239"/>
            <a:ext cx="5016206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5336589" y="9723239"/>
            <a:ext cx="2265611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58345" y="609600"/>
            <a:ext cx="8438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9492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749326" y="609600"/>
            <a:ext cx="17911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MODEL REPAIR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6125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350" spc="-78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fixes </a:t>
            </a:r>
            <a:pPr algn="l" indent="0" marL="0">
              <a:lnSpc>
                <a:spcPct val="104000"/>
              </a:lnSpc>
              <a:buNone/>
            </a:pPr>
            <a:r>
              <a:rPr lang="en-US" sz="4350" i="1" spc="-78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restore </a:t>
            </a:r>
            <a:pPr algn="l" indent="0" marL="0">
              <a:lnSpc>
                <a:spcPct val="104000"/>
              </a:lnSpc>
              <a:buNone/>
            </a:pPr>
            <a:r>
              <a:rPr lang="en-US" sz="4350" spc="-78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assumptions.</a:t>
            </a:r>
            <a:endParaRPr lang="en-US" sz="4350" dirty="0"/>
          </a:p>
        </p:txBody>
      </p:sp>
      <p:sp>
        <p:nvSpPr>
          <p:cNvPr id="6" name="Text 4"/>
          <p:cNvSpPr/>
          <p:nvPr/>
        </p:nvSpPr>
        <p:spPr>
          <a:xfrm>
            <a:off x="762000" y="1879402"/>
            <a:ext cx="9810750" cy="308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4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the influential point comes out. Then a </a:t>
            </a:r>
            <a:pPr algn="l" indent="0" marL="0">
              <a:lnSpc>
                <a:spcPct val="145000"/>
              </a:lnSpc>
              <a:buNone/>
            </a:pPr>
            <a:r>
              <a:rPr lang="en-US" sz="1316" dirty="0">
                <a:solidFill>
                  <a:srgbClr val="5A61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log1p(Flow.Bytes) </a:t>
            </a:r>
            <a:pPr algn="l" indent="0" marL="0">
              <a:lnSpc>
                <a:spcPct val="145000"/>
              </a:lnSpc>
              <a:buNone/>
            </a:pPr>
            <a:r>
              <a:rPr lang="en-US" sz="146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 settles the heavy tail.</a:t>
            </a:r>
            <a:endParaRPr lang="en-US" sz="1463" dirty="0"/>
          </a:p>
        </p:txBody>
      </p:sp>
      <p:sp>
        <p:nvSpPr>
          <p:cNvPr id="7" name="Text 5"/>
          <p:cNvSpPr/>
          <p:nvPr/>
        </p:nvSpPr>
        <p:spPr>
          <a:xfrm>
            <a:off x="762000" y="2416969"/>
            <a:ext cx="8456867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76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DROPPING ROW 1198 · RAW RESPONSE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762000" y="2691705"/>
            <a:ext cx="8210550" cy="4953000"/>
          </a:xfrm>
          <a:prstGeom prst="roundRect">
            <a:avLst>
              <a:gd name="adj" fmla="val 769"/>
            </a:avLst>
          </a:prstGeom>
          <a:solidFill>
            <a:srgbClr val="FFFFFF"/>
          </a:solidFill>
          <a:ln w="9525">
            <a:solidFill>
              <a:srgbClr val="D7CDB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875" y="3914477"/>
            <a:ext cx="7924800" cy="2507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2000" y="7797105"/>
            <a:ext cx="8456867" cy="507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Cook's distance maximum drops from ~5,800 to </a:t>
            </a:r>
            <a:pPr algn="l" indent="0" marL="0">
              <a:lnSpc>
                <a:spcPct val="145000"/>
              </a:lnSpc>
              <a:buNone/>
            </a:pPr>
            <a:r>
              <a:rPr lang="en-US" sz="1275" b="1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~14 </a:t>
            </a:r>
            <a:pPr algn="l" indent="0" marL="0">
              <a:lnSpc>
                <a:spcPct val="145000"/>
              </a:lnSpc>
              <a:buNone/>
            </a:pPr>
            <a:r>
              <a:rPr lang="en-US" sz="12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Residuals still cluster at low fitted values and the Q‑Q tail is heavy — a transformation is warranted.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9315450" y="2416969"/>
            <a:ext cx="8456867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76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LOG1P(FLOW.BYTES) TRANSFORM</a:t>
            </a:r>
            <a:endParaRPr lang="en-US" sz="975" dirty="0"/>
          </a:p>
        </p:txBody>
      </p:sp>
      <p:sp>
        <p:nvSpPr>
          <p:cNvPr id="12" name="Shape 9"/>
          <p:cNvSpPr/>
          <p:nvPr/>
        </p:nvSpPr>
        <p:spPr>
          <a:xfrm>
            <a:off x="9315450" y="2691705"/>
            <a:ext cx="8210550" cy="4953000"/>
          </a:xfrm>
          <a:prstGeom prst="roundRect">
            <a:avLst>
              <a:gd name="adj" fmla="val 769"/>
            </a:avLst>
          </a:prstGeom>
          <a:solidFill>
            <a:srgbClr val="FFFFFF"/>
          </a:solidFill>
          <a:ln w="9525">
            <a:solidFill>
              <a:srgbClr val="D7CDB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8325" y="3924151"/>
            <a:ext cx="7924800" cy="248810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315450" y="7797105"/>
            <a:ext cx="8456867" cy="7422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log transform tames the worst tail behavior and partially straightens the Q‑Q line — but residuals vs fitted still show clear curvature. The polynomial terms added on Slide 10 substantially reduce both — though some residual structure remains.</a:t>
            </a:r>
            <a:endParaRPr lang="en-US" sz="1275" dirty="0"/>
          </a:p>
        </p:txBody>
      </p:sp>
      <p:sp>
        <p:nvSpPr>
          <p:cNvPr id="15" name="Shape 11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6" name="Text 12"/>
          <p:cNvSpPr/>
          <p:nvPr/>
        </p:nvSpPr>
        <p:spPr>
          <a:xfrm>
            <a:off x="762000" y="9723239"/>
            <a:ext cx="5016206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15336589" y="9723239"/>
            <a:ext cx="2265611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58345" y="609600"/>
            <a:ext cx="8438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9492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749326" y="609600"/>
            <a:ext cx="192226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MODEL RESULTS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6125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350" spc="-78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final MLR — </a:t>
            </a:r>
            <a:pPr algn="l" indent="0" marL="0">
              <a:lnSpc>
                <a:spcPct val="104000"/>
              </a:lnSpc>
              <a:buNone/>
            </a:pPr>
            <a:r>
              <a:rPr lang="en-US" sz="4350" i="1" spc="-78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 output</a:t>
            </a:r>
            <a:pPr algn="l" indent="0" marL="0">
              <a:lnSpc>
                <a:spcPct val="104000"/>
              </a:lnSpc>
              <a:buNone/>
            </a:pPr>
            <a:r>
              <a:rPr lang="en-US" sz="4350" spc="-78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key takeaways.</a:t>
            </a:r>
            <a:endParaRPr lang="en-US" sz="4350" dirty="0"/>
          </a:p>
        </p:txBody>
      </p:sp>
      <p:sp>
        <p:nvSpPr>
          <p:cNvPr id="6" name="Text 4"/>
          <p:cNvSpPr/>
          <p:nvPr/>
        </p:nvSpPr>
        <p:spPr>
          <a:xfrm>
            <a:off x="762000" y="1879402"/>
            <a:ext cx="9810750" cy="5464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8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 dropping Row 1198 and adding two polynomial terms to straighten the residual curve, two predictors revealed concave (downward-opening) relationships with log byte volume.</a:t>
            </a:r>
            <a:endParaRPr lang="en-US" sz="1380" dirty="0"/>
          </a:p>
        </p:txBody>
      </p:sp>
      <p:sp>
        <p:nvSpPr>
          <p:cNvPr id="7" name="Text 5"/>
          <p:cNvSpPr/>
          <p:nvPr/>
        </p:nvSpPr>
        <p:spPr>
          <a:xfrm>
            <a:off x="762000" y="2578298"/>
            <a:ext cx="5851039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62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· PRE-POLYNOMIAL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2000" y="2820144"/>
            <a:ext cx="5680621" cy="2286000"/>
          </a:xfrm>
          <a:prstGeom prst="roundRect">
            <a:avLst>
              <a:gd name="adj" fmla="val 1667"/>
            </a:avLst>
          </a:prstGeom>
          <a:solidFill>
            <a:srgbClr val="15181F"/>
          </a:solidFill>
          <a:ln w="9525">
            <a:solidFill>
              <a:srgbClr val="15181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30797" y="2820293"/>
            <a:ext cx="2542877" cy="228585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2000" y="5239494"/>
            <a:ext cx="5851039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62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· FINAL MODEL · POLYNOMIAL TERMS ADDED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62000" y="5481340"/>
            <a:ext cx="5680621" cy="2857500"/>
          </a:xfrm>
          <a:prstGeom prst="roundRect">
            <a:avLst>
              <a:gd name="adj" fmla="val 1333"/>
            </a:avLst>
          </a:prstGeom>
          <a:solidFill>
            <a:srgbClr val="15181F"/>
          </a:solidFill>
          <a:ln w="9525">
            <a:solidFill>
              <a:srgbClr val="15181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245" y="5481489"/>
            <a:ext cx="3189982" cy="2857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09321" y="2578298"/>
            <a:ext cx="4179379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62" kern="0" dirty="0">
                <a:solidFill>
                  <a:srgbClr val="B3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 · DIAGNOSTIC PLOTS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6709321" y="2820144"/>
            <a:ext cx="4057650" cy="5505450"/>
          </a:xfrm>
          <a:prstGeom prst="roundRect">
            <a:avLst>
              <a:gd name="adj" fmla="val 939"/>
            </a:avLst>
          </a:prstGeom>
          <a:solidFill>
            <a:srgbClr val="FFFFFF"/>
          </a:solidFill>
          <a:ln w="9525">
            <a:solidFill>
              <a:srgbClr val="D7CDB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1061" y="2915543"/>
            <a:ext cx="2874169" cy="531480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709321" y="8420844"/>
            <a:ext cx="4179379" cy="10047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 the polynomial terms, residual curvature is much milder and Cook's distance dropped from ~5,800 to ~1.2 — a substantial improvement. Some downward trend in residuals, a heavy left tail, and two points (627, 1041) with Cook's &gt; 1 still remain. We treat this as a partial, not complete, repair.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11033671" y="2578298"/>
            <a:ext cx="6687099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95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75" dirty="0"/>
          </a:p>
        </p:txBody>
      </p:sp>
      <p:sp>
        <p:nvSpPr>
          <p:cNvPr id="18" name="Text 13"/>
          <p:cNvSpPr/>
          <p:nvPr/>
        </p:nvSpPr>
        <p:spPr>
          <a:xfrm>
            <a:off x="11033671" y="2795885"/>
            <a:ext cx="6687099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summary tells us.</a:t>
            </a:r>
            <a:endParaRPr lang="en-US" sz="2100" dirty="0"/>
          </a:p>
        </p:txBody>
      </p:sp>
      <p:sp>
        <p:nvSpPr>
          <p:cNvPr id="19" name="Text 14"/>
          <p:cNvSpPr/>
          <p:nvPr/>
        </p:nvSpPr>
        <p:spPr>
          <a:xfrm>
            <a:off x="11033671" y="3369171"/>
            <a:ext cx="361950" cy="489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R²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11433721" y="3369171"/>
            <a:ext cx="6275048" cy="489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52" b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R² = 0.6889 </a:t>
            </a:r>
            <a:pPr algn="l" indent="0" marL="0">
              <a:lnSpc>
                <a:spcPct val="142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(Adj. 0.6869) — a realistic fit after the outlier removal and polynomial terms. RSE = </a:t>
            </a:r>
            <a:pPr algn="l" indent="0" marL="0">
              <a:lnSpc>
                <a:spcPct val="142000"/>
              </a:lnSpc>
              <a:buNone/>
            </a:pPr>
            <a:r>
              <a:rPr lang="en-US" sz="938" dirty="0">
                <a:solidFill>
                  <a:srgbClr val="1A1D26"/>
                </a:solidFill>
                <a:highlight>
                  <a:srgbClr val="EAE0C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1.527 </a:t>
            </a:r>
            <a:pPr algn="l" indent="0" marL="0">
              <a:lnSpc>
                <a:spcPct val="142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the log scale.</a:t>
            </a:r>
            <a:endParaRPr lang="en-US" sz="1252" dirty="0"/>
          </a:p>
        </p:txBody>
      </p:sp>
      <p:sp>
        <p:nvSpPr>
          <p:cNvPr id="21" name="Shape 16"/>
          <p:cNvSpPr/>
          <p:nvPr/>
        </p:nvSpPr>
        <p:spPr>
          <a:xfrm>
            <a:off x="11033671" y="3954066"/>
            <a:ext cx="6492329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2" name="Text 17"/>
          <p:cNvSpPr/>
          <p:nvPr/>
        </p:nvSpPr>
        <p:spPr>
          <a:xfrm>
            <a:off x="11033671" y="4096941"/>
            <a:ext cx="361950" cy="489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1433721" y="4096941"/>
            <a:ext cx="6275048" cy="489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52" b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 = 354 </a:t>
            </a:r>
            <a:pPr algn="l" indent="0" marL="0">
              <a:lnSpc>
                <a:spcPct val="142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10 and 1599 DF · p &lt; 2.2e-16 — the model as a whole is overwhelmingly significant.</a:t>
            </a:r>
            <a:endParaRPr lang="en-US" sz="1252" dirty="0"/>
          </a:p>
        </p:txBody>
      </p:sp>
      <p:sp>
        <p:nvSpPr>
          <p:cNvPr id="24" name="Shape 19"/>
          <p:cNvSpPr/>
          <p:nvPr/>
        </p:nvSpPr>
        <p:spPr>
          <a:xfrm>
            <a:off x="11033671" y="4681835"/>
            <a:ext cx="6492329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5" name="Text 20"/>
          <p:cNvSpPr/>
          <p:nvPr/>
        </p:nvSpPr>
        <p:spPr>
          <a:xfrm>
            <a:off x="11033671" y="4824710"/>
            <a:ext cx="361950" cy="3123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7/8</a:t>
            </a:r>
            <a:endParaRPr lang="en-US" sz="1800" dirty="0"/>
          </a:p>
        </p:txBody>
      </p:sp>
      <p:sp>
        <p:nvSpPr>
          <p:cNvPr id="26" name="Text 21"/>
          <p:cNvSpPr/>
          <p:nvPr/>
        </p:nvSpPr>
        <p:spPr>
          <a:xfrm>
            <a:off x="11433721" y="4824710"/>
            <a:ext cx="6275048" cy="3123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52" b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of 8 </a:t>
            </a:r>
            <a:pPr algn="l" indent="0" marL="0">
              <a:lnSpc>
                <a:spcPct val="142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linear-term predictors significant at p &lt; 0.05 — only </a:t>
            </a:r>
            <a:pPr algn="l" indent="0" marL="0">
              <a:lnSpc>
                <a:spcPct val="142000"/>
              </a:lnSpc>
              <a:buNone/>
            </a:pPr>
            <a:r>
              <a:rPr lang="en-US" sz="938" dirty="0">
                <a:solidFill>
                  <a:srgbClr val="1A1D26"/>
                </a:solidFill>
                <a:highlight>
                  <a:srgbClr val="EAE0C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Active.Std </a:t>
            </a:r>
            <a:pPr algn="l" indent="0" marL="0">
              <a:lnSpc>
                <a:spcPct val="142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falls short.</a:t>
            </a:r>
            <a:endParaRPr lang="en-US" sz="1252" dirty="0"/>
          </a:p>
        </p:txBody>
      </p:sp>
      <p:sp>
        <p:nvSpPr>
          <p:cNvPr id="27" name="Shape 22"/>
          <p:cNvSpPr/>
          <p:nvPr/>
        </p:nvSpPr>
        <p:spPr>
          <a:xfrm>
            <a:off x="11033671" y="5232350"/>
            <a:ext cx="6492329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8" name="Text 23"/>
          <p:cNvSpPr/>
          <p:nvPr/>
        </p:nvSpPr>
        <p:spPr>
          <a:xfrm>
            <a:off x="11033671" y="5375225"/>
            <a:ext cx="361950" cy="7154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∩</a:t>
            </a:r>
            <a:endParaRPr lang="en-US" sz="1800" dirty="0"/>
          </a:p>
        </p:txBody>
      </p:sp>
      <p:sp>
        <p:nvSpPr>
          <p:cNvPr id="29" name="Text 24"/>
          <p:cNvSpPr/>
          <p:nvPr/>
        </p:nvSpPr>
        <p:spPr>
          <a:xfrm>
            <a:off x="11433721" y="5375225"/>
            <a:ext cx="6275048" cy="7154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quadratic terms (</a:t>
            </a:r>
            <a:pPr algn="l" indent="0" marL="0">
              <a:lnSpc>
                <a:spcPct val="142000"/>
              </a:lnSpc>
              <a:buNone/>
            </a:pPr>
            <a:r>
              <a:rPr lang="en-US" sz="938" dirty="0">
                <a:solidFill>
                  <a:srgbClr val="1A1D26"/>
                </a:solidFill>
                <a:highlight>
                  <a:srgbClr val="EAE0C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Bwd.Packet.Length.Min²</a:t>
            </a:r>
            <a:pPr algn="l" indent="0" marL="0">
              <a:lnSpc>
                <a:spcPct val="142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ct val="142000"/>
              </a:lnSpc>
              <a:buNone/>
            </a:pPr>
            <a:r>
              <a:rPr lang="en-US" sz="938" dirty="0">
                <a:solidFill>
                  <a:srgbClr val="1A1D26"/>
                </a:solidFill>
                <a:highlight>
                  <a:srgbClr val="EAE0C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act_data_pkt_fwd²</a:t>
            </a:r>
            <a:pPr algn="l" indent="0" marL="0">
              <a:lnSpc>
                <a:spcPct val="142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are </a:t>
            </a:r>
            <a:pPr algn="l" indent="0" marL="0">
              <a:lnSpc>
                <a:spcPct val="142000"/>
              </a:lnSpc>
              <a:buNone/>
            </a:pPr>
            <a:r>
              <a:rPr lang="en-US" sz="1252" b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highly significant with negative signs </a:t>
            </a:r>
            <a:pPr algn="l" indent="0" marL="0">
              <a:lnSpc>
                <a:spcPct val="142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confirming concave, peaked relationships with byte volume.</a:t>
            </a:r>
            <a:endParaRPr lang="en-US" sz="1252" dirty="0"/>
          </a:p>
        </p:txBody>
      </p:sp>
      <p:sp>
        <p:nvSpPr>
          <p:cNvPr id="30" name="Shape 25"/>
          <p:cNvSpPr/>
          <p:nvPr/>
        </p:nvSpPr>
        <p:spPr>
          <a:xfrm>
            <a:off x="11033671" y="6185892"/>
            <a:ext cx="6492329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1" name="Text 26"/>
          <p:cNvSpPr/>
          <p:nvPr/>
        </p:nvSpPr>
        <p:spPr>
          <a:xfrm>
            <a:off x="11033671" y="6328767"/>
            <a:ext cx="361950" cy="489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Δ</a:t>
            </a:r>
            <a:endParaRPr lang="en-US" sz="1800" dirty="0"/>
          </a:p>
        </p:txBody>
      </p:sp>
      <p:sp>
        <p:nvSpPr>
          <p:cNvPr id="32" name="Text 27"/>
          <p:cNvSpPr/>
          <p:nvPr/>
        </p:nvSpPr>
        <p:spPr>
          <a:xfrm>
            <a:off x="11433721" y="6328767"/>
            <a:ext cx="6275048" cy="489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Compared to the pre-polynomial fit (R² = 0.5686): </a:t>
            </a:r>
            <a:pPr algn="l" indent="0" marL="0">
              <a:lnSpc>
                <a:spcPct val="142000"/>
              </a:lnSpc>
              <a:buNone/>
            </a:pPr>
            <a:r>
              <a:rPr lang="en-US" sz="1252" b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+12 percentage points </a:t>
            </a:r>
            <a:pPr algn="l" indent="0" marL="0">
              <a:lnSpc>
                <a:spcPct val="142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explained variance just from the two curvature terms.</a:t>
            </a:r>
            <a:endParaRPr lang="en-US" sz="1252" dirty="0"/>
          </a:p>
        </p:txBody>
      </p:sp>
      <p:sp>
        <p:nvSpPr>
          <p:cNvPr id="33" name="Shape 28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4" name="Text 29"/>
          <p:cNvSpPr/>
          <p:nvPr/>
        </p:nvSpPr>
        <p:spPr>
          <a:xfrm>
            <a:off x="762000" y="9723239"/>
            <a:ext cx="5016206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35" name="Text 30"/>
          <p:cNvSpPr/>
          <p:nvPr/>
        </p:nvSpPr>
        <p:spPr>
          <a:xfrm>
            <a:off x="15336589" y="9723239"/>
            <a:ext cx="2265611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58345" y="609600"/>
            <a:ext cx="8438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9492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749326" y="609600"/>
            <a:ext cx="20096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INTERPRETATION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6125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350" spc="-78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drives </a:t>
            </a:r>
            <a:pPr algn="l" indent="0" marL="0">
              <a:lnSpc>
                <a:spcPct val="104000"/>
              </a:lnSpc>
              <a:buNone/>
            </a:pPr>
            <a:r>
              <a:rPr lang="en-US" sz="4350" i="1" spc="-78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normal </a:t>
            </a:r>
            <a:pPr algn="l" indent="0" marL="0">
              <a:lnSpc>
                <a:spcPct val="104000"/>
              </a:lnSpc>
              <a:buNone/>
            </a:pPr>
            <a:r>
              <a:rPr lang="en-US" sz="4350" spc="-78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network velocity?</a:t>
            </a:r>
            <a:endParaRPr lang="en-US" sz="4350" dirty="0"/>
          </a:p>
        </p:txBody>
      </p:sp>
      <p:sp>
        <p:nvSpPr>
          <p:cNvPr id="6" name="Shape 4"/>
          <p:cNvSpPr/>
          <p:nvPr/>
        </p:nvSpPr>
        <p:spPr>
          <a:xfrm>
            <a:off x="762000" y="1879402"/>
            <a:ext cx="5435501" cy="1855887"/>
          </a:xfrm>
          <a:prstGeom prst="roundRect">
            <a:avLst>
              <a:gd name="adj" fmla="val 2053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0125" y="2098477"/>
            <a:ext cx="5108028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9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R-SQUARED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1000125" y="2354163"/>
            <a:ext cx="510802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spc="-108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0.6889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1000125" y="3116163"/>
            <a:ext cx="510802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realistic fit after removing the leverage outlier and adding polynomial terms.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6426101" y="1879402"/>
            <a:ext cx="5435650" cy="1855887"/>
          </a:xfrm>
          <a:prstGeom prst="roundRect">
            <a:avLst>
              <a:gd name="adj" fmla="val 2053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64226" y="2098477"/>
            <a:ext cx="5108182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9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SIGNIFICANCE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6664226" y="2354163"/>
            <a:ext cx="5108182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50" spc="-93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 = 354</a:t>
            </a:r>
            <a:endParaRPr lang="en-US" sz="4650" dirty="0"/>
          </a:p>
        </p:txBody>
      </p:sp>
      <p:sp>
        <p:nvSpPr>
          <p:cNvPr id="13" name="Text 11"/>
          <p:cNvSpPr/>
          <p:nvPr/>
        </p:nvSpPr>
        <p:spPr>
          <a:xfrm>
            <a:off x="6664226" y="3020913"/>
            <a:ext cx="510818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F(10, 1599) · p &lt; 2.2e-16</a:t>
            </a:r>
            <a:endParaRPr lang="en-US" sz="1125" dirty="0"/>
          </a:p>
        </p:txBody>
      </p:sp>
      <p:sp>
        <p:nvSpPr>
          <p:cNvPr id="14" name="Shape 12"/>
          <p:cNvSpPr/>
          <p:nvPr/>
        </p:nvSpPr>
        <p:spPr>
          <a:xfrm>
            <a:off x="12090350" y="1879402"/>
            <a:ext cx="5435650" cy="1855887"/>
          </a:xfrm>
          <a:prstGeom prst="roundRect">
            <a:avLst>
              <a:gd name="adj" fmla="val 2053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28475" y="2098477"/>
            <a:ext cx="5108182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9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</a:t>
            </a:r>
            <a:endParaRPr lang="en-US" sz="975" dirty="0"/>
          </a:p>
        </p:txBody>
      </p:sp>
      <p:sp>
        <p:nvSpPr>
          <p:cNvPr id="16" name="Text 14"/>
          <p:cNvSpPr/>
          <p:nvPr/>
        </p:nvSpPr>
        <p:spPr>
          <a:xfrm>
            <a:off x="12328475" y="2354163"/>
            <a:ext cx="510818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spc="-108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</a:t>
            </a:r>
            <a:pPr algn="l" indent="0" marL="0">
              <a:lnSpc>
                <a:spcPct val="100000"/>
              </a:lnSpc>
              <a:buNone/>
            </a:pPr>
            <a:r>
              <a:rPr lang="en-US" sz="3150" spc="-108" kern="0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 8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12328475" y="3116163"/>
            <a:ext cx="510818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retained predictors but </a:t>
            </a:r>
            <a:pPr algn="l" indent="0" marL="0">
              <a:lnSpc>
                <a:spcPct val="140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Active.Std </a:t>
            </a:r>
            <a:pPr algn="l" indent="0" marL="0">
              <a:lnSpc>
                <a:spcPct val="140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statistically significant.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762000" y="3944838"/>
            <a:ext cx="8476488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76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CONFIDENCE INTERVALS · FINAL MODEL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762000" y="4219575"/>
            <a:ext cx="8229600" cy="4048125"/>
          </a:xfrm>
          <a:prstGeom prst="roundRect">
            <a:avLst>
              <a:gd name="adj" fmla="val 941"/>
            </a:avLst>
          </a:prstGeom>
          <a:solidFill>
            <a:srgbClr val="15181F"/>
          </a:solidFill>
          <a:ln w="9525">
            <a:solidFill>
              <a:srgbClr val="15181F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9786" y="4219724"/>
            <a:ext cx="6993880" cy="404797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9296400" y="3944838"/>
            <a:ext cx="8476488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76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· THE CONCAVE EFFECT</a:t>
            </a:r>
            <a:endParaRPr lang="en-US" sz="975" dirty="0"/>
          </a:p>
        </p:txBody>
      </p:sp>
      <p:sp>
        <p:nvSpPr>
          <p:cNvPr id="22" name="Text 19"/>
          <p:cNvSpPr/>
          <p:nvPr/>
        </p:nvSpPr>
        <p:spPr>
          <a:xfrm>
            <a:off x="9296400" y="4219575"/>
            <a:ext cx="8476488" cy="532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9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Holding all other variables constant, the marginal effect of a one-byte increase in </a:t>
            </a:r>
            <a:pPr algn="l" indent="0" marL="0">
              <a:lnSpc>
                <a:spcPct val="150000"/>
              </a:lnSpc>
              <a:buNone/>
            </a:pPr>
            <a:r>
              <a:rPr lang="en-US" sz="1298" dirty="0">
                <a:solidFill>
                  <a:srgbClr val="2C3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Bwd.Packet.Length.Min </a:t>
            </a:r>
            <a:pPr algn="l" indent="0" marL="0">
              <a:lnSpc>
                <a:spcPct val="150000"/>
              </a:lnSpc>
              <a:buNone/>
            </a:pPr>
            <a:r>
              <a:rPr lang="en-US" sz="129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log(Flow.Bytes) is:</a:t>
            </a:r>
            <a:endParaRPr lang="en-US" sz="1298" dirty="0"/>
          </a:p>
        </p:txBody>
      </p:sp>
      <p:sp>
        <p:nvSpPr>
          <p:cNvPr id="23" name="Shape 20"/>
          <p:cNvSpPr/>
          <p:nvPr/>
        </p:nvSpPr>
        <p:spPr>
          <a:xfrm>
            <a:off x="9296400" y="4866084"/>
            <a:ext cx="8229600" cy="10668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D7CDB4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4744" y="5042446"/>
            <a:ext cx="4252913" cy="714226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9296400" y="6085284"/>
            <a:ext cx="8476488" cy="753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a low baseline floor, a one-byte increase raises expected throughput by </a:t>
            </a:r>
            <a:pPr algn="l" indent="0" marL="0">
              <a:lnSpc>
                <a:spcPct val="150000"/>
              </a:lnSpc>
              <a:buNone/>
            </a:pPr>
            <a:r>
              <a:rPr lang="en-US" sz="1252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~2.32% </a:t>
            </a:r>
            <a:pPr algn="l" indent="0" marL="0">
              <a:lnSpc>
                <a:spcPct val="150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(β = 0.02316). Due to the negative quadratic term (β = −0.0000145), this benefit diminishes </a:t>
            </a:r>
            <a:pPr algn="l" indent="0" marL="0">
              <a:lnSpc>
                <a:spcPct val="150000"/>
              </a:lnSpc>
              <a:buNone/>
            </a:pPr>
            <a:r>
              <a:rPr lang="en-US" sz="1252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0.0029% </a:t>
            </a:r>
            <a:pPr algn="l" indent="0" marL="0">
              <a:lnSpc>
                <a:spcPct val="150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 additional byte, peaking at </a:t>
            </a:r>
            <a:pPr algn="l" indent="0" marL="0">
              <a:lnSpc>
                <a:spcPct val="150000"/>
              </a:lnSpc>
              <a:buNone/>
            </a:pPr>
            <a:r>
              <a:rPr lang="en-US" sz="1252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798.6 bytes </a:t>
            </a:r>
            <a:pPr algn="l" indent="0" marL="0">
              <a:lnSpc>
                <a:spcPct val="150000"/>
              </a:lnSpc>
              <a:buNone/>
            </a:pPr>
            <a:r>
              <a:rPr lang="en-US" sz="1252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Past that threshold the marginal effect flips sign.</a:t>
            </a:r>
            <a:endParaRPr lang="en-US" sz="1252" dirty="0"/>
          </a:p>
        </p:txBody>
      </p:sp>
      <p:sp>
        <p:nvSpPr>
          <p:cNvPr id="26" name="Shape 22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7" name="Text 23"/>
          <p:cNvSpPr/>
          <p:nvPr/>
        </p:nvSpPr>
        <p:spPr>
          <a:xfrm>
            <a:off x="762000" y="9723239"/>
            <a:ext cx="5016206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15336589" y="9723239"/>
            <a:ext cx="2265611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58345" y="609600"/>
            <a:ext cx="8438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9492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749326" y="609600"/>
            <a:ext cx="19164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LOGISTIC SETUP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6521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spc="-84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Classifying </a:t>
            </a:r>
            <a:pPr algn="l" indent="0" marL="0">
              <a:lnSpc>
                <a:spcPct val="104000"/>
              </a:lnSpc>
              <a:buNone/>
            </a:pPr>
            <a:r>
              <a:rPr lang="en-US" sz="4650" i="1" spc="-84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threats </a:t>
            </a:r>
            <a:pPr algn="l" indent="0" marL="0">
              <a:lnSpc>
                <a:spcPct val="104000"/>
              </a:lnSpc>
              <a:buNone/>
            </a:pPr>
            <a:r>
              <a:rPr lang="en-US" sz="4650" spc="-84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the baseline.</a:t>
            </a:r>
            <a:endParaRPr lang="en-US" sz="4650" dirty="0"/>
          </a:p>
        </p:txBody>
      </p:sp>
      <p:sp>
        <p:nvSpPr>
          <p:cNvPr id="6" name="Shape 4"/>
          <p:cNvSpPr/>
          <p:nvPr/>
        </p:nvSpPr>
        <p:spPr>
          <a:xfrm>
            <a:off x="762000" y="2033290"/>
            <a:ext cx="5410200" cy="1855887"/>
          </a:xfrm>
          <a:prstGeom prst="roundRect">
            <a:avLst>
              <a:gd name="adj" fmla="val 2053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0125" y="2252365"/>
            <a:ext cx="5081969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9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1000125" y="2508052"/>
            <a:ext cx="508196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50" spc="-57" kern="0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Attack_Flag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1000125" y="2946202"/>
            <a:ext cx="5081969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Binary outcome — 0 = benign, 1 = attack. Overall attack rate in the data is </a:t>
            </a:r>
            <a:pPr algn="l" indent="0" marL="0">
              <a:lnSpc>
                <a:spcPct val="140000"/>
              </a:lnSpc>
              <a:buNone/>
            </a:pPr>
            <a:r>
              <a:rPr lang="en-US" sz="1125" b="1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19.3%</a:t>
            </a:r>
            <a:pPr algn="l" indent="0" marL="0">
              <a:lnSpc>
                <a:spcPct val="140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6438900" y="2033290"/>
            <a:ext cx="5410200" cy="1855887"/>
          </a:xfrm>
          <a:prstGeom prst="roundRect">
            <a:avLst>
              <a:gd name="adj" fmla="val 2053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7025" y="2252365"/>
            <a:ext cx="5081969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9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SCOPE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6677025" y="2508052"/>
            <a:ext cx="508196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spc="-108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</a:t>
            </a:r>
            <a:pPr algn="l" indent="0" marL="0">
              <a:lnSpc>
                <a:spcPct val="100000"/>
              </a:lnSpc>
              <a:buNone/>
            </a:pPr>
            <a:r>
              <a:rPr lang="en-US" sz="5400" spc="-108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predictors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677025" y="3270052"/>
            <a:ext cx="5081969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First-order terms only. Iterative stepwise BIC, with VIF-based pruning. Max VIF: </a:t>
            </a:r>
            <a:pPr algn="l" indent="0" marL="0">
              <a:lnSpc>
                <a:spcPct val="140000"/>
              </a:lnSpc>
              <a:buNone/>
            </a:pPr>
            <a:r>
              <a:rPr lang="en-US" sz="1125" b="1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4.37</a:t>
            </a:r>
            <a:pPr algn="l" indent="0" marL="0">
              <a:lnSpc>
                <a:spcPct val="140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25" dirty="0"/>
          </a:p>
        </p:txBody>
      </p:sp>
      <p:sp>
        <p:nvSpPr>
          <p:cNvPr id="14" name="Shape 12"/>
          <p:cNvSpPr/>
          <p:nvPr/>
        </p:nvSpPr>
        <p:spPr>
          <a:xfrm>
            <a:off x="12115800" y="2033290"/>
            <a:ext cx="5410200" cy="1855887"/>
          </a:xfrm>
          <a:prstGeom prst="roundRect">
            <a:avLst>
              <a:gd name="adj" fmla="val 2053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53925" y="2252365"/>
            <a:ext cx="5081969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9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</a:t>
            </a:r>
            <a:endParaRPr lang="en-US" sz="975" dirty="0"/>
          </a:p>
        </p:txBody>
      </p:sp>
      <p:sp>
        <p:nvSpPr>
          <p:cNvPr id="16" name="Text 14"/>
          <p:cNvSpPr/>
          <p:nvPr/>
        </p:nvSpPr>
        <p:spPr>
          <a:xfrm>
            <a:off x="12353925" y="2508052"/>
            <a:ext cx="508196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spc="-108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logit </a:t>
            </a:r>
            <a:pPr algn="l" indent="0" marL="0">
              <a:lnSpc>
                <a:spcPct val="100000"/>
              </a:lnSpc>
              <a:buNone/>
            </a:pPr>
            <a:r>
              <a:rPr lang="en-US" sz="5400" spc="-108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12353925" y="3270052"/>
            <a:ext cx="508196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Binomial GLM, maximum likelihood. Convergence in &lt; 10 iterations.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762000" y="4155877"/>
            <a:ext cx="16764000" cy="1312069"/>
          </a:xfrm>
          <a:prstGeom prst="roundRect">
            <a:avLst>
              <a:gd name="adj" fmla="val 2904"/>
            </a:avLst>
          </a:prstGeom>
          <a:solidFill>
            <a:srgbClr val="FBF7EC"/>
          </a:solidFill>
          <a:ln/>
        </p:spPr>
      </p:sp>
      <p:sp>
        <p:nvSpPr>
          <p:cNvPr id="19" name="Shape 17"/>
          <p:cNvSpPr/>
          <p:nvPr/>
        </p:nvSpPr>
        <p:spPr>
          <a:xfrm>
            <a:off x="762000" y="5458420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0" name="Shape 18"/>
          <p:cNvSpPr/>
          <p:nvPr/>
        </p:nvSpPr>
        <p:spPr>
          <a:xfrm>
            <a:off x="762000" y="4155877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1" name="Shape 19"/>
          <p:cNvSpPr/>
          <p:nvPr/>
        </p:nvSpPr>
        <p:spPr>
          <a:xfrm>
            <a:off x="762000" y="4155877"/>
            <a:ext cx="28575" cy="1312069"/>
          </a:xfrm>
          <a:prstGeom prst="rect">
            <a:avLst/>
          </a:prstGeom>
          <a:solidFill>
            <a:srgbClr val="B33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17516475" y="4155877"/>
            <a:ext cx="9525" cy="1312069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3" name="Shape 21"/>
          <p:cNvSpPr/>
          <p:nvPr/>
        </p:nvSpPr>
        <p:spPr>
          <a:xfrm>
            <a:off x="1076325" y="4394002"/>
            <a:ext cx="400050" cy="400050"/>
          </a:xfrm>
          <a:prstGeom prst="ellipse">
            <a:avLst/>
          </a:prstGeom>
          <a:solidFill>
            <a:srgbClr val="B33A2E"/>
          </a:solidFill>
          <a:ln/>
        </p:spPr>
      </p:sp>
      <p:sp>
        <p:nvSpPr>
          <p:cNvPr id="24" name="Text 22"/>
          <p:cNvSpPr/>
          <p:nvPr/>
        </p:nvSpPr>
        <p:spPr>
          <a:xfrm>
            <a:off x="1038225" y="4394002"/>
            <a:ext cx="4762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57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75" dirty="0"/>
          </a:p>
        </p:txBody>
      </p:sp>
      <p:sp>
        <p:nvSpPr>
          <p:cNvPr id="25" name="Text 23"/>
          <p:cNvSpPr/>
          <p:nvPr/>
        </p:nvSpPr>
        <p:spPr>
          <a:xfrm>
            <a:off x="1666875" y="4441627"/>
            <a:ext cx="16030766" cy="2369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80" b="1" spc="216" kern="0" dirty="0">
                <a:solidFill>
                  <a:srgbClr val="B3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ALERT · PARTIAL SEPARATION</a:t>
            </a:r>
            <a:endParaRPr lang="en-US" sz="1080" dirty="0"/>
          </a:p>
        </p:txBody>
      </p:sp>
      <p:sp>
        <p:nvSpPr>
          <p:cNvPr id="26" name="Text 24"/>
          <p:cNvSpPr/>
          <p:nvPr/>
        </p:nvSpPr>
        <p:spPr>
          <a:xfrm>
            <a:off x="1666875" y="4735711"/>
            <a:ext cx="16030766" cy="532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98" dirty="0">
                <a:solidFill>
                  <a:srgbClr val="2C3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Active.Std</a:t>
            </a:r>
            <a:pPr algn="l" indent="0" marL="0">
              <a:lnSpc>
                <a:spcPct val="150000"/>
              </a:lnSpc>
              <a:buNone/>
            </a:pPr>
            <a:r>
              <a:rPr lang="en-US" sz="129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ct val="150000"/>
              </a:lnSpc>
              <a:buNone/>
            </a:pPr>
            <a:r>
              <a:rPr lang="en-US" sz="1298" dirty="0">
                <a:solidFill>
                  <a:srgbClr val="2C3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Fwd.Packet.Length.Min</a:t>
            </a:r>
            <a:pPr algn="l" indent="0" marL="0">
              <a:lnSpc>
                <a:spcPct val="150000"/>
              </a:lnSpc>
              <a:buNone/>
            </a:pPr>
            <a:r>
              <a:rPr lang="en-US" sz="129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and </a:t>
            </a:r>
            <a:pPr algn="l" indent="0" marL="0">
              <a:lnSpc>
                <a:spcPct val="150000"/>
              </a:lnSpc>
              <a:buNone/>
            </a:pPr>
            <a:r>
              <a:rPr lang="en-US" sz="1298" dirty="0">
                <a:solidFill>
                  <a:srgbClr val="2C3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Avg.Fwd.Segment.Size </a:t>
            </a:r>
            <a:pPr algn="l" indent="0" marL="0">
              <a:lnSpc>
                <a:spcPct val="150000"/>
              </a:lnSpc>
              <a:buNone/>
            </a:pPr>
            <a:r>
              <a:rPr lang="en-US" sz="129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were flagged for partial separation. We keep them for predictive accuracy but </a:t>
            </a:r>
            <a:pPr algn="l" indent="0" marL="0">
              <a:lnSpc>
                <a:spcPct val="150000"/>
              </a:lnSpc>
              <a:buNone/>
            </a:pPr>
            <a:r>
              <a:rPr lang="en-US" sz="1298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don't interpret their odds-ratio magnitudes </a:t>
            </a:r>
            <a:pPr algn="l" indent="0" marL="0">
              <a:lnSpc>
                <a:spcPct val="150000"/>
              </a:lnSpc>
              <a:buNone/>
            </a:pPr>
            <a:r>
              <a:rPr lang="en-US" sz="129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those saturate at ±100% by construction.</a:t>
            </a:r>
            <a:endParaRPr lang="en-US" sz="1298" dirty="0"/>
          </a:p>
        </p:txBody>
      </p:sp>
      <p:sp>
        <p:nvSpPr>
          <p:cNvPr id="27" name="Text 25"/>
          <p:cNvSpPr/>
          <p:nvPr/>
        </p:nvSpPr>
        <p:spPr>
          <a:xfrm>
            <a:off x="762000" y="5677495"/>
            <a:ext cx="17266920" cy="260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8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 / test split discussion → moved to slide 14 (Performance), where the held-out metrics live.</a:t>
            </a:r>
            <a:endParaRPr lang="en-US" sz="1208" dirty="0"/>
          </a:p>
        </p:txBody>
      </p:sp>
      <p:sp>
        <p:nvSpPr>
          <p:cNvPr id="28" name="Shape 26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9" name="Text 27"/>
          <p:cNvSpPr/>
          <p:nvPr/>
        </p:nvSpPr>
        <p:spPr>
          <a:xfrm>
            <a:off x="762000" y="9723239"/>
            <a:ext cx="5016206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5336589" y="9723239"/>
            <a:ext cx="2265611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58345" y="609600"/>
            <a:ext cx="8438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9492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749326" y="609600"/>
            <a:ext cx="322375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FORMULATION &amp; VARIABLES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6125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350" spc="-78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binary GLM with a </a:t>
            </a:r>
            <a:pPr algn="l" indent="0" marL="0">
              <a:lnSpc>
                <a:spcPct val="104000"/>
              </a:lnSpc>
              <a:buNone/>
            </a:pPr>
            <a:r>
              <a:rPr lang="en-US" sz="4350" i="1" spc="-78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logit </a:t>
            </a:r>
            <a:pPr algn="l" indent="0" marL="0">
              <a:lnSpc>
                <a:spcPct val="104000"/>
              </a:lnSpc>
              <a:buNone/>
            </a:pPr>
            <a:r>
              <a:rPr lang="en-US" sz="4350" spc="-78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link.</a:t>
            </a:r>
            <a:endParaRPr lang="en-US" sz="4350" dirty="0"/>
          </a:p>
        </p:txBody>
      </p:sp>
      <p:sp>
        <p:nvSpPr>
          <p:cNvPr id="6" name="Text 4"/>
          <p:cNvSpPr/>
          <p:nvPr/>
        </p:nvSpPr>
        <p:spPr>
          <a:xfrm>
            <a:off x="762000" y="1879402"/>
            <a:ext cx="9810750" cy="5464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8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flow gets a probability of being an attack; the log-odds of that probability are modeled as a linear combination of the eleven retained predictors.</a:t>
            </a:r>
            <a:endParaRPr lang="en-US" sz="1380" dirty="0"/>
          </a:p>
        </p:txBody>
      </p:sp>
      <p:sp>
        <p:nvSpPr>
          <p:cNvPr id="7" name="Shape 5"/>
          <p:cNvSpPr/>
          <p:nvPr/>
        </p:nvSpPr>
        <p:spPr>
          <a:xfrm>
            <a:off x="762000" y="2654498"/>
            <a:ext cx="6568380" cy="2661940"/>
          </a:xfrm>
          <a:prstGeom prst="roundRect">
            <a:avLst>
              <a:gd name="adj" fmla="val 1431"/>
            </a:avLst>
          </a:prstGeom>
          <a:solidFill>
            <a:srgbClr val="FBF7EC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5306913"/>
            <a:ext cx="656838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9" name="Shape 7"/>
          <p:cNvSpPr/>
          <p:nvPr/>
        </p:nvSpPr>
        <p:spPr>
          <a:xfrm>
            <a:off x="762000" y="2654498"/>
            <a:ext cx="656838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0" name="Shape 8"/>
          <p:cNvSpPr/>
          <p:nvPr/>
        </p:nvSpPr>
        <p:spPr>
          <a:xfrm>
            <a:off x="762000" y="2654498"/>
            <a:ext cx="28575" cy="2661940"/>
          </a:xfrm>
          <a:prstGeom prst="rect">
            <a:avLst/>
          </a:prstGeom>
          <a:solidFill>
            <a:srgbClr val="B33A2E"/>
          </a:solidFill>
          <a:ln/>
        </p:spPr>
      </p:sp>
      <p:sp>
        <p:nvSpPr>
          <p:cNvPr id="11" name="Shape 9"/>
          <p:cNvSpPr/>
          <p:nvPr/>
        </p:nvSpPr>
        <p:spPr>
          <a:xfrm>
            <a:off x="7320855" y="2654498"/>
            <a:ext cx="9525" cy="2661940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475" y="2968823"/>
            <a:ext cx="6019815" cy="2369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80" b="1" spc="216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 FORMULATION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1133475" y="3415308"/>
            <a:ext cx="6019815" cy="4067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65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</a:t>
            </a:r>
            <a:pPr algn="l" indent="0" marL="0">
              <a:lnSpc>
                <a:spcPct val="160000"/>
              </a:lnSpc>
              <a:buNone/>
            </a:pPr>
            <a:r>
              <a:rPr lang="en-US" sz="1375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algn="l" indent="0" marL="0">
              <a:lnSpc>
                <a:spcPct val="160000"/>
              </a:lnSpc>
              <a:buNone/>
            </a:pPr>
            <a:r>
              <a:rPr lang="en-US" sz="165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∼ Bin(1, p</a:t>
            </a:r>
            <a:pPr algn="l" indent="0" marL="0">
              <a:lnSpc>
                <a:spcPct val="160000"/>
              </a:lnSpc>
              <a:buNone/>
            </a:pPr>
            <a:r>
              <a:rPr lang="en-US" sz="1375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pPr algn="l" indent="0" marL="0">
              <a:lnSpc>
                <a:spcPct val="160000"/>
              </a:lnSpc>
              <a:buNone/>
            </a:pPr>
            <a:r>
              <a:rPr lang="en-US" sz="165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133475" y="3917305"/>
            <a:ext cx="6019815" cy="4067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65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pPr algn="l" indent="0" marL="0">
              <a:lnSpc>
                <a:spcPct val="160000"/>
              </a:lnSpc>
              <a:buNone/>
            </a:pPr>
            <a:r>
              <a:rPr lang="en-US" sz="1375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algn="l" indent="0" marL="0">
              <a:lnSpc>
                <a:spcPct val="160000"/>
              </a:lnSpc>
              <a:buNone/>
            </a:pPr>
            <a:r>
              <a:rPr lang="en-US" sz="165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P(Y</a:t>
            </a:r>
            <a:pPr algn="l" indent="0" marL="0">
              <a:lnSpc>
                <a:spcPct val="160000"/>
              </a:lnSpc>
              <a:buNone/>
            </a:pPr>
            <a:r>
              <a:rPr lang="en-US" sz="1375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algn="l" indent="0" marL="0">
              <a:lnSpc>
                <a:spcPct val="160000"/>
              </a:lnSpc>
              <a:buNone/>
            </a:pPr>
            <a:r>
              <a:rPr lang="en-US" sz="165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1 | X</a:t>
            </a:r>
            <a:pPr algn="l" indent="0" marL="0">
              <a:lnSpc>
                <a:spcPct val="160000"/>
              </a:lnSpc>
              <a:buNone/>
            </a:pPr>
            <a:r>
              <a:rPr lang="en-US" sz="1375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1i</a:t>
            </a:r>
            <a:pPr algn="l" indent="0" marL="0">
              <a:lnSpc>
                <a:spcPct val="160000"/>
              </a:lnSpc>
              <a:buNone/>
            </a:pPr>
            <a:r>
              <a:rPr lang="en-US" sz="165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…, X</a:t>
            </a:r>
            <a:pPr algn="l" indent="0" marL="0">
              <a:lnSpc>
                <a:spcPct val="160000"/>
              </a:lnSpc>
              <a:buNone/>
            </a:pPr>
            <a:r>
              <a:rPr lang="en-US" sz="1375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</a:t>
            </a:r>
            <a:pPr algn="l" indent="0" marL="0">
              <a:lnSpc>
                <a:spcPct val="160000"/>
              </a:lnSpc>
              <a:buNone/>
            </a:pPr>
            <a:r>
              <a:rPr lang="en-US" sz="165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133475" y="4571702"/>
            <a:ext cx="368647" cy="3732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65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625947" y="4734520"/>
            <a:ext cx="332184" cy="9525"/>
          </a:xfrm>
          <a:prstGeom prst="rect">
            <a:avLst/>
          </a:prstGeom>
          <a:solidFill>
            <a:srgbClr val="1A1D26"/>
          </a:solidFill>
          <a:ln/>
        </p:spPr>
      </p:sp>
      <p:sp>
        <p:nvSpPr>
          <p:cNvPr id="17" name="Text 15"/>
          <p:cNvSpPr/>
          <p:nvPr/>
        </p:nvSpPr>
        <p:spPr>
          <a:xfrm>
            <a:off x="1721197" y="4476452"/>
            <a:ext cx="217884" cy="2675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pPr algn="l" indent="0" marL="0">
              <a:lnSpc>
                <a:spcPct val="110000"/>
              </a:lnSpc>
              <a:buNone/>
            </a:pPr>
            <a:r>
              <a:rPr lang="en-US" sz="1125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587847" y="4772620"/>
            <a:ext cx="484584" cy="2675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1 − p</a:t>
            </a:r>
            <a:pPr algn="l" indent="0" marL="0">
              <a:lnSpc>
                <a:spcPct val="110000"/>
              </a:lnSpc>
              <a:buNone/>
            </a:pPr>
            <a:r>
              <a:rPr lang="en-US" sz="1125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205782" y="4554885"/>
            <a:ext cx="2379464" cy="4067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65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β</a:t>
            </a:r>
            <a:pPr algn="l" indent="0" marL="0">
              <a:lnSpc>
                <a:spcPct val="160000"/>
              </a:lnSpc>
              <a:buNone/>
            </a:pPr>
            <a:r>
              <a:rPr lang="en-US" sz="1375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</a:t>
            </a:r>
            <a:pPr algn="l" indent="0" marL="0">
              <a:lnSpc>
                <a:spcPct val="160000"/>
              </a:lnSpc>
              <a:buNone/>
            </a:pPr>
            <a:r>
              <a:rPr lang="en-US" sz="165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β</a:t>
            </a:r>
            <a:pPr algn="l" indent="0" marL="0">
              <a:lnSpc>
                <a:spcPct val="160000"/>
              </a:lnSpc>
              <a:buNone/>
            </a:pPr>
            <a:r>
              <a:rPr lang="en-US" sz="1375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algn="l" indent="0" marL="0">
              <a:lnSpc>
                <a:spcPct val="160000"/>
              </a:lnSpc>
              <a:buNone/>
            </a:pPr>
            <a:r>
              <a:rPr lang="en-US" sz="165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pPr algn="l" indent="0" marL="0">
              <a:lnSpc>
                <a:spcPct val="160000"/>
              </a:lnSpc>
              <a:buNone/>
            </a:pPr>
            <a:r>
              <a:rPr lang="en-US" sz="1375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1i </a:t>
            </a:r>
            <a:pPr algn="l" indent="0" marL="0">
              <a:lnSpc>
                <a:spcPct val="160000"/>
              </a:lnSpc>
              <a:buNone/>
            </a:pPr>
            <a:r>
              <a:rPr lang="en-US" sz="165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⋯ + β</a:t>
            </a:r>
            <a:pPr algn="l" indent="0" marL="0">
              <a:lnSpc>
                <a:spcPct val="160000"/>
              </a:lnSpc>
              <a:buNone/>
            </a:pPr>
            <a:r>
              <a:rPr lang="en-US" sz="1375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pPr algn="l" indent="0" marL="0">
              <a:lnSpc>
                <a:spcPct val="160000"/>
              </a:lnSpc>
              <a:buNone/>
            </a:pPr>
            <a:r>
              <a:rPr lang="en-US" sz="165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pPr algn="l" indent="0" marL="0">
              <a:lnSpc>
                <a:spcPct val="160000"/>
              </a:lnSpc>
              <a:buNone/>
            </a:pPr>
            <a:r>
              <a:rPr lang="en-US" sz="1375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762000" y="5506938"/>
            <a:ext cx="6765432" cy="4979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08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right side is the linear predictor (η); the left side is the log-odds of an attack. Exponentiating coefficients gives the multiplicative odds ratio per unit increase in a predictor.</a:t>
            </a:r>
            <a:endParaRPr lang="en-US" sz="1208" dirty="0"/>
          </a:p>
        </p:txBody>
      </p:sp>
      <p:sp>
        <p:nvSpPr>
          <p:cNvPr id="21" name="Text 19"/>
          <p:cNvSpPr/>
          <p:nvPr/>
        </p:nvSpPr>
        <p:spPr>
          <a:xfrm>
            <a:off x="7673280" y="2654498"/>
            <a:ext cx="10148148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176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 GLOSSARY · PHASE 2 · 11 VARIABLES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7673280" y="3019723"/>
            <a:ext cx="1500039" cy="200025"/>
          </a:xfrm>
          <a:prstGeom prst="roundRect">
            <a:avLst>
              <a:gd name="adj" fmla="val 14286"/>
            </a:avLst>
          </a:prstGeom>
          <a:solidFill>
            <a:srgbClr val="EAE0C7"/>
          </a:solidFill>
          <a:ln/>
        </p:spPr>
      </p:sp>
      <p:sp>
        <p:nvSpPr>
          <p:cNvPr id="23" name="Text 21"/>
          <p:cNvSpPr/>
          <p:nvPr/>
        </p:nvSpPr>
        <p:spPr>
          <a:xfrm>
            <a:off x="7730430" y="3038773"/>
            <a:ext cx="146193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4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Fwd.Packet.Length.Min</a:t>
            </a:r>
            <a:endParaRPr lang="en-US" sz="945" dirty="0"/>
          </a:p>
        </p:txBody>
      </p:sp>
      <p:sp>
        <p:nvSpPr>
          <p:cNvPr id="24" name="Text 22"/>
          <p:cNvSpPr/>
          <p:nvPr/>
        </p:nvSpPr>
        <p:spPr>
          <a:xfrm>
            <a:off x="9549705" y="3014960"/>
            <a:ext cx="3003929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Smallest forward packet.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12732841" y="2948285"/>
            <a:ext cx="479301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26" name="Shape 24"/>
          <p:cNvSpPr/>
          <p:nvPr/>
        </p:nvSpPr>
        <p:spPr>
          <a:xfrm>
            <a:off x="12732841" y="3024485"/>
            <a:ext cx="1170087" cy="200025"/>
          </a:xfrm>
          <a:prstGeom prst="roundRect">
            <a:avLst>
              <a:gd name="adj" fmla="val 14286"/>
            </a:avLst>
          </a:prstGeom>
          <a:solidFill>
            <a:srgbClr val="EAE0C7"/>
          </a:solidFill>
          <a:ln/>
        </p:spPr>
      </p:sp>
      <p:sp>
        <p:nvSpPr>
          <p:cNvPr id="27" name="Text 25"/>
          <p:cNvSpPr/>
          <p:nvPr/>
        </p:nvSpPr>
        <p:spPr>
          <a:xfrm>
            <a:off x="12789991" y="3043535"/>
            <a:ext cx="113198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4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Destination.Port</a:t>
            </a:r>
            <a:endParaRPr lang="en-US" sz="945" dirty="0"/>
          </a:p>
        </p:txBody>
      </p:sp>
      <p:sp>
        <p:nvSpPr>
          <p:cNvPr id="28" name="Text 26"/>
          <p:cNvSpPr/>
          <p:nvPr/>
        </p:nvSpPr>
        <p:spPr>
          <a:xfrm>
            <a:off x="14418766" y="3024485"/>
            <a:ext cx="320029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traffic is going.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7673280" y="3291185"/>
            <a:ext cx="4792861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30" name="Shape 28"/>
          <p:cNvSpPr/>
          <p:nvPr/>
        </p:nvSpPr>
        <p:spPr>
          <a:xfrm>
            <a:off x="7673280" y="3367385"/>
            <a:ext cx="1434108" cy="200025"/>
          </a:xfrm>
          <a:prstGeom prst="roundRect">
            <a:avLst>
              <a:gd name="adj" fmla="val 14286"/>
            </a:avLst>
          </a:prstGeom>
          <a:solidFill>
            <a:srgbClr val="EAE0C7"/>
          </a:solidFill>
          <a:ln/>
        </p:spPr>
      </p:sp>
      <p:sp>
        <p:nvSpPr>
          <p:cNvPr id="31" name="Text 29"/>
          <p:cNvSpPr/>
          <p:nvPr/>
        </p:nvSpPr>
        <p:spPr>
          <a:xfrm>
            <a:off x="7730430" y="3386435"/>
            <a:ext cx="1396008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4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Avg.Fwd.Segment.Size</a:t>
            </a:r>
            <a:endParaRPr lang="en-US" sz="945" dirty="0"/>
          </a:p>
        </p:txBody>
      </p:sp>
      <p:sp>
        <p:nvSpPr>
          <p:cNvPr id="32" name="Text 30"/>
          <p:cNvSpPr/>
          <p:nvPr/>
        </p:nvSpPr>
        <p:spPr>
          <a:xfrm>
            <a:off x="9549705" y="3367385"/>
            <a:ext cx="300392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 forward segment size.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12732841" y="3291185"/>
            <a:ext cx="479301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34" name="Shape 32"/>
          <p:cNvSpPr/>
          <p:nvPr/>
        </p:nvSpPr>
        <p:spPr>
          <a:xfrm>
            <a:off x="12732841" y="3367385"/>
            <a:ext cx="642193" cy="200025"/>
          </a:xfrm>
          <a:prstGeom prst="roundRect">
            <a:avLst>
              <a:gd name="adj" fmla="val 14286"/>
            </a:avLst>
          </a:prstGeom>
          <a:solidFill>
            <a:srgbClr val="EAE0C7"/>
          </a:solidFill>
          <a:ln/>
        </p:spPr>
      </p:sp>
      <p:sp>
        <p:nvSpPr>
          <p:cNvPr id="35" name="Text 33"/>
          <p:cNvSpPr/>
          <p:nvPr/>
        </p:nvSpPr>
        <p:spPr>
          <a:xfrm>
            <a:off x="12789991" y="3386435"/>
            <a:ext cx="60409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4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Idle.Min</a:t>
            </a:r>
            <a:endParaRPr lang="en-US" sz="945" dirty="0"/>
          </a:p>
        </p:txBody>
      </p:sp>
      <p:sp>
        <p:nvSpPr>
          <p:cNvPr id="36" name="Text 34"/>
          <p:cNvSpPr/>
          <p:nvPr/>
        </p:nvSpPr>
        <p:spPr>
          <a:xfrm>
            <a:off x="14418766" y="3367385"/>
            <a:ext cx="320029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Shortest idle period.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7673280" y="3634085"/>
            <a:ext cx="4792861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38" name="Shape 36"/>
          <p:cNvSpPr/>
          <p:nvPr/>
        </p:nvSpPr>
        <p:spPr>
          <a:xfrm>
            <a:off x="7673280" y="3710285"/>
            <a:ext cx="1038225" cy="200025"/>
          </a:xfrm>
          <a:prstGeom prst="roundRect">
            <a:avLst>
              <a:gd name="adj" fmla="val 14286"/>
            </a:avLst>
          </a:prstGeom>
          <a:solidFill>
            <a:srgbClr val="EAE0C7"/>
          </a:solidFill>
          <a:ln/>
        </p:spPr>
      </p:sp>
      <p:sp>
        <p:nvSpPr>
          <p:cNvPr id="39" name="Text 37"/>
          <p:cNvSpPr/>
          <p:nvPr/>
        </p:nvSpPr>
        <p:spPr>
          <a:xfrm>
            <a:off x="7730430" y="3729335"/>
            <a:ext cx="1000125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4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URG.Flag.Count</a:t>
            </a:r>
            <a:endParaRPr lang="en-US" sz="945" dirty="0"/>
          </a:p>
        </p:txBody>
      </p:sp>
      <p:sp>
        <p:nvSpPr>
          <p:cNvPr id="40" name="Text 38"/>
          <p:cNvSpPr/>
          <p:nvPr/>
        </p:nvSpPr>
        <p:spPr>
          <a:xfrm>
            <a:off x="9549705" y="3710285"/>
            <a:ext cx="300392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Packets with TCP URG flag set.</a:t>
            </a:r>
            <a:endParaRPr lang="en-US" sz="1125" dirty="0"/>
          </a:p>
        </p:txBody>
      </p:sp>
      <p:sp>
        <p:nvSpPr>
          <p:cNvPr id="41" name="Shape 39"/>
          <p:cNvSpPr/>
          <p:nvPr/>
        </p:nvSpPr>
        <p:spPr>
          <a:xfrm>
            <a:off x="12732841" y="3634085"/>
            <a:ext cx="479301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42" name="Shape 40"/>
          <p:cNvSpPr/>
          <p:nvPr/>
        </p:nvSpPr>
        <p:spPr>
          <a:xfrm>
            <a:off x="12732841" y="3710285"/>
            <a:ext cx="1434108" cy="200025"/>
          </a:xfrm>
          <a:prstGeom prst="roundRect">
            <a:avLst>
              <a:gd name="adj" fmla="val 14286"/>
            </a:avLst>
          </a:prstGeom>
          <a:solidFill>
            <a:srgbClr val="EAE0C7"/>
          </a:solidFill>
          <a:ln/>
        </p:spPr>
      </p:sp>
      <p:sp>
        <p:nvSpPr>
          <p:cNvPr id="43" name="Text 41"/>
          <p:cNvSpPr/>
          <p:nvPr/>
        </p:nvSpPr>
        <p:spPr>
          <a:xfrm>
            <a:off x="12789991" y="3729335"/>
            <a:ext cx="1396008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4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Avg.Bwd.Segment.Size</a:t>
            </a:r>
            <a:endParaRPr lang="en-US" sz="945" dirty="0"/>
          </a:p>
        </p:txBody>
      </p:sp>
      <p:sp>
        <p:nvSpPr>
          <p:cNvPr id="44" name="Text 42"/>
          <p:cNvSpPr/>
          <p:nvPr/>
        </p:nvSpPr>
        <p:spPr>
          <a:xfrm>
            <a:off x="14418766" y="3710285"/>
            <a:ext cx="320029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 backward segment size.</a:t>
            </a:r>
            <a:endParaRPr lang="en-US" sz="1125" dirty="0"/>
          </a:p>
        </p:txBody>
      </p:sp>
      <p:sp>
        <p:nvSpPr>
          <p:cNvPr id="45" name="Shape 43"/>
          <p:cNvSpPr/>
          <p:nvPr/>
        </p:nvSpPr>
        <p:spPr>
          <a:xfrm>
            <a:off x="7673280" y="3976985"/>
            <a:ext cx="4792861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46" name="Shape 44"/>
          <p:cNvSpPr/>
          <p:nvPr/>
        </p:nvSpPr>
        <p:spPr>
          <a:xfrm>
            <a:off x="7673280" y="4053185"/>
            <a:ext cx="774204" cy="200025"/>
          </a:xfrm>
          <a:prstGeom prst="roundRect">
            <a:avLst>
              <a:gd name="adj" fmla="val 14286"/>
            </a:avLst>
          </a:prstGeom>
          <a:solidFill>
            <a:srgbClr val="EAE0C7"/>
          </a:solidFill>
          <a:ln/>
        </p:spPr>
      </p:sp>
      <p:sp>
        <p:nvSpPr>
          <p:cNvPr id="47" name="Text 45"/>
          <p:cNvSpPr/>
          <p:nvPr/>
        </p:nvSpPr>
        <p:spPr>
          <a:xfrm>
            <a:off x="7730430" y="4072235"/>
            <a:ext cx="73610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4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Active.Std</a:t>
            </a:r>
            <a:endParaRPr lang="en-US" sz="945" dirty="0"/>
          </a:p>
        </p:txBody>
      </p:sp>
      <p:sp>
        <p:nvSpPr>
          <p:cNvPr id="48" name="Text 46"/>
          <p:cNvSpPr/>
          <p:nvPr/>
        </p:nvSpPr>
        <p:spPr>
          <a:xfrm>
            <a:off x="9549705" y="4053185"/>
            <a:ext cx="300392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Std-dev of active periods.</a:t>
            </a:r>
            <a:endParaRPr lang="en-US" sz="1125" dirty="0"/>
          </a:p>
        </p:txBody>
      </p:sp>
      <p:sp>
        <p:nvSpPr>
          <p:cNvPr id="49" name="Shape 47"/>
          <p:cNvSpPr/>
          <p:nvPr/>
        </p:nvSpPr>
        <p:spPr>
          <a:xfrm>
            <a:off x="12732841" y="3976985"/>
            <a:ext cx="479301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50" name="Shape 48"/>
          <p:cNvSpPr/>
          <p:nvPr/>
        </p:nvSpPr>
        <p:spPr>
          <a:xfrm>
            <a:off x="12732841" y="4053185"/>
            <a:ext cx="972145" cy="200025"/>
          </a:xfrm>
          <a:prstGeom prst="roundRect">
            <a:avLst>
              <a:gd name="adj" fmla="val 14286"/>
            </a:avLst>
          </a:prstGeom>
          <a:solidFill>
            <a:srgbClr val="EAE0C7"/>
          </a:solidFill>
          <a:ln/>
        </p:spPr>
      </p:sp>
      <p:sp>
        <p:nvSpPr>
          <p:cNvPr id="51" name="Text 49"/>
          <p:cNvSpPr/>
          <p:nvPr/>
        </p:nvSpPr>
        <p:spPr>
          <a:xfrm>
            <a:off x="12789991" y="4072235"/>
            <a:ext cx="934045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4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Bwd.IAT.Total</a:t>
            </a:r>
            <a:endParaRPr lang="en-US" sz="945" dirty="0"/>
          </a:p>
        </p:txBody>
      </p:sp>
      <p:sp>
        <p:nvSpPr>
          <p:cNvPr id="52" name="Text 50"/>
          <p:cNvSpPr/>
          <p:nvPr/>
        </p:nvSpPr>
        <p:spPr>
          <a:xfrm>
            <a:off x="14418766" y="4053185"/>
            <a:ext cx="320029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 inter-arrival time of bwd packets.</a:t>
            </a:r>
            <a:endParaRPr lang="en-US" sz="1125" dirty="0"/>
          </a:p>
        </p:txBody>
      </p:sp>
      <p:sp>
        <p:nvSpPr>
          <p:cNvPr id="53" name="Shape 51"/>
          <p:cNvSpPr/>
          <p:nvPr/>
        </p:nvSpPr>
        <p:spPr>
          <a:xfrm>
            <a:off x="7673280" y="4319885"/>
            <a:ext cx="4792861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54" name="Shape 52"/>
          <p:cNvSpPr/>
          <p:nvPr/>
        </p:nvSpPr>
        <p:spPr>
          <a:xfrm>
            <a:off x="7673280" y="4396085"/>
            <a:ext cx="972145" cy="200025"/>
          </a:xfrm>
          <a:prstGeom prst="roundRect">
            <a:avLst>
              <a:gd name="adj" fmla="val 14286"/>
            </a:avLst>
          </a:prstGeom>
          <a:solidFill>
            <a:srgbClr val="EAE0C7"/>
          </a:solidFill>
          <a:ln/>
        </p:spPr>
      </p:sp>
      <p:sp>
        <p:nvSpPr>
          <p:cNvPr id="55" name="Text 53"/>
          <p:cNvSpPr/>
          <p:nvPr/>
        </p:nvSpPr>
        <p:spPr>
          <a:xfrm>
            <a:off x="7730430" y="4415135"/>
            <a:ext cx="934045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4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Down.Up.Ratio</a:t>
            </a:r>
            <a:endParaRPr lang="en-US" sz="945" dirty="0"/>
          </a:p>
        </p:txBody>
      </p:sp>
      <p:sp>
        <p:nvSpPr>
          <p:cNvPr id="56" name="Text 54"/>
          <p:cNvSpPr/>
          <p:nvPr/>
        </p:nvSpPr>
        <p:spPr>
          <a:xfrm>
            <a:off x="9549705" y="4396085"/>
            <a:ext cx="300392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Download / upload ratio.</a:t>
            </a:r>
            <a:endParaRPr lang="en-US" sz="1125" dirty="0"/>
          </a:p>
        </p:txBody>
      </p:sp>
      <p:sp>
        <p:nvSpPr>
          <p:cNvPr id="57" name="Shape 55"/>
          <p:cNvSpPr/>
          <p:nvPr/>
        </p:nvSpPr>
        <p:spPr>
          <a:xfrm>
            <a:off x="12732841" y="4319885"/>
            <a:ext cx="479301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58" name="Shape 56"/>
          <p:cNvSpPr/>
          <p:nvPr/>
        </p:nvSpPr>
        <p:spPr>
          <a:xfrm>
            <a:off x="12732841" y="4396085"/>
            <a:ext cx="1632049" cy="200025"/>
          </a:xfrm>
          <a:prstGeom prst="roundRect">
            <a:avLst>
              <a:gd name="adj" fmla="val 14286"/>
            </a:avLst>
          </a:prstGeom>
          <a:solidFill>
            <a:srgbClr val="EAE0C7"/>
          </a:solidFill>
          <a:ln/>
        </p:spPr>
      </p:sp>
      <p:sp>
        <p:nvSpPr>
          <p:cNvPr id="59" name="Text 57"/>
          <p:cNvSpPr/>
          <p:nvPr/>
        </p:nvSpPr>
        <p:spPr>
          <a:xfrm>
            <a:off x="12789991" y="4415135"/>
            <a:ext cx="159394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4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Init_Win_bytes_backward</a:t>
            </a:r>
            <a:endParaRPr lang="en-US" sz="945" dirty="0"/>
          </a:p>
        </p:txBody>
      </p:sp>
      <p:sp>
        <p:nvSpPr>
          <p:cNvPr id="60" name="Text 58"/>
          <p:cNvSpPr/>
          <p:nvPr/>
        </p:nvSpPr>
        <p:spPr>
          <a:xfrm>
            <a:off x="14418766" y="4396085"/>
            <a:ext cx="320029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Initial TCP receive window from server.</a:t>
            </a:r>
            <a:endParaRPr lang="en-US" sz="1125" dirty="0"/>
          </a:p>
        </p:txBody>
      </p:sp>
      <p:sp>
        <p:nvSpPr>
          <p:cNvPr id="61" name="Shape 59"/>
          <p:cNvSpPr/>
          <p:nvPr/>
        </p:nvSpPr>
        <p:spPr>
          <a:xfrm>
            <a:off x="7673280" y="4662785"/>
            <a:ext cx="4792861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62" name="Shape 60"/>
          <p:cNvSpPr/>
          <p:nvPr/>
        </p:nvSpPr>
        <p:spPr>
          <a:xfrm>
            <a:off x="7673280" y="4738985"/>
            <a:ext cx="1038225" cy="200025"/>
          </a:xfrm>
          <a:prstGeom prst="roundRect">
            <a:avLst>
              <a:gd name="adj" fmla="val 14286"/>
            </a:avLst>
          </a:prstGeom>
          <a:solidFill>
            <a:srgbClr val="EAE0C7"/>
          </a:solidFill>
          <a:ln/>
        </p:spPr>
      </p:sp>
      <p:sp>
        <p:nvSpPr>
          <p:cNvPr id="63" name="Text 61"/>
          <p:cNvSpPr/>
          <p:nvPr/>
        </p:nvSpPr>
        <p:spPr>
          <a:xfrm>
            <a:off x="7730430" y="4758035"/>
            <a:ext cx="1000125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45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PSH.Flag.Count</a:t>
            </a:r>
            <a:endParaRPr lang="en-US" sz="945" dirty="0"/>
          </a:p>
        </p:txBody>
      </p:sp>
      <p:sp>
        <p:nvSpPr>
          <p:cNvPr id="64" name="Text 62"/>
          <p:cNvSpPr/>
          <p:nvPr/>
        </p:nvSpPr>
        <p:spPr>
          <a:xfrm>
            <a:off x="9549705" y="4738985"/>
            <a:ext cx="300392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Packets with TCP PSH flag set.</a:t>
            </a:r>
            <a:endParaRPr lang="en-US" sz="1125" dirty="0"/>
          </a:p>
        </p:txBody>
      </p:sp>
      <p:sp>
        <p:nvSpPr>
          <p:cNvPr id="65" name="Shape 63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66" name="Text 64"/>
          <p:cNvSpPr/>
          <p:nvPr/>
        </p:nvSpPr>
        <p:spPr>
          <a:xfrm>
            <a:off x="762000" y="9723239"/>
            <a:ext cx="5016206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5336589" y="9723239"/>
            <a:ext cx="2265611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58345" y="609600"/>
            <a:ext cx="8438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9492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749326" y="609600"/>
            <a:ext cx="179144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PERFORMANCE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493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450" spc="-62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 catches attacks at </a:t>
            </a:r>
            <a:pPr algn="l" indent="0" marL="0">
              <a:lnSpc>
                <a:spcPct val="104000"/>
              </a:lnSpc>
              <a:buNone/>
            </a:pPr>
            <a:r>
              <a:rPr lang="en-US" sz="3450" i="1" spc="-62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near-perfect </a:t>
            </a:r>
            <a:pPr algn="l" indent="0" marL="0">
              <a:lnSpc>
                <a:spcPct val="104000"/>
              </a:lnSpc>
              <a:buNone/>
            </a:pPr>
            <a:r>
              <a:rPr lang="en-US" sz="3450" spc="-62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rates.</a:t>
            </a:r>
            <a:endParaRPr lang="en-US" sz="3450" dirty="0"/>
          </a:p>
        </p:txBody>
      </p:sp>
      <p:sp>
        <p:nvSpPr>
          <p:cNvPr id="6" name="Shape 4"/>
          <p:cNvSpPr/>
          <p:nvPr/>
        </p:nvSpPr>
        <p:spPr>
          <a:xfrm>
            <a:off x="762000" y="1703338"/>
            <a:ext cx="2727275" cy="345728"/>
          </a:xfrm>
          <a:prstGeom prst="roundRect">
            <a:avLst>
              <a:gd name="adj" fmla="val 50000"/>
            </a:avLst>
          </a:prstGeom>
          <a:solidFill>
            <a:srgbClr val="FBF7EC"/>
          </a:solidFill>
          <a:ln w="9525">
            <a:solidFill>
              <a:srgbClr val="B5D7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4875" y="1779538"/>
            <a:ext cx="2523344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spc="147" kern="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· 600 ROWS (30%)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584525" y="1703338"/>
            <a:ext cx="2465487" cy="345728"/>
          </a:xfrm>
          <a:prstGeom prst="roundRect">
            <a:avLst>
              <a:gd name="adj" fmla="val 50000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27400" y="1779538"/>
            <a:ext cx="2255937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spc="147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· 1,397 ROWS (70%)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45262" y="1703338"/>
            <a:ext cx="1740694" cy="345728"/>
          </a:xfrm>
          <a:prstGeom prst="roundRect">
            <a:avLst>
              <a:gd name="adj" fmla="val 50000"/>
            </a:avLst>
          </a:prstGeom>
          <a:solidFill>
            <a:srgbClr val="FBF7EC"/>
          </a:solidFill>
          <a:ln w="9525">
            <a:solidFill>
              <a:srgbClr val="D4B5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88137" y="1779538"/>
            <a:ext cx="1531144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spc="147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· 1,997 ROWS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62000" y="2125266"/>
            <a:ext cx="17266920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Likelihood-Ratio Test · χ² = 878.25 · p = 2.94e-181 — overall model is overwhelmingly significant.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762000" y="2503884"/>
            <a:ext cx="6614071" cy="1525191"/>
          </a:xfrm>
          <a:prstGeom prst="roundRect">
            <a:avLst>
              <a:gd name="adj" fmla="val 2498"/>
            </a:avLst>
          </a:prstGeom>
          <a:solidFill>
            <a:srgbClr val="FBF7EC"/>
          </a:solidFill>
          <a:ln/>
        </p:spPr>
      </p:sp>
      <p:sp>
        <p:nvSpPr>
          <p:cNvPr id="14" name="Shape 12"/>
          <p:cNvSpPr/>
          <p:nvPr/>
        </p:nvSpPr>
        <p:spPr>
          <a:xfrm>
            <a:off x="762000" y="4019550"/>
            <a:ext cx="6614071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5" name="Shape 13"/>
          <p:cNvSpPr/>
          <p:nvPr/>
        </p:nvSpPr>
        <p:spPr>
          <a:xfrm>
            <a:off x="762000" y="2503884"/>
            <a:ext cx="6614071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6" name="Shape 14"/>
          <p:cNvSpPr/>
          <p:nvPr/>
        </p:nvSpPr>
        <p:spPr>
          <a:xfrm>
            <a:off x="762000" y="2503884"/>
            <a:ext cx="28575" cy="1525191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7" name="Shape 15"/>
          <p:cNvSpPr/>
          <p:nvPr/>
        </p:nvSpPr>
        <p:spPr>
          <a:xfrm>
            <a:off x="7366546" y="2503884"/>
            <a:ext cx="9525" cy="1525191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8" name="Text 16"/>
          <p:cNvSpPr/>
          <p:nvPr/>
        </p:nvSpPr>
        <p:spPr>
          <a:xfrm>
            <a:off x="1019175" y="2722959"/>
            <a:ext cx="6302334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6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825" dirty="0"/>
          </a:p>
        </p:txBody>
      </p:sp>
      <p:sp>
        <p:nvSpPr>
          <p:cNvPr id="19" name="Text 17"/>
          <p:cNvSpPr/>
          <p:nvPr/>
        </p:nvSpPr>
        <p:spPr>
          <a:xfrm>
            <a:off x="1019175" y="2950964"/>
            <a:ext cx="6302334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spc="-96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90.3%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1019175" y="3636764"/>
            <a:ext cx="6302334" cy="211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Youden's-optimal cutoff — overall correct call rate on the held-out set.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762000" y="4162425"/>
            <a:ext cx="6614071" cy="1525191"/>
          </a:xfrm>
          <a:prstGeom prst="roundRect">
            <a:avLst>
              <a:gd name="adj" fmla="val 2498"/>
            </a:avLst>
          </a:prstGeom>
          <a:solidFill>
            <a:srgbClr val="FBF7EC"/>
          </a:solidFill>
          <a:ln/>
        </p:spPr>
      </p:sp>
      <p:sp>
        <p:nvSpPr>
          <p:cNvPr id="22" name="Shape 20"/>
          <p:cNvSpPr/>
          <p:nvPr/>
        </p:nvSpPr>
        <p:spPr>
          <a:xfrm>
            <a:off x="762000" y="5678091"/>
            <a:ext cx="6614071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3" name="Shape 21"/>
          <p:cNvSpPr/>
          <p:nvPr/>
        </p:nvSpPr>
        <p:spPr>
          <a:xfrm>
            <a:off x="762000" y="4162425"/>
            <a:ext cx="6614071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4" name="Shape 22"/>
          <p:cNvSpPr/>
          <p:nvPr/>
        </p:nvSpPr>
        <p:spPr>
          <a:xfrm>
            <a:off x="762000" y="4162425"/>
            <a:ext cx="28575" cy="1525191"/>
          </a:xfrm>
          <a:prstGeom prst="rect">
            <a:avLst/>
          </a:prstGeom>
          <a:solidFill>
            <a:srgbClr val="B33A2E"/>
          </a:solidFill>
          <a:ln/>
        </p:spPr>
      </p:sp>
      <p:sp>
        <p:nvSpPr>
          <p:cNvPr id="25" name="Shape 23"/>
          <p:cNvSpPr/>
          <p:nvPr/>
        </p:nvSpPr>
        <p:spPr>
          <a:xfrm>
            <a:off x="7366546" y="4162425"/>
            <a:ext cx="9525" cy="1525191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6" name="Text 24"/>
          <p:cNvSpPr/>
          <p:nvPr/>
        </p:nvSpPr>
        <p:spPr>
          <a:xfrm>
            <a:off x="1019175" y="4381500"/>
            <a:ext cx="6302334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6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</a:t>
            </a:r>
            <a:endParaRPr lang="en-US" sz="825" dirty="0"/>
          </a:p>
        </p:txBody>
      </p:sp>
      <p:sp>
        <p:nvSpPr>
          <p:cNvPr id="27" name="Text 25"/>
          <p:cNvSpPr/>
          <p:nvPr/>
        </p:nvSpPr>
        <p:spPr>
          <a:xfrm>
            <a:off x="1019175" y="4609505"/>
            <a:ext cx="6302334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spc="-96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95.3%</a:t>
            </a:r>
            <a:endParaRPr lang="en-US" sz="4800" dirty="0"/>
          </a:p>
        </p:txBody>
      </p:sp>
      <p:sp>
        <p:nvSpPr>
          <p:cNvPr id="28" name="Text 26"/>
          <p:cNvSpPr/>
          <p:nvPr/>
        </p:nvSpPr>
        <p:spPr>
          <a:xfrm>
            <a:off x="1019175" y="5295305"/>
            <a:ext cx="6302334" cy="211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Youden's-optimal cutoff — of all true attacks, the model catches this many.</a:t>
            </a:r>
            <a:endParaRPr lang="en-US" sz="975" dirty="0"/>
          </a:p>
        </p:txBody>
      </p:sp>
      <p:sp>
        <p:nvSpPr>
          <p:cNvPr id="29" name="Shape 27"/>
          <p:cNvSpPr/>
          <p:nvPr/>
        </p:nvSpPr>
        <p:spPr>
          <a:xfrm>
            <a:off x="762000" y="5820966"/>
            <a:ext cx="6614071" cy="1525191"/>
          </a:xfrm>
          <a:prstGeom prst="roundRect">
            <a:avLst>
              <a:gd name="adj" fmla="val 2498"/>
            </a:avLst>
          </a:prstGeom>
          <a:solidFill>
            <a:srgbClr val="FBF7EC"/>
          </a:solidFill>
          <a:ln/>
        </p:spPr>
      </p:sp>
      <p:sp>
        <p:nvSpPr>
          <p:cNvPr id="30" name="Shape 28"/>
          <p:cNvSpPr/>
          <p:nvPr/>
        </p:nvSpPr>
        <p:spPr>
          <a:xfrm>
            <a:off x="762000" y="7336631"/>
            <a:ext cx="6614071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1" name="Shape 29"/>
          <p:cNvSpPr/>
          <p:nvPr/>
        </p:nvSpPr>
        <p:spPr>
          <a:xfrm>
            <a:off x="762000" y="5820966"/>
            <a:ext cx="6614071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2" name="Shape 30"/>
          <p:cNvSpPr/>
          <p:nvPr/>
        </p:nvSpPr>
        <p:spPr>
          <a:xfrm>
            <a:off x="762000" y="5820966"/>
            <a:ext cx="28575" cy="1525191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3" name="Shape 31"/>
          <p:cNvSpPr/>
          <p:nvPr/>
        </p:nvSpPr>
        <p:spPr>
          <a:xfrm>
            <a:off x="7366546" y="5820966"/>
            <a:ext cx="9525" cy="1525191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4" name="Text 32"/>
          <p:cNvSpPr/>
          <p:nvPr/>
        </p:nvSpPr>
        <p:spPr>
          <a:xfrm>
            <a:off x="1019175" y="6040041"/>
            <a:ext cx="6302334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6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</a:t>
            </a:r>
            <a:endParaRPr lang="en-US" sz="825" dirty="0"/>
          </a:p>
        </p:txBody>
      </p:sp>
      <p:sp>
        <p:nvSpPr>
          <p:cNvPr id="35" name="Text 33"/>
          <p:cNvSpPr/>
          <p:nvPr/>
        </p:nvSpPr>
        <p:spPr>
          <a:xfrm>
            <a:off x="1019175" y="6268045"/>
            <a:ext cx="6302334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spc="-96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89.0%</a:t>
            </a:r>
            <a:endParaRPr lang="en-US" sz="4800" dirty="0"/>
          </a:p>
        </p:txBody>
      </p:sp>
      <p:sp>
        <p:nvSpPr>
          <p:cNvPr id="36" name="Text 34"/>
          <p:cNvSpPr/>
          <p:nvPr/>
        </p:nvSpPr>
        <p:spPr>
          <a:xfrm>
            <a:off x="1019175" y="6953845"/>
            <a:ext cx="6302334" cy="211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 tuning threshold via Youden's Index — correct clearance rate for benign traffic.</a:t>
            </a:r>
            <a:endParaRPr lang="en-US" sz="975" dirty="0"/>
          </a:p>
        </p:txBody>
      </p:sp>
      <p:sp>
        <p:nvSpPr>
          <p:cNvPr id="37" name="Text 35"/>
          <p:cNvSpPr/>
          <p:nvPr/>
        </p:nvSpPr>
        <p:spPr>
          <a:xfrm>
            <a:off x="7604671" y="2503884"/>
            <a:ext cx="10218969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CURVE · TEST SET</a:t>
            </a:r>
            <a:endParaRPr lang="en-US" sz="825" dirty="0"/>
          </a:p>
        </p:txBody>
      </p:sp>
      <p:sp>
        <p:nvSpPr>
          <p:cNvPr id="38" name="Shape 36"/>
          <p:cNvSpPr/>
          <p:nvPr/>
        </p:nvSpPr>
        <p:spPr>
          <a:xfrm>
            <a:off x="7604671" y="2731889"/>
            <a:ext cx="9921329" cy="4953000"/>
          </a:xfrm>
          <a:prstGeom prst="roundRect">
            <a:avLst>
              <a:gd name="adj" fmla="val 769"/>
            </a:avLst>
          </a:prstGeom>
          <a:solidFill>
            <a:srgbClr val="FFFFFF"/>
          </a:solidFill>
          <a:ln w="9525">
            <a:solidFill>
              <a:srgbClr val="D7CDB4"/>
            </a:solidFill>
            <a:prstDash val="solid"/>
          </a:ln>
        </p:spPr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7963" y="2922389"/>
            <a:ext cx="8674745" cy="4571851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7604671" y="7799189"/>
            <a:ext cx="1246287" cy="345728"/>
          </a:xfrm>
          <a:prstGeom prst="roundRect">
            <a:avLst>
              <a:gd name="adj" fmla="val 50000"/>
            </a:avLst>
          </a:prstGeom>
          <a:solidFill>
            <a:srgbClr val="FBF7EC"/>
          </a:solidFill>
          <a:ln w="9525">
            <a:solidFill>
              <a:srgbClr val="D4B56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747546" y="7875389"/>
            <a:ext cx="1036737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spc="147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0.9625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9557891" y="7865864"/>
            <a:ext cx="8207152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guessing model tracks the dashed diagonal — ours hugs the top-left corner. At default 0.5 cutoff: acc 91.2%, sens 78.9%, spec 94.5%.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4" name="Text 41"/>
          <p:cNvSpPr/>
          <p:nvPr/>
        </p:nvSpPr>
        <p:spPr>
          <a:xfrm>
            <a:off x="762000" y="9723239"/>
            <a:ext cx="5016206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5336589" y="9723239"/>
            <a:ext cx="2265611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58345" y="609600"/>
            <a:ext cx="8438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9492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749326" y="609600"/>
            <a:ext cx="345399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COEFFICIENT INTERPRETATION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493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450" spc="-62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algn="l" indent="0" marL="0">
              <a:lnSpc>
                <a:spcPct val="104000"/>
              </a:lnSpc>
              <a:buNone/>
            </a:pPr>
            <a:r>
              <a:rPr lang="en-US" sz="3450" i="1" spc="-62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anatomy </a:t>
            </a:r>
            <a:pPr algn="l" indent="0" marL="0">
              <a:lnSpc>
                <a:spcPct val="104000"/>
              </a:lnSpc>
              <a:buNone/>
            </a:pPr>
            <a:r>
              <a:rPr lang="en-US" sz="3450" spc="-62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an attack.</a:t>
            </a:r>
            <a:endParaRPr lang="en-US" sz="3450" dirty="0"/>
          </a:p>
        </p:txBody>
      </p:sp>
      <p:sp>
        <p:nvSpPr>
          <p:cNvPr id="6" name="Text 4"/>
          <p:cNvSpPr/>
          <p:nvPr/>
        </p:nvSpPr>
        <p:spPr>
          <a:xfrm>
            <a:off x="762000" y="1741438"/>
            <a:ext cx="9810750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 summary on the left, percent-change-in-odds per 1-SD increase on the right. The signs split cleanly in two directions.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62000" y="2133749"/>
            <a:ext cx="8515731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 OUTPUT · SUMMARY(FINAL_MODEL)</a:t>
            </a:r>
            <a:endParaRPr lang="en-US" sz="825" dirty="0"/>
          </a:p>
        </p:txBody>
      </p:sp>
      <p:sp>
        <p:nvSpPr>
          <p:cNvPr id="8" name="Shape 6"/>
          <p:cNvSpPr/>
          <p:nvPr/>
        </p:nvSpPr>
        <p:spPr>
          <a:xfrm>
            <a:off x="762000" y="2361754"/>
            <a:ext cx="8267700" cy="5583287"/>
          </a:xfrm>
          <a:prstGeom prst="roundRect">
            <a:avLst>
              <a:gd name="adj" fmla="val 1024"/>
            </a:avLst>
          </a:prstGeom>
          <a:solidFill>
            <a:srgbClr val="15181F"/>
          </a:solidFill>
          <a:ln/>
        </p:spPr>
      </p:sp>
      <p:sp>
        <p:nvSpPr>
          <p:cNvPr id="9" name="Text 7"/>
          <p:cNvSpPr/>
          <p:nvPr/>
        </p:nvSpPr>
        <p:spPr>
          <a:xfrm>
            <a:off x="971550" y="2533204"/>
            <a:ext cx="8096631" cy="52784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summary(final_model)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Call: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glm(formula = Attack_Flag ~ Fwd.Packet.Length.Min + Avg.Fwd.Segment.Size +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URG.Flag.Count + Active.Std + Down.Up.Ratio + Destination.Port +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Idle.Min + Avg.Bwd.Segment.Size + Bwd.IAT.Total + Init_Win_bytes_backward +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PSH.Flag.Count, family = binomial, data = train,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control = glm.control(maxit = 100))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Coefficients: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Estimate Std. Error z value Pr(&gt;|z|)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(Intercept)              6.347e-02  2.066e-01   0.307 0.758635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Fwd.Packet.Length.Min   -1.291e-01  2.434e-02  -5.303 1.14e-07 ***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Avg.Fwd.Segment.Size    -8.241e-02  1.127e-02  -7.315 2.57e-13 ***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URG.Flag.Count          -8.178e+00  1.820e+00  -4.493 7.04e-06 ***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Active.Std              -6.012e-01  1.005e+01  -0.060 0.952305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Down.Up.Ratio            1.520e+00  3.124e-01   4.866 1.14e-06 ***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Destination.Port        -3.827e-05  8.449e-06  -4.529 5.92e-06 ***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Idle.Min                 7.587e-08  1.455e-08   5.213 1.86e-07 ***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Avg.Bwd.Segment.Size     1.086e-03  2.818e-04   3.852 0.000117 ***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Bwd.IAT.Total           -2.480e-08  1.328e-08  -1.867 0.061856 .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Init_Win_bytes_backward -6.841e-05  2.587e-05  -2.644 0.008188 **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PSH.Flag.Count          -1.503e-02  3.333e-01  -0.045 0.964032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Signif. codes:  0 '***' 0.001 '**' 0.01 '*' 0.05 '.' 0.1 ' ' 1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(Dispersion parameter for binomial family taken to be 1)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Null deviance: 1336.70  on 1396  degrees of freedom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Residual deviance:  458.46  on 1385  degrees of freedom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AIC: 482.46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 of Fisher Scoring iterations: 34</a:t>
            </a:r>
            <a:endParaRPr lang="en-US" sz="863" dirty="0"/>
          </a:p>
        </p:txBody>
      </p:sp>
      <p:sp>
        <p:nvSpPr>
          <p:cNvPr id="10" name="Text 8"/>
          <p:cNvSpPr/>
          <p:nvPr/>
        </p:nvSpPr>
        <p:spPr>
          <a:xfrm>
            <a:off x="9258300" y="2133749"/>
            <a:ext cx="8515731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B3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SIGNALS · INCREASE THE ODDS</a:t>
            </a:r>
            <a:endParaRPr lang="en-US" sz="825" dirty="0"/>
          </a:p>
        </p:txBody>
      </p:sp>
      <p:sp>
        <p:nvSpPr>
          <p:cNvPr id="11" name="Shape 9"/>
          <p:cNvSpPr/>
          <p:nvPr/>
        </p:nvSpPr>
        <p:spPr>
          <a:xfrm>
            <a:off x="9258300" y="2361754"/>
            <a:ext cx="8267700" cy="897582"/>
          </a:xfrm>
          <a:prstGeom prst="roundRect">
            <a:avLst>
              <a:gd name="adj" fmla="val 4245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58325" y="2618929"/>
            <a:ext cx="6914433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Idle.Min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6228516" y="2523679"/>
            <a:ext cx="109745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+319.3%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458325" y="2945606"/>
            <a:ext cx="8103679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33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1-SD increase · 95% CI [+178.4%, +562.8%] · p &lt; 0.001</a:t>
            </a:r>
            <a:endParaRPr lang="en-US" sz="825" dirty="0"/>
          </a:p>
        </p:txBody>
      </p:sp>
      <p:sp>
        <p:nvSpPr>
          <p:cNvPr id="15" name="Shape 13"/>
          <p:cNvSpPr/>
          <p:nvPr/>
        </p:nvSpPr>
        <p:spPr>
          <a:xfrm>
            <a:off x="9258300" y="3354586"/>
            <a:ext cx="8267700" cy="897582"/>
          </a:xfrm>
          <a:prstGeom prst="roundRect">
            <a:avLst>
              <a:gd name="adj" fmla="val 4245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58325" y="3611761"/>
            <a:ext cx="6907381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Down.Up.Ratio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6221670" y="3516511"/>
            <a:ext cx="110430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+187.8%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458325" y="3938439"/>
            <a:ext cx="8103679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33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1-SD increase · 95% CI [+96.2%, +325.7%] · p &lt; 0.001</a:t>
            </a:r>
            <a:endParaRPr lang="en-US" sz="825" dirty="0"/>
          </a:p>
        </p:txBody>
      </p:sp>
      <p:sp>
        <p:nvSpPr>
          <p:cNvPr id="19" name="Text 17"/>
          <p:cNvSpPr/>
          <p:nvPr/>
        </p:nvSpPr>
        <p:spPr>
          <a:xfrm>
            <a:off x="9258300" y="4347418"/>
            <a:ext cx="8515731" cy="224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Attacks often feature </a:t>
            </a:r>
            <a:pPr algn="l" indent="0" marL="0">
              <a:lnSpc>
                <a:spcPct val="145000"/>
              </a:lnSpc>
              <a:buNone/>
            </a:pPr>
            <a:r>
              <a:rPr lang="en-US" sz="1013" b="1" i="1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prolonged idle states </a:t>
            </a:r>
            <a:pPr algn="l" indent="0" marL="0">
              <a:lnSpc>
                <a:spcPct val="14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algn="l" indent="0" marL="0">
              <a:lnSpc>
                <a:spcPct val="145000"/>
              </a:lnSpc>
              <a:buNone/>
            </a:pPr>
            <a:r>
              <a:rPr lang="en-US" sz="1013" b="1" i="1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asymmetric upload/download </a:t>
            </a:r>
            <a:pPr algn="l" indent="0" marL="0">
              <a:lnSpc>
                <a:spcPct val="14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the fingerprint of automated, one-way traffic.</a:t>
            </a:r>
            <a:endParaRPr lang="en-US" sz="1013" dirty="0"/>
          </a:p>
        </p:txBody>
      </p:sp>
      <p:sp>
        <p:nvSpPr>
          <p:cNvPr id="20" name="Text 18"/>
          <p:cNvSpPr/>
          <p:nvPr/>
        </p:nvSpPr>
        <p:spPr>
          <a:xfrm>
            <a:off x="9258300" y="4705201"/>
            <a:ext cx="8515731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PROTECTIVE SIGNALS · SEPARATION-FLAGGED</a:t>
            </a:r>
            <a:endParaRPr lang="en-US" sz="825" dirty="0"/>
          </a:p>
        </p:txBody>
      </p:sp>
      <p:sp>
        <p:nvSpPr>
          <p:cNvPr id="21" name="Shape 19"/>
          <p:cNvSpPr/>
          <p:nvPr/>
        </p:nvSpPr>
        <p:spPr>
          <a:xfrm>
            <a:off x="9258300" y="4933206"/>
            <a:ext cx="8267700" cy="897582"/>
          </a:xfrm>
          <a:prstGeom prst="roundRect">
            <a:avLst>
              <a:gd name="adj" fmla="val 4245"/>
            </a:avLst>
          </a:prstGeom>
          <a:solidFill>
            <a:srgbClr val="FBF7EC">
              <a:alpha val="92000"/>
            </a:srgbClr>
          </a:solidFill>
          <a:ln w="9525">
            <a:solidFill>
              <a:srgbClr val="D7CDB4">
                <a:alpha val="92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58325" y="5190381"/>
            <a:ext cx="7109881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Fwd.Packet.Length.Min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6418272" y="5095131"/>
            <a:ext cx="90770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−100%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458325" y="5517059"/>
            <a:ext cx="8103679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33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· separation-flagged (see Slide 12)</a:t>
            </a:r>
            <a:endParaRPr lang="en-US" sz="825" dirty="0"/>
          </a:p>
        </p:txBody>
      </p:sp>
      <p:sp>
        <p:nvSpPr>
          <p:cNvPr id="25" name="Shape 23"/>
          <p:cNvSpPr/>
          <p:nvPr/>
        </p:nvSpPr>
        <p:spPr>
          <a:xfrm>
            <a:off x="9258300" y="5926038"/>
            <a:ext cx="8267700" cy="897582"/>
          </a:xfrm>
          <a:prstGeom prst="roundRect">
            <a:avLst>
              <a:gd name="adj" fmla="val 4245"/>
            </a:avLst>
          </a:prstGeom>
          <a:solidFill>
            <a:srgbClr val="FBF7EC">
              <a:alpha val="92000"/>
            </a:srgbClr>
          </a:solidFill>
          <a:ln w="9525">
            <a:solidFill>
              <a:srgbClr val="D7CDB4">
                <a:alpha val="92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58325" y="6183213"/>
            <a:ext cx="7109881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1A1D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Avg.Fwd.Segment.Size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6418272" y="6087963"/>
            <a:ext cx="90770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−100%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458325" y="6509891"/>
            <a:ext cx="8103679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33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· separation-flagged</a:t>
            </a:r>
            <a:endParaRPr lang="en-US" sz="825" dirty="0"/>
          </a:p>
        </p:txBody>
      </p:sp>
      <p:sp>
        <p:nvSpPr>
          <p:cNvPr id="29" name="Text 27"/>
          <p:cNvSpPr/>
          <p:nvPr/>
        </p:nvSpPr>
        <p:spPr>
          <a:xfrm>
            <a:off x="9258300" y="6918871"/>
            <a:ext cx="8515731" cy="224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Odds ratios saturate at −100% because attacks rarely show normal forward packet sizes. Treat as a </a:t>
            </a:r>
            <a:pPr algn="l" indent="0" marL="0">
              <a:lnSpc>
                <a:spcPct val="145000"/>
              </a:lnSpc>
              <a:buNone/>
            </a:pPr>
            <a:r>
              <a:rPr lang="en-US" sz="1013" b="1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</a:t>
            </a:r>
            <a:pPr algn="l" indent="0" marL="0">
              <a:lnSpc>
                <a:spcPct val="14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signal only.</a:t>
            </a:r>
            <a:endParaRPr lang="en-US" sz="1013" dirty="0"/>
          </a:p>
        </p:txBody>
      </p:sp>
      <p:sp>
        <p:nvSpPr>
          <p:cNvPr id="30" name="Shape 28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1" name="Text 29"/>
          <p:cNvSpPr/>
          <p:nvPr/>
        </p:nvSpPr>
        <p:spPr>
          <a:xfrm>
            <a:off x="762000" y="9723239"/>
            <a:ext cx="5016206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5336589" y="9723239"/>
            <a:ext cx="2265611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58345" y="609600"/>
            <a:ext cx="8438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155153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351633" y="609600"/>
            <a:ext cx="477032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DEFINE NORMAL, ISOLATE THE ABNORMAL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572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050" spc="-73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</a:t>
            </a:r>
            <a:pPr algn="l" indent="0" marL="0">
              <a:lnSpc>
                <a:spcPct val="104000"/>
              </a:lnSpc>
              <a:buNone/>
            </a:pPr>
            <a:r>
              <a:rPr lang="en-US" sz="4050" i="1" spc="-73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normal </a:t>
            </a:r>
            <a:pPr algn="l" indent="0" marL="0">
              <a:lnSpc>
                <a:spcPct val="104000"/>
              </a:lnSpc>
              <a:buNone/>
            </a:pPr>
            <a:r>
              <a:rPr lang="en-US" sz="4050" spc="-73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isolate the </a:t>
            </a:r>
            <a:pPr algn="l" indent="0" marL="0">
              <a:lnSpc>
                <a:spcPct val="104000"/>
              </a:lnSpc>
              <a:buNone/>
            </a:pPr>
            <a:r>
              <a:rPr lang="en-US" sz="4050" i="1" spc="-73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abnormal</a:t>
            </a:r>
            <a:pPr algn="l" indent="0" marL="0">
              <a:lnSpc>
                <a:spcPct val="104000"/>
              </a:lnSpc>
              <a:buNone/>
            </a:pPr>
            <a:r>
              <a:rPr lang="en-US" sz="4050" spc="-73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4050" dirty="0"/>
          </a:p>
        </p:txBody>
      </p:sp>
      <p:sp>
        <p:nvSpPr>
          <p:cNvPr id="6" name="Shape 4"/>
          <p:cNvSpPr/>
          <p:nvPr/>
        </p:nvSpPr>
        <p:spPr>
          <a:xfrm>
            <a:off x="762000" y="1916013"/>
            <a:ext cx="8248650" cy="2533799"/>
          </a:xfrm>
          <a:prstGeom prst="roundRect">
            <a:avLst>
              <a:gd name="adj" fmla="val 1504"/>
            </a:avLst>
          </a:prstGeom>
          <a:solidFill>
            <a:srgbClr val="FBF7EC"/>
          </a:solidFill>
          <a:ln/>
        </p:spPr>
      </p:sp>
      <p:sp>
        <p:nvSpPr>
          <p:cNvPr id="7" name="Shape 5"/>
          <p:cNvSpPr/>
          <p:nvPr/>
        </p:nvSpPr>
        <p:spPr>
          <a:xfrm>
            <a:off x="762000" y="4440287"/>
            <a:ext cx="824865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1916013"/>
            <a:ext cx="8248650" cy="28575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Shape 7"/>
          <p:cNvSpPr/>
          <p:nvPr/>
        </p:nvSpPr>
        <p:spPr>
          <a:xfrm>
            <a:off x="762000" y="1916013"/>
            <a:ext cx="9525" cy="2533799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0" name="Shape 8"/>
          <p:cNvSpPr/>
          <p:nvPr/>
        </p:nvSpPr>
        <p:spPr>
          <a:xfrm>
            <a:off x="9001125" y="1916013"/>
            <a:ext cx="9525" cy="2533799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75" y="1830288"/>
            <a:ext cx="1745307" cy="165646"/>
          </a:xfrm>
          <a:prstGeom prst="rect">
            <a:avLst/>
          </a:prstGeom>
          <a:solidFill>
            <a:srgbClr val="F4EEDF"/>
          </a:solidFill>
          <a:ln/>
        </p:spPr>
      </p:sp>
      <p:sp>
        <p:nvSpPr>
          <p:cNvPr id="12" name="Text 10"/>
          <p:cNvSpPr/>
          <p:nvPr/>
        </p:nvSpPr>
        <p:spPr>
          <a:xfrm>
            <a:off x="1019175" y="1830288"/>
            <a:ext cx="1669107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62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THE BASELINE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38225" y="2230338"/>
            <a:ext cx="792708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b="1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Multiple Linear Regression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38225" y="2866579"/>
            <a:ext cx="1028700" cy="3417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2124075" y="2809429"/>
            <a:ext cx="6808661" cy="4825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Normal traffic volume is </a:t>
            </a:r>
            <a:pPr algn="l"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reasonably predictable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</a:t>
            </a:r>
            <a:pPr algn="l" indent="0" marL="0">
              <a:lnSpc>
                <a:spcPct val="145000"/>
              </a:lnSpc>
              <a:buNone/>
            </a:pPr>
            <a:r>
              <a:rPr lang="en-US" sz="1104" dirty="0">
                <a:solidFill>
                  <a:srgbClr val="2C3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R² = 0.69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ct val="145000"/>
              </a:lnSpc>
              <a:buNone/>
            </a:pPr>
            <a:r>
              <a:rPr lang="en-US" sz="1104" dirty="0">
                <a:solidFill>
                  <a:srgbClr val="2C3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RSE ≈ 1.53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the log scale — driven primarily by base segment sizes ( </a:t>
            </a:r>
            <a:pPr algn="l" indent="0" marL="0">
              <a:lnSpc>
                <a:spcPct val="145000"/>
              </a:lnSpc>
              <a:buNone/>
            </a:pPr>
            <a:r>
              <a:rPr lang="en-US" sz="1104" dirty="0">
                <a:solidFill>
                  <a:srgbClr val="2C3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Avg.Bwd.Segment.Size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and active data packets.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38225" y="3349079"/>
            <a:ext cx="76962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7" name="Text 15"/>
          <p:cNvSpPr/>
          <p:nvPr/>
        </p:nvSpPr>
        <p:spPr>
          <a:xfrm>
            <a:off x="1038225" y="3511004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TRAIT</a:t>
            </a:r>
            <a:endParaRPr lang="en-US" sz="825" dirty="0"/>
          </a:p>
        </p:txBody>
      </p:sp>
      <p:sp>
        <p:nvSpPr>
          <p:cNvPr id="18" name="Text 16"/>
          <p:cNvSpPr/>
          <p:nvPr/>
        </p:nvSpPr>
        <p:spPr>
          <a:xfrm>
            <a:off x="2124075" y="3453854"/>
            <a:ext cx="6808661" cy="479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 is inherently </a:t>
            </a:r>
            <a:pPr algn="l" indent="0" marL="0">
              <a:lnSpc>
                <a:spcPct val="145000"/>
              </a:lnSpc>
              <a:buNone/>
            </a:pPr>
            <a:r>
              <a:rPr lang="en-US" sz="1200" i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heavy-tailed and heteroscedastic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 log transform was required before any baseline inference could be trusted.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277350" y="1916013"/>
            <a:ext cx="8248650" cy="2533799"/>
          </a:xfrm>
          <a:prstGeom prst="roundRect">
            <a:avLst>
              <a:gd name="adj" fmla="val 1504"/>
            </a:avLst>
          </a:prstGeom>
          <a:solidFill>
            <a:srgbClr val="FBF7EC"/>
          </a:solidFill>
          <a:ln/>
        </p:spPr>
      </p:sp>
      <p:sp>
        <p:nvSpPr>
          <p:cNvPr id="20" name="Shape 18"/>
          <p:cNvSpPr/>
          <p:nvPr/>
        </p:nvSpPr>
        <p:spPr>
          <a:xfrm>
            <a:off x="9277350" y="4440287"/>
            <a:ext cx="824865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1" name="Shape 19"/>
          <p:cNvSpPr/>
          <p:nvPr/>
        </p:nvSpPr>
        <p:spPr>
          <a:xfrm>
            <a:off x="9277350" y="1916013"/>
            <a:ext cx="8248650" cy="28575"/>
          </a:xfrm>
          <a:prstGeom prst="rect">
            <a:avLst/>
          </a:prstGeom>
          <a:solidFill>
            <a:srgbClr val="B33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9277350" y="1916013"/>
            <a:ext cx="9525" cy="2533799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3" name="Shape 21"/>
          <p:cNvSpPr/>
          <p:nvPr/>
        </p:nvSpPr>
        <p:spPr>
          <a:xfrm>
            <a:off x="17516475" y="1916013"/>
            <a:ext cx="9525" cy="2533799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4" name="Shape 22"/>
          <p:cNvSpPr/>
          <p:nvPr/>
        </p:nvSpPr>
        <p:spPr>
          <a:xfrm>
            <a:off x="9458325" y="1830288"/>
            <a:ext cx="1761530" cy="165646"/>
          </a:xfrm>
          <a:prstGeom prst="rect">
            <a:avLst/>
          </a:prstGeom>
          <a:solidFill>
            <a:srgbClr val="F4EEDF"/>
          </a:solidFill>
          <a:ln/>
        </p:spPr>
      </p:sp>
      <p:sp>
        <p:nvSpPr>
          <p:cNvPr id="25" name="Text 23"/>
          <p:cNvSpPr/>
          <p:nvPr/>
        </p:nvSpPr>
        <p:spPr>
          <a:xfrm>
            <a:off x="9534525" y="1830288"/>
            <a:ext cx="1685330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62" kern="0" dirty="0">
                <a:solidFill>
                  <a:srgbClr val="B3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THE ANOMALY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553575" y="2230338"/>
            <a:ext cx="792708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b="1" i="1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Regression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553575" y="2866579"/>
            <a:ext cx="1028700" cy="3417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825" dirty="0"/>
          </a:p>
        </p:txBody>
      </p:sp>
      <p:sp>
        <p:nvSpPr>
          <p:cNvPr id="28" name="Text 26"/>
          <p:cNvSpPr/>
          <p:nvPr/>
        </p:nvSpPr>
        <p:spPr>
          <a:xfrm>
            <a:off x="10639425" y="2809429"/>
            <a:ext cx="6808661" cy="70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Malicious traffic deviates sharply from the baseline. It operates disproportionately on </a:t>
            </a:r>
            <a:pPr algn="l"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Registered Ports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(44.4% attack rate) and shows anomalous timing (</a:t>
            </a:r>
            <a:pPr algn="l" indent="0" marL="0">
              <a:lnSpc>
                <a:spcPct val="145000"/>
              </a:lnSpc>
              <a:buNone/>
            </a:pPr>
            <a:r>
              <a:rPr lang="en-US" sz="1104" dirty="0">
                <a:solidFill>
                  <a:srgbClr val="2C3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Idle.Min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and asymmetric flow ( </a:t>
            </a:r>
            <a:pPr algn="l" indent="0" marL="0">
              <a:lnSpc>
                <a:spcPct val="145000"/>
              </a:lnSpc>
              <a:buNone/>
            </a:pPr>
            <a:r>
              <a:rPr lang="en-US" sz="1104" dirty="0">
                <a:solidFill>
                  <a:srgbClr val="2C3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Down.Up.Ratio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553575" y="3569940"/>
            <a:ext cx="76962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0" name="Text 28"/>
          <p:cNvSpPr/>
          <p:nvPr/>
        </p:nvSpPr>
        <p:spPr>
          <a:xfrm>
            <a:off x="9553575" y="3731865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TRAIT</a:t>
            </a:r>
            <a:endParaRPr lang="en-US" sz="825" dirty="0"/>
          </a:p>
        </p:txBody>
      </p:sp>
      <p:sp>
        <p:nvSpPr>
          <p:cNvPr id="31" name="Text 29"/>
          <p:cNvSpPr/>
          <p:nvPr/>
        </p:nvSpPr>
        <p:spPr>
          <a:xfrm>
            <a:off x="10639425" y="3674715"/>
            <a:ext cx="6808661" cy="479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These deviations let a first-order logistic model isolate attacks with </a:t>
            </a:r>
            <a:pPr algn="l"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95.3% sensitivity at the Youden's-optimal cutoff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(accuracy 90.3%, AUC = 0.9625).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62000" y="4678412"/>
            <a:ext cx="16764000" cy="1085850"/>
          </a:xfrm>
          <a:prstGeom prst="roundRect">
            <a:avLst>
              <a:gd name="adj" fmla="val 3509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38225" y="4927997"/>
            <a:ext cx="15121125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mathematically defining the </a:t>
            </a:r>
            <a:pPr algn="l" indent="0" marL="0">
              <a:lnSpc>
                <a:spcPct val="140000"/>
              </a:lnSpc>
              <a:buNone/>
            </a:pPr>
            <a:r>
              <a:rPr lang="en-US" sz="1650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shape of benign flow </a:t>
            </a:r>
            <a:pPr algn="l" indent="0" marL="0">
              <a:lnSpc>
                <a:spcPct val="140000"/>
              </a:lnSpc>
              <a:buNone/>
            </a:pPr>
            <a:r>
              <a:rPr lang="en-US" sz="165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anomalous network intrusions become statistically glaring — enabling highly sensitive automated detection.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15947529" y="4859387"/>
            <a:ext cx="1098054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420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95.3</a:t>
            </a:r>
            <a:endParaRPr lang="en-US" sz="4200" dirty="0"/>
          </a:p>
        </p:txBody>
      </p:sp>
      <p:sp>
        <p:nvSpPr>
          <p:cNvPr id="35" name="Text 33"/>
          <p:cNvSpPr/>
          <p:nvPr/>
        </p:nvSpPr>
        <p:spPr>
          <a:xfrm>
            <a:off x="16893183" y="5030837"/>
            <a:ext cx="356592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70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2700" dirty="0"/>
          </a:p>
        </p:txBody>
      </p:sp>
      <p:sp>
        <p:nvSpPr>
          <p:cNvPr id="36" name="Text 34"/>
          <p:cNvSpPr/>
          <p:nvPr/>
        </p:nvSpPr>
        <p:spPr>
          <a:xfrm>
            <a:off x="15871329" y="5449937"/>
            <a:ext cx="1378446" cy="133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50" spc="15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SENSITIVITY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8" name="Text 36"/>
          <p:cNvSpPr/>
          <p:nvPr/>
        </p:nvSpPr>
        <p:spPr>
          <a:xfrm>
            <a:off x="762000" y="9723239"/>
            <a:ext cx="5016206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4851261" y="9723239"/>
            <a:ext cx="2754981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 · FIN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2026-05-21T05:57:05Z</dcterms:created>
  <dcterms:modified xsi:type="dcterms:W3CDTF">2026-05-21T05:57:05Z</dcterms:modified>
</cp:coreProperties>
</file>