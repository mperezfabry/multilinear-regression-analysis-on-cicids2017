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38620" y="0"/>
            <a:ext cx="6949380" cy="10287000"/>
          </a:xfrm>
          <a:prstGeom prst="rect">
            <a:avLst/>
          </a:prstGeom>
          <a:solidFill>
            <a:srgbClr val="EAE0C7"/>
          </a:solidFill>
          <a:ln/>
        </p:spPr>
      </p:sp>
      <p:sp>
        <p:nvSpPr>
          <p:cNvPr id="3" name="Text 1"/>
          <p:cNvSpPr/>
          <p:nvPr/>
        </p:nvSpPr>
        <p:spPr>
          <a:xfrm>
            <a:off x="762000" y="609600"/>
            <a:ext cx="33039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D4B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30498" y="609600"/>
            <a:ext cx="323018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STATISTICS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2286000"/>
            <a:ext cx="10140483" cy="24861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spc="-12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Analysis of </a:t>
            </a:r>
            <a:pPr algn="l" indent="0" marL="0">
              <a:lnSpc>
                <a:spcPct val="102000"/>
              </a:lnSpc>
              <a:buNone/>
            </a:pPr>
            <a:r>
              <a:rPr lang="en-US" sz="6300" i="1" spc="-12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 </a:t>
            </a:r>
            <a:pPr algn="l" indent="0" marL="0">
              <a:lnSpc>
                <a:spcPct val="102000"/>
              </a:lnSpc>
              <a:buNone/>
            </a:pPr>
            <a:r>
              <a:rPr lang="en-US" sz="6300" spc="-12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Intrusion </a:t>
            </a:r>
            <a:pPr algn="l" indent="0" marL="0">
              <a:lnSpc>
                <a:spcPct val="102000"/>
              </a:lnSpc>
              <a:buNone/>
            </a:pPr>
            <a:r>
              <a:rPr lang="en-US" sz="6300" i="1" spc="-126" kern="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762000" y="5096024"/>
            <a:ext cx="1143000" cy="14288"/>
          </a:xfrm>
          <a:prstGeom prst="rect">
            <a:avLst/>
          </a:prstGeom>
          <a:solidFill>
            <a:srgbClr val="5A6173"/>
          </a:solidFill>
          <a:ln/>
        </p:spPr>
      </p:sp>
      <p:sp>
        <p:nvSpPr>
          <p:cNvPr id="7" name="Text 5"/>
          <p:cNvSpPr/>
          <p:nvPr/>
        </p:nvSpPr>
        <p:spPr>
          <a:xfrm>
            <a:off x="762000" y="5377011"/>
            <a:ext cx="8633460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 normal traffic and isolating threats via multiple linear &amp; logistic regression.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62000" y="9565481"/>
            <a:ext cx="3219919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b="1" spc="247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IDC 5205 · MAY 2026</a:t>
            </a:r>
            <a:endParaRPr lang="en-US" sz="1125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2582" y="2212333"/>
            <a:ext cx="5862335" cy="586233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905286" y="609600"/>
            <a:ext cx="2856308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spc="234" kern="0" dirty="0">
                <a:solidFill>
                  <a:srgbClr val="70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MATRIX · CICIDS 2017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72270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522809" y="609600"/>
            <a:ext cx="25306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RESEARCH QUESTIONS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</a:t>
            </a:r>
            <a:pPr algn="l" indent="0" marL="0">
              <a:lnSpc>
                <a:spcPct val="104000"/>
              </a:lnSpc>
              <a:buNone/>
            </a:pPr>
            <a:r>
              <a:rPr lang="en-US" sz="4200" i="1" spc="-7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</a:t>
            </a:r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</a:t>
            </a:r>
            <a:pPr algn="l" indent="0" marL="0">
              <a:lnSpc>
                <a:spcPct val="104000"/>
              </a:lnSpc>
              <a:buNone/>
            </a:pPr>
            <a:r>
              <a:rPr lang="en-US" sz="4200" i="1" spc="-7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</a:t>
            </a:r>
            <a:pPr algn="l" indent="0" marL="0">
              <a:lnSpc>
                <a:spcPct val="104000"/>
              </a:lnSpc>
              <a:buNone/>
            </a:pPr>
            <a:r>
              <a:rPr lang="en-US" sz="4200" spc="-7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62000" y="1859607"/>
            <a:ext cx="9810750" cy="6456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split the question in two: first describe normal network behavior, then learn what makes an attack look different.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62000" y="2771924"/>
            <a:ext cx="5435501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975" y="2667149"/>
            <a:ext cx="1294061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9" name="Text 7"/>
          <p:cNvSpPr/>
          <p:nvPr/>
        </p:nvSpPr>
        <p:spPr>
          <a:xfrm>
            <a:off x="1019175" y="2667149"/>
            <a:ext cx="121786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TERRAIN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19175" y="3067199"/>
            <a:ext cx="5068785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 2017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19175" y="368438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2105025" y="3627239"/>
            <a:ext cx="395036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Canadian Institute for Cybersecurity.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19175" y="3943350"/>
            <a:ext cx="492115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4" name="Text 12"/>
          <p:cNvSpPr/>
          <p:nvPr/>
        </p:nvSpPr>
        <p:spPr>
          <a:xfrm>
            <a:off x="1019175" y="410527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105025" y="4048125"/>
            <a:ext cx="395036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columns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describing packet sizes, timing, TCP flags, and routing.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19175" y="4585097"/>
            <a:ext cx="492115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7" name="Text 15"/>
          <p:cNvSpPr/>
          <p:nvPr/>
        </p:nvSpPr>
        <p:spPr>
          <a:xfrm>
            <a:off x="1019175" y="474702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2105025" y="4689872"/>
            <a:ext cx="395036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~250 rows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drawn from each raw CSV across 8 days of traffic, cleaned to remove infinities and NAs.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26101" y="2771924"/>
            <a:ext cx="5435650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26101" y="5474494"/>
            <a:ext cx="5435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6101" y="2771924"/>
            <a:ext cx="543565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Shape 20"/>
          <p:cNvSpPr/>
          <p:nvPr/>
        </p:nvSpPr>
        <p:spPr>
          <a:xfrm>
            <a:off x="6426101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52225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6607076" y="2686199"/>
            <a:ext cx="1096863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5" name="Text 23"/>
          <p:cNvSpPr/>
          <p:nvPr/>
        </p:nvSpPr>
        <p:spPr>
          <a:xfrm>
            <a:off x="6683276" y="2686199"/>
            <a:ext cx="1020663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MLR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83276" y="3086249"/>
            <a:ext cx="506893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 what's normal.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83276" y="370343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7769126" y="3646289"/>
            <a:ext cx="3950513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traffic only.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83276" y="3962400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0" name="Text 28"/>
          <p:cNvSpPr/>
          <p:nvPr/>
        </p:nvSpPr>
        <p:spPr>
          <a:xfrm>
            <a:off x="6683276" y="412432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7769126" y="4067175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network flow features best predict total byte volume ( </a:t>
            </a:r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Flow.Bytes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)?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83276" y="4604147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3" name="Text 31"/>
          <p:cNvSpPr/>
          <p:nvPr/>
        </p:nvSpPr>
        <p:spPr>
          <a:xfrm>
            <a:off x="6683276" y="476607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7769126" y="4708922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components that contribute to network flow in benign network configurations.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2090350" y="2771924"/>
            <a:ext cx="5435650" cy="2712095"/>
          </a:xfrm>
          <a:prstGeom prst="roundRect">
            <a:avLst>
              <a:gd name="adj" fmla="val 1405"/>
            </a:avLst>
          </a:prstGeom>
          <a:solidFill>
            <a:srgbClr val="FBF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090350" y="5474494"/>
            <a:ext cx="5435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90350" y="2771924"/>
            <a:ext cx="543565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38" name="Shape 36"/>
          <p:cNvSpPr/>
          <p:nvPr/>
        </p:nvSpPr>
        <p:spPr>
          <a:xfrm>
            <a:off x="12090350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9" name="Shape 37"/>
          <p:cNvSpPr/>
          <p:nvPr/>
        </p:nvSpPr>
        <p:spPr>
          <a:xfrm>
            <a:off x="17516475" y="2771924"/>
            <a:ext cx="9525" cy="271209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0" name="Shape 38"/>
          <p:cNvSpPr/>
          <p:nvPr/>
        </p:nvSpPr>
        <p:spPr>
          <a:xfrm>
            <a:off x="12271325" y="2686199"/>
            <a:ext cx="1411188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41" name="Text 39"/>
          <p:cNvSpPr/>
          <p:nvPr/>
        </p:nvSpPr>
        <p:spPr>
          <a:xfrm>
            <a:off x="12347525" y="2686199"/>
            <a:ext cx="133498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LOGISTIC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2347525" y="3086249"/>
            <a:ext cx="506893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 the culprit.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12347525" y="3703439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13433375" y="3646289"/>
            <a:ext cx="3950513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traffic — benign and attack.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2347525" y="3962400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7525" y="412432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825" dirty="0"/>
          </a:p>
        </p:txBody>
      </p:sp>
      <p:sp>
        <p:nvSpPr>
          <p:cNvPr id="47" name="Text 45"/>
          <p:cNvSpPr/>
          <p:nvPr/>
        </p:nvSpPr>
        <p:spPr>
          <a:xfrm>
            <a:off x="13433375" y="4067175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features actually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distinguish attack flows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benign ones?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2347525" y="4604147"/>
            <a:ext cx="49213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Text 47"/>
          <p:cNvSpPr/>
          <p:nvPr/>
        </p:nvSpPr>
        <p:spPr>
          <a:xfrm>
            <a:off x="12347525" y="4766072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825" dirty="0"/>
          </a:p>
        </p:txBody>
      </p:sp>
      <p:sp>
        <p:nvSpPr>
          <p:cNvPr id="50" name="Text 48"/>
          <p:cNvSpPr/>
          <p:nvPr/>
        </p:nvSpPr>
        <p:spPr>
          <a:xfrm>
            <a:off x="13433375" y="4708922"/>
            <a:ext cx="3950513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the risk factors and classify each flow as benign or attack.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2" name="Text 50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097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09813" y="609600"/>
            <a:ext cx="23970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VARIABLE GROUPING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134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00" spc="-65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04000"/>
              </a:lnSpc>
              <a:buNone/>
            </a:pPr>
            <a:r>
              <a:rPr lang="en-US" sz="3600" i="1" spc="-65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 sets </a:t>
            </a:r>
            <a:pPr algn="l" indent="0" marL="0">
              <a:lnSpc>
                <a:spcPct val="104000"/>
              </a:lnSpc>
              <a:buNone/>
            </a:pPr>
            <a:r>
              <a:rPr lang="en-US" sz="3600" spc="-65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behind each model.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62000" y="1761232"/>
            <a:ext cx="981075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variable selection, two compact predictor sets remain — eight for the linear baseline, and thirteen for the classifier (later pruned to eleven via VIF in </a:t>
            </a:r>
            <a:pPr algn="l" indent="0" marL="0">
              <a:lnSpc>
                <a:spcPct val="145000"/>
              </a:lnSpc>
              <a:buNone/>
            </a:pPr>
            <a:r>
              <a:rPr lang="en-US" sz="1242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Logistic.R</a:t>
            </a:r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62000" y="2486918"/>
            <a:ext cx="8229600" cy="5141268"/>
          </a:xfrm>
          <a:prstGeom prst="roundRect">
            <a:avLst>
              <a:gd name="adj" fmla="val 741"/>
            </a:avLst>
          </a:prstGeom>
          <a:solidFill>
            <a:srgbClr val="FBF7EC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7618661"/>
            <a:ext cx="82296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2486918"/>
            <a:ext cx="822960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2486918"/>
            <a:ext cx="9525" cy="514126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8982075" y="2486918"/>
            <a:ext cx="9525" cy="514126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Shape 10"/>
          <p:cNvSpPr/>
          <p:nvPr/>
        </p:nvSpPr>
        <p:spPr>
          <a:xfrm>
            <a:off x="942975" y="2401193"/>
            <a:ext cx="2124968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13" name="Text 11"/>
          <p:cNvSpPr/>
          <p:nvPr/>
        </p:nvSpPr>
        <p:spPr>
          <a:xfrm>
            <a:off x="1019175" y="2401193"/>
            <a:ext cx="204876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LINEAR REGRESSION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19175" y="2782193"/>
            <a:ext cx="7946708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</a:t>
            </a:r>
            <a:pPr algn="l" indent="0" marL="0">
              <a:lnSpc>
                <a:spcPct val="120000"/>
              </a:lnSpc>
              <a:buNone/>
            </a:pPr>
            <a:r>
              <a:rPr lang="en-US" sz="165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Flow.Bytes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19175" y="3166914"/>
            <a:ext cx="794670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USED IN </a:t>
            </a:r>
            <a:pPr algn="l" indent="0" marL="0">
              <a:lnSpc>
                <a:spcPct val="145000"/>
              </a:lnSpc>
              <a:buNone/>
            </a:pPr>
            <a:r>
              <a:rPr lang="en-US" sz="825" spc="132" kern="0" dirty="0">
                <a:solidFill>
                  <a:srgbClr val="8A8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MLR_DATA.CSV</a:t>
            </a:r>
            <a:endParaRPr lang="en-US" sz="825" dirty="0"/>
          </a:p>
        </p:txBody>
      </p:sp>
      <p:sp>
        <p:nvSpPr>
          <p:cNvPr id="16" name="Shape 14"/>
          <p:cNvSpPr/>
          <p:nvPr/>
        </p:nvSpPr>
        <p:spPr>
          <a:xfrm>
            <a:off x="1019175" y="3485406"/>
            <a:ext cx="1371154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" y="3504456"/>
            <a:ext cx="1333054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min_seg_size_forward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28975" y="3485406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segment size in forward direction.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1019175" y="3730079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19175" y="3791992"/>
            <a:ext cx="1119783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" y="3811042"/>
            <a:ext cx="1081683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act_data_pkt_fwd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28975" y="3791992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forward packets with actual data.</a:t>
            </a:r>
            <a:endParaRPr lang="en-US" sz="1013" dirty="0"/>
          </a:p>
        </p:txBody>
      </p:sp>
      <p:sp>
        <p:nvSpPr>
          <p:cNvPr id="23" name="Shape 21"/>
          <p:cNvSpPr/>
          <p:nvPr/>
        </p:nvSpPr>
        <p:spPr>
          <a:xfrm>
            <a:off x="1019175" y="4036665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9175" y="4098578"/>
            <a:ext cx="1371154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" y="4117628"/>
            <a:ext cx="1333054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28975" y="4098578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backward data segments.</a:t>
            </a:r>
            <a:endParaRPr lang="en-US" sz="1013" dirty="0"/>
          </a:p>
        </p:txBody>
      </p:sp>
      <p:sp>
        <p:nvSpPr>
          <p:cNvPr id="27" name="Shape 25"/>
          <p:cNvSpPr/>
          <p:nvPr/>
        </p:nvSpPr>
        <p:spPr>
          <a:xfrm>
            <a:off x="1019175" y="4343251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9175" y="4405164"/>
            <a:ext cx="1434108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29" name="Text 27"/>
          <p:cNvSpPr/>
          <p:nvPr/>
        </p:nvSpPr>
        <p:spPr>
          <a:xfrm>
            <a:off x="1076325" y="4424214"/>
            <a:ext cx="1396008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Bwd.Packet.Length.Min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28975" y="4405164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length of backward packets.</a:t>
            </a:r>
            <a:endParaRPr lang="en-US" sz="1013" dirty="0"/>
          </a:p>
        </p:txBody>
      </p:sp>
      <p:sp>
        <p:nvSpPr>
          <p:cNvPr id="31" name="Shape 29"/>
          <p:cNvSpPr/>
          <p:nvPr/>
        </p:nvSpPr>
        <p:spPr>
          <a:xfrm>
            <a:off x="1019175" y="4649837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2" name="Shape 30"/>
          <p:cNvSpPr/>
          <p:nvPr/>
        </p:nvSpPr>
        <p:spPr>
          <a:xfrm>
            <a:off x="1019175" y="4711750"/>
            <a:ext cx="1434108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33" name="Text 31"/>
          <p:cNvSpPr/>
          <p:nvPr/>
        </p:nvSpPr>
        <p:spPr>
          <a:xfrm>
            <a:off x="1076325" y="4730800"/>
            <a:ext cx="1396008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Bwd.Packet.Length.Std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28975" y="4711750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backward packet lengths.</a:t>
            </a:r>
            <a:endParaRPr lang="en-US" sz="1013" dirty="0"/>
          </a:p>
        </p:txBody>
      </p:sp>
      <p:sp>
        <p:nvSpPr>
          <p:cNvPr id="35" name="Shape 33"/>
          <p:cNvSpPr/>
          <p:nvPr/>
        </p:nvSpPr>
        <p:spPr>
          <a:xfrm>
            <a:off x="1019175" y="4956423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19175" y="5018336"/>
            <a:ext cx="994172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37" name="Text 35"/>
          <p:cNvSpPr/>
          <p:nvPr/>
        </p:nvSpPr>
        <p:spPr>
          <a:xfrm>
            <a:off x="1076325" y="5037386"/>
            <a:ext cx="956072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PSH.Flag.Count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28975" y="5018336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push TCP flags.</a:t>
            </a:r>
            <a:endParaRPr lang="en-US" sz="1013" dirty="0"/>
          </a:p>
        </p:txBody>
      </p:sp>
      <p:sp>
        <p:nvSpPr>
          <p:cNvPr id="39" name="Shape 37"/>
          <p:cNvSpPr/>
          <p:nvPr/>
        </p:nvSpPr>
        <p:spPr>
          <a:xfrm>
            <a:off x="1019175" y="5263009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9175" y="5324921"/>
            <a:ext cx="742801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41" name="Text 39"/>
          <p:cNvSpPr/>
          <p:nvPr/>
        </p:nvSpPr>
        <p:spPr>
          <a:xfrm>
            <a:off x="1076325" y="5343971"/>
            <a:ext cx="704701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Active.Max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28975" y="5324921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Maximum time flow remained active.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1019175" y="5569595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4" name="Shape 42"/>
          <p:cNvSpPr/>
          <p:nvPr/>
        </p:nvSpPr>
        <p:spPr>
          <a:xfrm>
            <a:off x="1019175" y="5631507"/>
            <a:ext cx="742801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45" name="Text 43"/>
          <p:cNvSpPr/>
          <p:nvPr/>
        </p:nvSpPr>
        <p:spPr>
          <a:xfrm>
            <a:off x="1076325" y="5650557"/>
            <a:ext cx="704701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228975" y="5631507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active time.</a:t>
            </a:r>
            <a:endParaRPr lang="en-US" sz="1013" dirty="0"/>
          </a:p>
        </p:txBody>
      </p:sp>
      <p:sp>
        <p:nvSpPr>
          <p:cNvPr id="47" name="Shape 45"/>
          <p:cNvSpPr/>
          <p:nvPr/>
        </p:nvSpPr>
        <p:spPr>
          <a:xfrm>
            <a:off x="9296400" y="2486918"/>
            <a:ext cx="8229600" cy="5141268"/>
          </a:xfrm>
          <a:prstGeom prst="roundRect">
            <a:avLst>
              <a:gd name="adj" fmla="val 741"/>
            </a:avLst>
          </a:prstGeom>
          <a:solidFill>
            <a:srgbClr val="FBF7EC"/>
          </a:solidFill>
          <a:ln/>
        </p:spPr>
      </p:sp>
      <p:sp>
        <p:nvSpPr>
          <p:cNvPr id="48" name="Shape 46"/>
          <p:cNvSpPr/>
          <p:nvPr/>
        </p:nvSpPr>
        <p:spPr>
          <a:xfrm>
            <a:off x="9296400" y="7618661"/>
            <a:ext cx="82296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Shape 47"/>
          <p:cNvSpPr/>
          <p:nvPr/>
        </p:nvSpPr>
        <p:spPr>
          <a:xfrm>
            <a:off x="9296400" y="2486918"/>
            <a:ext cx="822960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50" name="Shape 48"/>
          <p:cNvSpPr/>
          <p:nvPr/>
        </p:nvSpPr>
        <p:spPr>
          <a:xfrm>
            <a:off x="9296400" y="2486918"/>
            <a:ext cx="9525" cy="514126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1" name="Shape 49"/>
          <p:cNvSpPr/>
          <p:nvPr/>
        </p:nvSpPr>
        <p:spPr>
          <a:xfrm>
            <a:off x="17516475" y="2486918"/>
            <a:ext cx="9525" cy="514126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2" name="Shape 50"/>
          <p:cNvSpPr/>
          <p:nvPr/>
        </p:nvSpPr>
        <p:spPr>
          <a:xfrm>
            <a:off x="9477375" y="2401193"/>
            <a:ext cx="2251918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53" name="Text 51"/>
          <p:cNvSpPr/>
          <p:nvPr/>
        </p:nvSpPr>
        <p:spPr>
          <a:xfrm>
            <a:off x="9553575" y="2401193"/>
            <a:ext cx="217571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LOGISTIC REGRESSION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553575" y="2782193"/>
            <a:ext cx="7946708" cy="289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Predicting </a:t>
            </a:r>
            <a:pPr algn="l" indent="0" marL="0">
              <a:lnSpc>
                <a:spcPct val="120000"/>
              </a:lnSpc>
              <a:buNone/>
            </a:pPr>
            <a:r>
              <a:rPr lang="en-US" sz="1650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Attack_Flag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9553575" y="3166914"/>
            <a:ext cx="794670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USED IN </a:t>
            </a:r>
            <a:pPr algn="l" indent="0" marL="0">
              <a:lnSpc>
                <a:spcPct val="145000"/>
              </a:lnSpc>
              <a:buNone/>
            </a:pPr>
            <a:r>
              <a:rPr lang="en-US" sz="825" spc="132" kern="0" dirty="0">
                <a:solidFill>
                  <a:srgbClr val="8A8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GLM_DATA.CSV</a:t>
            </a:r>
            <a:endParaRPr lang="en-US" sz="825" dirty="0"/>
          </a:p>
        </p:txBody>
      </p:sp>
      <p:sp>
        <p:nvSpPr>
          <p:cNvPr id="56" name="Shape 54"/>
          <p:cNvSpPr/>
          <p:nvPr/>
        </p:nvSpPr>
        <p:spPr>
          <a:xfrm>
            <a:off x="9553575" y="3485406"/>
            <a:ext cx="1119783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57" name="Text 55"/>
          <p:cNvSpPr/>
          <p:nvPr/>
        </p:nvSpPr>
        <p:spPr>
          <a:xfrm>
            <a:off x="9610725" y="3504456"/>
            <a:ext cx="1081683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1763375" y="3485406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targeted network port.</a:t>
            </a:r>
            <a:endParaRPr lang="en-US" sz="1013" dirty="0"/>
          </a:p>
        </p:txBody>
      </p:sp>
      <p:sp>
        <p:nvSpPr>
          <p:cNvPr id="59" name="Shape 57"/>
          <p:cNvSpPr/>
          <p:nvPr/>
        </p:nvSpPr>
        <p:spPr>
          <a:xfrm>
            <a:off x="9553575" y="3730079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0" name="Shape 58"/>
          <p:cNvSpPr/>
          <p:nvPr/>
        </p:nvSpPr>
        <p:spPr>
          <a:xfrm>
            <a:off x="9553575" y="3791992"/>
            <a:ext cx="1496913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61" name="Text 59"/>
          <p:cNvSpPr/>
          <p:nvPr/>
        </p:nvSpPr>
        <p:spPr>
          <a:xfrm>
            <a:off x="9610725" y="3811042"/>
            <a:ext cx="1458813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Packet.Length.Variance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1763375" y="3791992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Variance in packet payload size.</a:t>
            </a:r>
            <a:endParaRPr lang="en-US" sz="1013" dirty="0"/>
          </a:p>
        </p:txBody>
      </p:sp>
      <p:sp>
        <p:nvSpPr>
          <p:cNvPr id="63" name="Shape 61"/>
          <p:cNvSpPr/>
          <p:nvPr/>
        </p:nvSpPr>
        <p:spPr>
          <a:xfrm>
            <a:off x="9553575" y="4036665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4" name="Shape 62"/>
          <p:cNvSpPr/>
          <p:nvPr/>
        </p:nvSpPr>
        <p:spPr>
          <a:xfrm>
            <a:off x="9553575" y="4098578"/>
            <a:ext cx="1371154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65" name="Text 63"/>
          <p:cNvSpPr/>
          <p:nvPr/>
        </p:nvSpPr>
        <p:spPr>
          <a:xfrm>
            <a:off x="9610725" y="4117628"/>
            <a:ext cx="1333054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Avg.Fwd.Segment.Size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1763375" y="4098578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forward data segments.</a:t>
            </a:r>
            <a:endParaRPr lang="en-US" sz="1013" dirty="0"/>
          </a:p>
        </p:txBody>
      </p:sp>
      <p:sp>
        <p:nvSpPr>
          <p:cNvPr id="67" name="Shape 65"/>
          <p:cNvSpPr/>
          <p:nvPr/>
        </p:nvSpPr>
        <p:spPr>
          <a:xfrm>
            <a:off x="9553575" y="4343251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8" name="Shape 66"/>
          <p:cNvSpPr/>
          <p:nvPr/>
        </p:nvSpPr>
        <p:spPr>
          <a:xfrm>
            <a:off x="9553575" y="4405164"/>
            <a:ext cx="1371154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69" name="Text 67"/>
          <p:cNvSpPr/>
          <p:nvPr/>
        </p:nvSpPr>
        <p:spPr>
          <a:xfrm>
            <a:off x="9610725" y="4424214"/>
            <a:ext cx="1333054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11763375" y="4405164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 size of backward data segments.</a:t>
            </a:r>
            <a:endParaRPr lang="en-US" sz="1013" dirty="0"/>
          </a:p>
        </p:txBody>
      </p:sp>
      <p:sp>
        <p:nvSpPr>
          <p:cNvPr id="71" name="Shape 69"/>
          <p:cNvSpPr/>
          <p:nvPr/>
        </p:nvSpPr>
        <p:spPr>
          <a:xfrm>
            <a:off x="9553575" y="4649837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72" name="Shape 70"/>
          <p:cNvSpPr/>
          <p:nvPr/>
        </p:nvSpPr>
        <p:spPr>
          <a:xfrm>
            <a:off x="9553575" y="4711750"/>
            <a:ext cx="1434108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73" name="Text 71"/>
          <p:cNvSpPr/>
          <p:nvPr/>
        </p:nvSpPr>
        <p:spPr>
          <a:xfrm>
            <a:off x="9610725" y="4730800"/>
            <a:ext cx="1396008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Fwd.Packet.Length.Min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1763375" y="4711750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length of forward packets.</a:t>
            </a:r>
            <a:endParaRPr lang="en-US" sz="1013" dirty="0"/>
          </a:p>
        </p:txBody>
      </p:sp>
      <p:sp>
        <p:nvSpPr>
          <p:cNvPr id="75" name="Shape 73"/>
          <p:cNvSpPr/>
          <p:nvPr/>
        </p:nvSpPr>
        <p:spPr>
          <a:xfrm>
            <a:off x="9553575" y="4956423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76" name="Shape 74"/>
          <p:cNvSpPr/>
          <p:nvPr/>
        </p:nvSpPr>
        <p:spPr>
          <a:xfrm>
            <a:off x="9553575" y="5018336"/>
            <a:ext cx="931366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77" name="Text 75"/>
          <p:cNvSpPr/>
          <p:nvPr/>
        </p:nvSpPr>
        <p:spPr>
          <a:xfrm>
            <a:off x="9610725" y="5037386"/>
            <a:ext cx="893266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Bwd.IAT.Total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763375" y="5018336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inter-arrival time for backward packets.</a:t>
            </a:r>
            <a:endParaRPr lang="en-US" sz="1013" dirty="0"/>
          </a:p>
        </p:txBody>
      </p:sp>
      <p:sp>
        <p:nvSpPr>
          <p:cNvPr id="79" name="Shape 77"/>
          <p:cNvSpPr/>
          <p:nvPr/>
        </p:nvSpPr>
        <p:spPr>
          <a:xfrm>
            <a:off x="9553575" y="5263009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0" name="Shape 78"/>
          <p:cNvSpPr/>
          <p:nvPr/>
        </p:nvSpPr>
        <p:spPr>
          <a:xfrm>
            <a:off x="9553575" y="5324921"/>
            <a:ext cx="805607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81" name="Text 79"/>
          <p:cNvSpPr/>
          <p:nvPr/>
        </p:nvSpPr>
        <p:spPr>
          <a:xfrm>
            <a:off x="9610725" y="5343971"/>
            <a:ext cx="767507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Bwd.IAT.Max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1763375" y="5324921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Maximum inter-arrival time for backward packets.</a:t>
            </a:r>
            <a:endParaRPr lang="en-US" sz="1013" dirty="0"/>
          </a:p>
        </p:txBody>
      </p:sp>
      <p:sp>
        <p:nvSpPr>
          <p:cNvPr id="83" name="Shape 81"/>
          <p:cNvSpPr/>
          <p:nvPr/>
        </p:nvSpPr>
        <p:spPr>
          <a:xfrm>
            <a:off x="9553575" y="5569595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4" name="Shape 82"/>
          <p:cNvSpPr/>
          <p:nvPr/>
        </p:nvSpPr>
        <p:spPr>
          <a:xfrm>
            <a:off x="9553575" y="5631507"/>
            <a:ext cx="1559719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85" name="Text 83"/>
          <p:cNvSpPr/>
          <p:nvPr/>
        </p:nvSpPr>
        <p:spPr>
          <a:xfrm>
            <a:off x="9610725" y="5650557"/>
            <a:ext cx="1521619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Init_Win_bytes_backward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1763375" y="5631507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TCP window size (backward).</a:t>
            </a:r>
            <a:endParaRPr lang="en-US" sz="1013" dirty="0"/>
          </a:p>
        </p:txBody>
      </p:sp>
      <p:sp>
        <p:nvSpPr>
          <p:cNvPr id="87" name="Shape 85"/>
          <p:cNvSpPr/>
          <p:nvPr/>
        </p:nvSpPr>
        <p:spPr>
          <a:xfrm>
            <a:off x="9553575" y="5876181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88" name="Shape 86"/>
          <p:cNvSpPr/>
          <p:nvPr/>
        </p:nvSpPr>
        <p:spPr>
          <a:xfrm>
            <a:off x="9553575" y="5938093"/>
            <a:ext cx="931366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89" name="Text 87"/>
          <p:cNvSpPr/>
          <p:nvPr/>
        </p:nvSpPr>
        <p:spPr>
          <a:xfrm>
            <a:off x="9610725" y="5957143"/>
            <a:ext cx="893266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Down.Up.Ratio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1763375" y="5938093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Ratio of downloaded to uploaded data.</a:t>
            </a:r>
            <a:endParaRPr lang="en-US" sz="1013" dirty="0"/>
          </a:p>
        </p:txBody>
      </p:sp>
      <p:sp>
        <p:nvSpPr>
          <p:cNvPr id="91" name="Shape 89"/>
          <p:cNvSpPr/>
          <p:nvPr/>
        </p:nvSpPr>
        <p:spPr>
          <a:xfrm>
            <a:off x="9553575" y="6182767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92" name="Shape 90"/>
          <p:cNvSpPr/>
          <p:nvPr/>
        </p:nvSpPr>
        <p:spPr>
          <a:xfrm>
            <a:off x="9553575" y="6244679"/>
            <a:ext cx="994172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93" name="Text 91"/>
          <p:cNvSpPr/>
          <p:nvPr/>
        </p:nvSpPr>
        <p:spPr>
          <a:xfrm>
            <a:off x="9610725" y="6263729"/>
            <a:ext cx="956072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URG.Flag.Count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11763375" y="6244679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urgent TCP flags.</a:t>
            </a:r>
            <a:endParaRPr lang="en-US" sz="1013" dirty="0"/>
          </a:p>
        </p:txBody>
      </p:sp>
      <p:sp>
        <p:nvSpPr>
          <p:cNvPr id="95" name="Shape 93"/>
          <p:cNvSpPr/>
          <p:nvPr/>
        </p:nvSpPr>
        <p:spPr>
          <a:xfrm>
            <a:off x="9553575" y="6489353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96" name="Shape 94"/>
          <p:cNvSpPr/>
          <p:nvPr/>
        </p:nvSpPr>
        <p:spPr>
          <a:xfrm>
            <a:off x="9553575" y="6551265"/>
            <a:ext cx="994172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97" name="Text 95"/>
          <p:cNvSpPr/>
          <p:nvPr/>
        </p:nvSpPr>
        <p:spPr>
          <a:xfrm>
            <a:off x="9610725" y="6570315"/>
            <a:ext cx="956072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PSH.Flag.Count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1763375" y="6551265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of push TCP flags.</a:t>
            </a:r>
            <a:endParaRPr lang="en-US" sz="1013" dirty="0"/>
          </a:p>
        </p:txBody>
      </p:sp>
      <p:sp>
        <p:nvSpPr>
          <p:cNvPr id="99" name="Shape 97"/>
          <p:cNvSpPr/>
          <p:nvPr/>
        </p:nvSpPr>
        <p:spPr>
          <a:xfrm>
            <a:off x="9553575" y="6795939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100" name="Shape 98"/>
          <p:cNvSpPr/>
          <p:nvPr/>
        </p:nvSpPr>
        <p:spPr>
          <a:xfrm>
            <a:off x="9553575" y="6857851"/>
            <a:ext cx="617041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101" name="Text 99"/>
          <p:cNvSpPr/>
          <p:nvPr/>
        </p:nvSpPr>
        <p:spPr>
          <a:xfrm>
            <a:off x="9610725" y="6876901"/>
            <a:ext cx="578941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Idle.Min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11763375" y="6857851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idle time between flows.</a:t>
            </a:r>
            <a:endParaRPr lang="en-US" sz="1013" dirty="0"/>
          </a:p>
        </p:txBody>
      </p:sp>
      <p:sp>
        <p:nvSpPr>
          <p:cNvPr id="103" name="Shape 101"/>
          <p:cNvSpPr/>
          <p:nvPr/>
        </p:nvSpPr>
        <p:spPr>
          <a:xfrm>
            <a:off x="9553575" y="7102525"/>
            <a:ext cx="771525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53575" y="7164437"/>
            <a:ext cx="742801" cy="192286"/>
          </a:xfrm>
          <a:prstGeom prst="roundRect">
            <a:avLst>
              <a:gd name="adj" fmla="val 14861"/>
            </a:avLst>
          </a:prstGeom>
          <a:solidFill>
            <a:srgbClr val="EAE0C7"/>
          </a:solidFill>
          <a:ln/>
        </p:spPr>
      </p:sp>
      <p:sp>
        <p:nvSpPr>
          <p:cNvPr id="105" name="Text 103"/>
          <p:cNvSpPr/>
          <p:nvPr/>
        </p:nvSpPr>
        <p:spPr>
          <a:xfrm>
            <a:off x="9610725" y="7183487"/>
            <a:ext cx="704701" cy="1922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11763375" y="7164437"/>
            <a:ext cx="5670614" cy="230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deviation of active time.</a:t>
            </a:r>
            <a:endParaRPr lang="en-US" sz="1013" dirty="0"/>
          </a:p>
        </p:txBody>
      </p:sp>
      <p:sp>
        <p:nvSpPr>
          <p:cNvPr id="107" name="Shape 105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8" name="Text 106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09" name="Text 107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097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09813" y="609600"/>
            <a:ext cx="275084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DESCRIPTIVE STATISTICS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and attack distributions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67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overlap </a:t>
            </a:r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but their tails diverge.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762000" y="1781175"/>
            <a:ext cx="981075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densities of three key flow features. The bulk of each distribution sits in similar territory; the differences live in the tails and around port-range modes.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2000" y="2506861"/>
            <a:ext cx="56247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DESTINATION.PORT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762000" y="2734866"/>
            <a:ext cx="5460950" cy="1905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75" y="3220789"/>
            <a:ext cx="5175200" cy="9331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4716066"/>
            <a:ext cx="56247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105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6413450" y="2506861"/>
            <a:ext cx="56247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AVG.BWD.SEGMENT.SIZE</a:t>
            </a:r>
            <a:endParaRPr lang="en-US" sz="825" dirty="0"/>
          </a:p>
        </p:txBody>
      </p:sp>
      <p:sp>
        <p:nvSpPr>
          <p:cNvPr id="12" name="Shape 9"/>
          <p:cNvSpPr/>
          <p:nvPr/>
        </p:nvSpPr>
        <p:spPr>
          <a:xfrm>
            <a:off x="6413450" y="2734866"/>
            <a:ext cx="5460950" cy="1905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325" y="3224213"/>
            <a:ext cx="5175200" cy="9263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3450" y="4716066"/>
            <a:ext cx="56247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105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12064901" y="2506861"/>
            <a:ext cx="56247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OF PACKET.LENGTH.VARIANCE</a:t>
            </a:r>
            <a:endParaRPr lang="en-US" sz="825" dirty="0"/>
          </a:p>
        </p:txBody>
      </p:sp>
      <p:sp>
        <p:nvSpPr>
          <p:cNvPr id="16" name="Shape 12"/>
          <p:cNvSpPr/>
          <p:nvPr/>
        </p:nvSpPr>
        <p:spPr>
          <a:xfrm>
            <a:off x="12064901" y="2734866"/>
            <a:ext cx="5460950" cy="1905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7776" y="3223617"/>
            <a:ext cx="5175200" cy="9273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064901" y="4716066"/>
            <a:ext cx="5624779" cy="1762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spc="105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ATTACK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762000" y="5063728"/>
            <a:ext cx="6889700" cy="2838004"/>
          </a:xfrm>
          <a:prstGeom prst="roundRect">
            <a:avLst>
              <a:gd name="adj" fmla="val 1342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9175" y="5301853"/>
            <a:ext cx="6566611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FINDING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19175" y="5581799"/>
            <a:ext cx="6566611" cy="711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distributions are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bimodal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most flows cluster near zero, with a small subset reaching extreme right-tail values. For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benign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 is actually heavier than the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 — benign 99th percentile =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61,502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attack 99th percentile = </a:t>
            </a:r>
            <a:pPr algn="l" indent="0" marL="0">
              <a:lnSpc>
                <a:spcPct val="150000"/>
              </a:lnSpc>
              <a:buNone/>
            </a:pPr>
            <a:r>
              <a:rPr lang="en-US" sz="1163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50,047</a:t>
            </a:r>
            <a:pPr algn="l" indent="0" marL="0">
              <a:lnSpc>
                <a:spcPct val="150000"/>
              </a:lnSpc>
              <a:buNone/>
            </a:pPr>
            <a:r>
              <a:rPr lang="en-US" sz="1163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63" dirty="0"/>
          </a:p>
        </p:txBody>
      </p:sp>
      <p:sp>
        <p:nvSpPr>
          <p:cNvPr id="22" name="Shape 17"/>
          <p:cNvSpPr/>
          <p:nvPr/>
        </p:nvSpPr>
        <p:spPr>
          <a:xfrm>
            <a:off x="7880300" y="5063728"/>
            <a:ext cx="9645700" cy="2838004"/>
          </a:xfrm>
          <a:prstGeom prst="roundRect">
            <a:avLst>
              <a:gd name="adj" fmla="val 1342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137475" y="5301853"/>
            <a:ext cx="940529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· BENIGN VS ATTACK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137475" y="5829449"/>
            <a:ext cx="2927152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5" name="Text 20"/>
          <p:cNvSpPr/>
          <p:nvPr/>
        </p:nvSpPr>
        <p:spPr>
          <a:xfrm>
            <a:off x="8232725" y="5638949"/>
            <a:ext cx="282446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750" dirty="0"/>
          </a:p>
        </p:txBody>
      </p:sp>
      <p:sp>
        <p:nvSpPr>
          <p:cNvPr id="26" name="Shape 21"/>
          <p:cNvSpPr/>
          <p:nvPr/>
        </p:nvSpPr>
        <p:spPr>
          <a:xfrm>
            <a:off x="11064627" y="5829449"/>
            <a:ext cx="1114574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7" name="Text 22"/>
          <p:cNvSpPr/>
          <p:nvPr/>
        </p:nvSpPr>
        <p:spPr>
          <a:xfrm>
            <a:off x="11159877" y="5638949"/>
            <a:ext cx="1000274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12179201" y="5829449"/>
            <a:ext cx="988070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29" name="Text 24"/>
          <p:cNvSpPr/>
          <p:nvPr/>
        </p:nvSpPr>
        <p:spPr>
          <a:xfrm>
            <a:off x="12198251" y="5638949"/>
            <a:ext cx="87377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13167271" y="5829449"/>
            <a:ext cx="1494532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1" name="Text 26"/>
          <p:cNvSpPr/>
          <p:nvPr/>
        </p:nvSpPr>
        <p:spPr>
          <a:xfrm>
            <a:off x="13186321" y="5638949"/>
            <a:ext cx="1380232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14661803" y="5829449"/>
            <a:ext cx="1112044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3" name="Text 28"/>
          <p:cNvSpPr/>
          <p:nvPr/>
        </p:nvSpPr>
        <p:spPr>
          <a:xfrm>
            <a:off x="14680853" y="5638949"/>
            <a:ext cx="997744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15773846" y="5829449"/>
            <a:ext cx="1494979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35" name="Text 30"/>
          <p:cNvSpPr/>
          <p:nvPr/>
        </p:nvSpPr>
        <p:spPr>
          <a:xfrm>
            <a:off x="15792896" y="5638949"/>
            <a:ext cx="138067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750" b="1" spc="10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8137475" y="6132761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7" name="Text 32"/>
          <p:cNvSpPr/>
          <p:nvPr/>
        </p:nvSpPr>
        <p:spPr>
          <a:xfrm>
            <a:off x="8232725" y="5896124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11064627" y="6132761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9" name="Text 34"/>
          <p:cNvSpPr/>
          <p:nvPr/>
        </p:nvSpPr>
        <p:spPr>
          <a:xfrm>
            <a:off x="11159877" y="5896124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Benign</a:t>
            </a:r>
            <a:endParaRPr lang="en-US" sz="975" dirty="0"/>
          </a:p>
        </p:txBody>
      </p:sp>
      <p:sp>
        <p:nvSpPr>
          <p:cNvPr id="40" name="Shape 35"/>
          <p:cNvSpPr/>
          <p:nvPr/>
        </p:nvSpPr>
        <p:spPr>
          <a:xfrm>
            <a:off x="12179201" y="6132761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1" name="Text 36"/>
          <p:cNvSpPr/>
          <p:nvPr/>
        </p:nvSpPr>
        <p:spPr>
          <a:xfrm>
            <a:off x="12198251" y="5896124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1,611</a:t>
            </a:r>
            <a:endParaRPr lang="en-US" sz="975" dirty="0"/>
          </a:p>
        </p:txBody>
      </p:sp>
      <p:sp>
        <p:nvSpPr>
          <p:cNvPr id="42" name="Shape 37"/>
          <p:cNvSpPr/>
          <p:nvPr/>
        </p:nvSpPr>
        <p:spPr>
          <a:xfrm>
            <a:off x="13167271" y="6132761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3" name="Text 38"/>
          <p:cNvSpPr/>
          <p:nvPr/>
        </p:nvSpPr>
        <p:spPr>
          <a:xfrm>
            <a:off x="13186321" y="5896124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8,846</a:t>
            </a:r>
            <a:endParaRPr lang="en-US" sz="975" dirty="0"/>
          </a:p>
        </p:txBody>
      </p:sp>
      <p:sp>
        <p:nvSpPr>
          <p:cNvPr id="44" name="Shape 39"/>
          <p:cNvSpPr/>
          <p:nvPr/>
        </p:nvSpPr>
        <p:spPr>
          <a:xfrm>
            <a:off x="14661803" y="6132761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5" name="Text 40"/>
          <p:cNvSpPr/>
          <p:nvPr/>
        </p:nvSpPr>
        <p:spPr>
          <a:xfrm>
            <a:off x="14680853" y="5896124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975" dirty="0"/>
          </a:p>
        </p:txBody>
      </p:sp>
      <p:sp>
        <p:nvSpPr>
          <p:cNvPr id="46" name="Shape 41"/>
          <p:cNvSpPr/>
          <p:nvPr/>
        </p:nvSpPr>
        <p:spPr>
          <a:xfrm>
            <a:off x="15773846" y="6132761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7" name="Text 42"/>
          <p:cNvSpPr/>
          <p:nvPr/>
        </p:nvSpPr>
        <p:spPr>
          <a:xfrm>
            <a:off x="15792896" y="5896124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19,146</a:t>
            </a:r>
            <a:endParaRPr lang="en-US" sz="975" dirty="0"/>
          </a:p>
        </p:txBody>
      </p:sp>
      <p:sp>
        <p:nvSpPr>
          <p:cNvPr id="48" name="Shape 43"/>
          <p:cNvSpPr/>
          <p:nvPr/>
        </p:nvSpPr>
        <p:spPr>
          <a:xfrm>
            <a:off x="8137475" y="6436072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9" name="Text 44"/>
          <p:cNvSpPr/>
          <p:nvPr/>
        </p:nvSpPr>
        <p:spPr>
          <a:xfrm>
            <a:off x="8232725" y="6199436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8A8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11064627" y="6436072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1" name="Text 46"/>
          <p:cNvSpPr/>
          <p:nvPr/>
        </p:nvSpPr>
        <p:spPr>
          <a:xfrm>
            <a:off x="11159877" y="6199436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B33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</a:t>
            </a:r>
            <a:endParaRPr lang="en-US" sz="975" dirty="0"/>
          </a:p>
        </p:txBody>
      </p:sp>
      <p:sp>
        <p:nvSpPr>
          <p:cNvPr id="52" name="Shape 47"/>
          <p:cNvSpPr/>
          <p:nvPr/>
        </p:nvSpPr>
        <p:spPr>
          <a:xfrm>
            <a:off x="12179201" y="6436072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3" name="Text 48"/>
          <p:cNvSpPr/>
          <p:nvPr/>
        </p:nvSpPr>
        <p:spPr>
          <a:xfrm>
            <a:off x="12198251" y="6199436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386</a:t>
            </a:r>
            <a:endParaRPr lang="en-US" sz="975" dirty="0"/>
          </a:p>
        </p:txBody>
      </p:sp>
      <p:sp>
        <p:nvSpPr>
          <p:cNvPr id="54" name="Shape 49"/>
          <p:cNvSpPr/>
          <p:nvPr/>
        </p:nvSpPr>
        <p:spPr>
          <a:xfrm>
            <a:off x="13167271" y="6436072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5" name="Text 50"/>
          <p:cNvSpPr/>
          <p:nvPr/>
        </p:nvSpPr>
        <p:spPr>
          <a:xfrm>
            <a:off x="13186321" y="6199436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3,477</a:t>
            </a:r>
            <a:endParaRPr lang="en-US" sz="975" dirty="0"/>
          </a:p>
        </p:txBody>
      </p:sp>
      <p:sp>
        <p:nvSpPr>
          <p:cNvPr id="56" name="Shape 51"/>
          <p:cNvSpPr/>
          <p:nvPr/>
        </p:nvSpPr>
        <p:spPr>
          <a:xfrm>
            <a:off x="14661803" y="6436072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7" name="Text 52"/>
          <p:cNvSpPr/>
          <p:nvPr/>
        </p:nvSpPr>
        <p:spPr>
          <a:xfrm>
            <a:off x="14680853" y="6199436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975" dirty="0"/>
          </a:p>
        </p:txBody>
      </p:sp>
      <p:sp>
        <p:nvSpPr>
          <p:cNvPr id="58" name="Shape 53"/>
          <p:cNvSpPr/>
          <p:nvPr/>
        </p:nvSpPr>
        <p:spPr>
          <a:xfrm>
            <a:off x="15773846" y="6436072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59" name="Text 54"/>
          <p:cNvSpPr/>
          <p:nvPr/>
        </p:nvSpPr>
        <p:spPr>
          <a:xfrm>
            <a:off x="15792896" y="6199436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9,250</a:t>
            </a:r>
            <a:endParaRPr lang="en-US" sz="975" dirty="0"/>
          </a:p>
        </p:txBody>
      </p:sp>
      <p:sp>
        <p:nvSpPr>
          <p:cNvPr id="60" name="Shape 55"/>
          <p:cNvSpPr/>
          <p:nvPr/>
        </p:nvSpPr>
        <p:spPr>
          <a:xfrm>
            <a:off x="8137475" y="6739384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1" name="Text 56"/>
          <p:cNvSpPr/>
          <p:nvPr/>
        </p:nvSpPr>
        <p:spPr>
          <a:xfrm>
            <a:off x="8232725" y="6502747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11064627" y="6739384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3" name="Text 58"/>
          <p:cNvSpPr/>
          <p:nvPr/>
        </p:nvSpPr>
        <p:spPr>
          <a:xfrm>
            <a:off x="11159877" y="6502747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Benign</a:t>
            </a:r>
            <a:endParaRPr lang="en-US" sz="975" dirty="0"/>
          </a:p>
        </p:txBody>
      </p:sp>
      <p:sp>
        <p:nvSpPr>
          <p:cNvPr id="64" name="Shape 59"/>
          <p:cNvSpPr/>
          <p:nvPr/>
        </p:nvSpPr>
        <p:spPr>
          <a:xfrm>
            <a:off x="12179201" y="6739384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5" name="Text 60"/>
          <p:cNvSpPr/>
          <p:nvPr/>
        </p:nvSpPr>
        <p:spPr>
          <a:xfrm>
            <a:off x="12198251" y="6502747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1,611</a:t>
            </a:r>
            <a:endParaRPr lang="en-US" sz="975" dirty="0"/>
          </a:p>
        </p:txBody>
      </p:sp>
      <p:sp>
        <p:nvSpPr>
          <p:cNvPr id="66" name="Shape 61"/>
          <p:cNvSpPr/>
          <p:nvPr/>
        </p:nvSpPr>
        <p:spPr>
          <a:xfrm>
            <a:off x="13167271" y="6739384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7" name="Text 62"/>
          <p:cNvSpPr/>
          <p:nvPr/>
        </p:nvSpPr>
        <p:spPr>
          <a:xfrm>
            <a:off x="13186321" y="6502747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155</a:t>
            </a:r>
            <a:endParaRPr lang="en-US" sz="975" dirty="0"/>
          </a:p>
        </p:txBody>
      </p:sp>
      <p:sp>
        <p:nvSpPr>
          <p:cNvPr id="68" name="Shape 63"/>
          <p:cNvSpPr/>
          <p:nvPr/>
        </p:nvSpPr>
        <p:spPr>
          <a:xfrm>
            <a:off x="14661803" y="6739384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9" name="Text 64"/>
          <p:cNvSpPr/>
          <p:nvPr/>
        </p:nvSpPr>
        <p:spPr>
          <a:xfrm>
            <a:off x="14680853" y="6502747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77</a:t>
            </a:r>
            <a:endParaRPr lang="en-US" sz="975" dirty="0"/>
          </a:p>
        </p:txBody>
      </p:sp>
      <p:sp>
        <p:nvSpPr>
          <p:cNvPr id="70" name="Shape 65"/>
          <p:cNvSpPr/>
          <p:nvPr/>
        </p:nvSpPr>
        <p:spPr>
          <a:xfrm>
            <a:off x="15773846" y="6739384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1" name="Text 66"/>
          <p:cNvSpPr/>
          <p:nvPr/>
        </p:nvSpPr>
        <p:spPr>
          <a:xfrm>
            <a:off x="15792896" y="6502747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278</a:t>
            </a:r>
            <a:endParaRPr lang="en-US" sz="975" dirty="0"/>
          </a:p>
        </p:txBody>
      </p:sp>
      <p:sp>
        <p:nvSpPr>
          <p:cNvPr id="72" name="Shape 67"/>
          <p:cNvSpPr/>
          <p:nvPr/>
        </p:nvSpPr>
        <p:spPr>
          <a:xfrm>
            <a:off x="8137475" y="7042696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3" name="Text 68"/>
          <p:cNvSpPr/>
          <p:nvPr/>
        </p:nvSpPr>
        <p:spPr>
          <a:xfrm>
            <a:off x="8232725" y="6806059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8A8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11064627" y="7042696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5" name="Text 70"/>
          <p:cNvSpPr/>
          <p:nvPr/>
        </p:nvSpPr>
        <p:spPr>
          <a:xfrm>
            <a:off x="11159877" y="6806059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B33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</a:t>
            </a:r>
            <a:endParaRPr lang="en-US" sz="975" dirty="0"/>
          </a:p>
        </p:txBody>
      </p:sp>
      <p:sp>
        <p:nvSpPr>
          <p:cNvPr id="76" name="Shape 71"/>
          <p:cNvSpPr/>
          <p:nvPr/>
        </p:nvSpPr>
        <p:spPr>
          <a:xfrm>
            <a:off x="12179201" y="7042696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7" name="Text 72"/>
          <p:cNvSpPr/>
          <p:nvPr/>
        </p:nvSpPr>
        <p:spPr>
          <a:xfrm>
            <a:off x="12198251" y="6806059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386</a:t>
            </a:r>
            <a:endParaRPr lang="en-US" sz="975" dirty="0"/>
          </a:p>
        </p:txBody>
      </p:sp>
      <p:sp>
        <p:nvSpPr>
          <p:cNvPr id="78" name="Shape 73"/>
          <p:cNvSpPr/>
          <p:nvPr/>
        </p:nvSpPr>
        <p:spPr>
          <a:xfrm>
            <a:off x="13167271" y="7042696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79" name="Text 74"/>
          <p:cNvSpPr/>
          <p:nvPr/>
        </p:nvSpPr>
        <p:spPr>
          <a:xfrm>
            <a:off x="13186321" y="6806059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854</a:t>
            </a:r>
            <a:endParaRPr lang="en-US" sz="975" dirty="0"/>
          </a:p>
        </p:txBody>
      </p:sp>
      <p:sp>
        <p:nvSpPr>
          <p:cNvPr id="80" name="Shape 75"/>
          <p:cNvSpPr/>
          <p:nvPr/>
        </p:nvSpPr>
        <p:spPr>
          <a:xfrm>
            <a:off x="14661803" y="7042696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1" name="Text 76"/>
          <p:cNvSpPr/>
          <p:nvPr/>
        </p:nvSpPr>
        <p:spPr>
          <a:xfrm>
            <a:off x="14680853" y="6806059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75" dirty="0"/>
          </a:p>
        </p:txBody>
      </p:sp>
      <p:sp>
        <p:nvSpPr>
          <p:cNvPr id="82" name="Shape 77"/>
          <p:cNvSpPr/>
          <p:nvPr/>
        </p:nvSpPr>
        <p:spPr>
          <a:xfrm>
            <a:off x="15773846" y="7042696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3" name="Text 78"/>
          <p:cNvSpPr/>
          <p:nvPr/>
        </p:nvSpPr>
        <p:spPr>
          <a:xfrm>
            <a:off x="15792896" y="6806059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1,115</a:t>
            </a:r>
            <a:endParaRPr lang="en-US" sz="975" dirty="0"/>
          </a:p>
        </p:txBody>
      </p:sp>
      <p:sp>
        <p:nvSpPr>
          <p:cNvPr id="84" name="Shape 79"/>
          <p:cNvSpPr/>
          <p:nvPr/>
        </p:nvSpPr>
        <p:spPr>
          <a:xfrm>
            <a:off x="8137475" y="7346007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5" name="Text 80"/>
          <p:cNvSpPr/>
          <p:nvPr/>
        </p:nvSpPr>
        <p:spPr>
          <a:xfrm>
            <a:off x="8232725" y="7109371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Packet.Length.Variance</a:t>
            </a:r>
            <a:endParaRPr 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11064627" y="7346007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7" name="Text 82"/>
          <p:cNvSpPr/>
          <p:nvPr/>
        </p:nvSpPr>
        <p:spPr>
          <a:xfrm>
            <a:off x="11159877" y="7109371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Benign</a:t>
            </a:r>
            <a:endParaRPr lang="en-US" sz="975" dirty="0"/>
          </a:p>
        </p:txBody>
      </p:sp>
      <p:sp>
        <p:nvSpPr>
          <p:cNvPr id="88" name="Shape 83"/>
          <p:cNvSpPr/>
          <p:nvPr/>
        </p:nvSpPr>
        <p:spPr>
          <a:xfrm>
            <a:off x="12179201" y="7346007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9" name="Text 84"/>
          <p:cNvSpPr/>
          <p:nvPr/>
        </p:nvSpPr>
        <p:spPr>
          <a:xfrm>
            <a:off x="12198251" y="7109371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1,611</a:t>
            </a:r>
            <a:endParaRPr lang="en-US" sz="975" dirty="0"/>
          </a:p>
        </p:txBody>
      </p:sp>
      <p:sp>
        <p:nvSpPr>
          <p:cNvPr id="90" name="Shape 85"/>
          <p:cNvSpPr/>
          <p:nvPr/>
        </p:nvSpPr>
        <p:spPr>
          <a:xfrm>
            <a:off x="13167271" y="7346007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1" name="Text 86"/>
          <p:cNvSpPr/>
          <p:nvPr/>
        </p:nvSpPr>
        <p:spPr>
          <a:xfrm>
            <a:off x="13186321" y="7109371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119,028</a:t>
            </a:r>
            <a:endParaRPr lang="en-US" sz="975" dirty="0"/>
          </a:p>
        </p:txBody>
      </p:sp>
      <p:sp>
        <p:nvSpPr>
          <p:cNvPr id="92" name="Shape 87"/>
          <p:cNvSpPr/>
          <p:nvPr/>
        </p:nvSpPr>
        <p:spPr>
          <a:xfrm>
            <a:off x="14661803" y="7346007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3" name="Text 88"/>
          <p:cNvSpPr/>
          <p:nvPr/>
        </p:nvSpPr>
        <p:spPr>
          <a:xfrm>
            <a:off x="14680853" y="7109371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811</a:t>
            </a:r>
            <a:endParaRPr lang="en-US" sz="975" dirty="0"/>
          </a:p>
        </p:txBody>
      </p:sp>
      <p:sp>
        <p:nvSpPr>
          <p:cNvPr id="94" name="Shape 89"/>
          <p:cNvSpPr/>
          <p:nvPr/>
        </p:nvSpPr>
        <p:spPr>
          <a:xfrm>
            <a:off x="15773846" y="7346007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5" name="Text 90"/>
          <p:cNvSpPr/>
          <p:nvPr/>
        </p:nvSpPr>
        <p:spPr>
          <a:xfrm>
            <a:off x="15792896" y="7109371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613,694</a:t>
            </a:r>
            <a:endParaRPr lang="en-US" sz="975" dirty="0"/>
          </a:p>
        </p:txBody>
      </p:sp>
      <p:sp>
        <p:nvSpPr>
          <p:cNvPr id="96" name="Shape 91"/>
          <p:cNvSpPr/>
          <p:nvPr/>
        </p:nvSpPr>
        <p:spPr>
          <a:xfrm>
            <a:off x="8137475" y="7649319"/>
            <a:ext cx="292715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7" name="Text 92"/>
          <p:cNvSpPr/>
          <p:nvPr/>
        </p:nvSpPr>
        <p:spPr>
          <a:xfrm>
            <a:off x="8232725" y="7412682"/>
            <a:ext cx="282446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dirty="0">
                <a:solidFill>
                  <a:srgbClr val="8A8E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Packet.Length.Variance</a:t>
            </a:r>
            <a:endParaRPr lang="en-US" sz="900" dirty="0"/>
          </a:p>
        </p:txBody>
      </p:sp>
      <p:sp>
        <p:nvSpPr>
          <p:cNvPr id="98" name="Shape 93"/>
          <p:cNvSpPr/>
          <p:nvPr/>
        </p:nvSpPr>
        <p:spPr>
          <a:xfrm>
            <a:off x="11064627" y="7649319"/>
            <a:ext cx="111457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9" name="Text 94"/>
          <p:cNvSpPr/>
          <p:nvPr/>
        </p:nvSpPr>
        <p:spPr>
          <a:xfrm>
            <a:off x="11159877" y="7412682"/>
            <a:ext cx="100027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b="1" dirty="0">
                <a:solidFill>
                  <a:srgbClr val="B33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</a:t>
            </a:r>
            <a:endParaRPr lang="en-US" sz="975" dirty="0"/>
          </a:p>
        </p:txBody>
      </p:sp>
      <p:sp>
        <p:nvSpPr>
          <p:cNvPr id="100" name="Shape 95"/>
          <p:cNvSpPr/>
          <p:nvPr/>
        </p:nvSpPr>
        <p:spPr>
          <a:xfrm>
            <a:off x="12179201" y="7649319"/>
            <a:ext cx="98807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1" name="Text 96"/>
          <p:cNvSpPr/>
          <p:nvPr/>
        </p:nvSpPr>
        <p:spPr>
          <a:xfrm>
            <a:off x="12198251" y="7412682"/>
            <a:ext cx="873770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386</a:t>
            </a:r>
            <a:endParaRPr lang="en-US" sz="975" dirty="0"/>
          </a:p>
        </p:txBody>
      </p:sp>
      <p:sp>
        <p:nvSpPr>
          <p:cNvPr id="102" name="Shape 97"/>
          <p:cNvSpPr/>
          <p:nvPr/>
        </p:nvSpPr>
        <p:spPr>
          <a:xfrm>
            <a:off x="13167271" y="7649319"/>
            <a:ext cx="1494532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3" name="Text 98"/>
          <p:cNvSpPr/>
          <p:nvPr/>
        </p:nvSpPr>
        <p:spPr>
          <a:xfrm>
            <a:off x="13186321" y="7412682"/>
            <a:ext cx="1380232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2,348,052</a:t>
            </a:r>
            <a:endParaRPr lang="en-US" sz="975" dirty="0"/>
          </a:p>
        </p:txBody>
      </p:sp>
      <p:sp>
        <p:nvSpPr>
          <p:cNvPr id="104" name="Shape 99"/>
          <p:cNvSpPr/>
          <p:nvPr/>
        </p:nvSpPr>
        <p:spPr>
          <a:xfrm>
            <a:off x="14661803" y="7649319"/>
            <a:ext cx="1112044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5" name="Text 100"/>
          <p:cNvSpPr/>
          <p:nvPr/>
        </p:nvSpPr>
        <p:spPr>
          <a:xfrm>
            <a:off x="14680853" y="7412682"/>
            <a:ext cx="997744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75" dirty="0"/>
          </a:p>
        </p:txBody>
      </p:sp>
      <p:sp>
        <p:nvSpPr>
          <p:cNvPr id="106" name="Shape 101"/>
          <p:cNvSpPr/>
          <p:nvPr/>
        </p:nvSpPr>
        <p:spPr>
          <a:xfrm>
            <a:off x="15773846" y="7649319"/>
            <a:ext cx="1494979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7" name="Text 102"/>
          <p:cNvSpPr/>
          <p:nvPr/>
        </p:nvSpPr>
        <p:spPr>
          <a:xfrm>
            <a:off x="15792896" y="7412682"/>
            <a:ext cx="1380679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4,020,224</a:t>
            </a:r>
            <a:endParaRPr lang="en-US" sz="975" dirty="0"/>
          </a:p>
        </p:txBody>
      </p:sp>
      <p:sp>
        <p:nvSpPr>
          <p:cNvPr id="108" name="Shape 103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9" name="Text 104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10" name="Text 105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0971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09813" y="609600"/>
            <a:ext cx="216723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CATEGORICAL RISK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port category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67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anomaly </a:t>
            </a:r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where attacks hide.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762000" y="1781175"/>
            <a:ext cx="9810750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mapped </a:t>
            </a:r>
            <a:pPr algn="l" indent="0" marL="0">
              <a:lnSpc>
                <a:spcPct val="145000"/>
              </a:lnSpc>
              <a:buNone/>
            </a:pPr>
            <a:r>
              <a:rPr lang="en-US" sz="1148" i="1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 </a:t>
            </a:r>
            <a:pPr algn="l" indent="0" marL="0">
              <a:lnSpc>
                <a:spcPct val="145000"/>
              </a:lnSpc>
              <a:buNone/>
            </a:pPr>
            <a:r>
              <a:rPr lang="en-US" sz="13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three IANA ranges, then measured how often each range carries an attack.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62000" y="2334518"/>
            <a:ext cx="5460950" cy="2022872"/>
          </a:xfrm>
          <a:prstGeom prst="roundRect">
            <a:avLst>
              <a:gd name="adj" fmla="val 188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0125" y="2553593"/>
            <a:ext cx="513424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1000125" y="2819698"/>
            <a:ext cx="5134241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50" spc="-19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Ports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000125" y="3194000"/>
            <a:ext cx="513424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49 152 – 65 535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1000125" y="3525887"/>
            <a:ext cx="4984700" cy="209550"/>
          </a:xfrm>
          <a:prstGeom prst="roundRect">
            <a:avLst>
              <a:gd name="adj" fmla="val 13636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" y="3535412"/>
            <a:ext cx="4756993" cy="190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535412"/>
            <a:ext cx="474730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45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95.8% benign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766643" y="3535412"/>
            <a:ext cx="208508" cy="1905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0125" y="3925937"/>
            <a:ext cx="513424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4.2% attack rate — the cleanest range.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13450" y="2334518"/>
            <a:ext cx="5460950" cy="2022872"/>
          </a:xfrm>
          <a:prstGeom prst="roundRect">
            <a:avLst>
              <a:gd name="adj" fmla="val 1883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1575" y="2553593"/>
            <a:ext cx="513424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6651575" y="2819698"/>
            <a:ext cx="5134241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50" spc="-19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Well-known Ports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6651575" y="3194000"/>
            <a:ext cx="513424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– 1 023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6651575" y="3525887"/>
            <a:ext cx="4984700" cy="209550"/>
          </a:xfrm>
          <a:prstGeom prst="roundRect">
            <a:avLst>
              <a:gd name="adj" fmla="val 13636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61100" y="3535412"/>
            <a:ext cx="4106466" cy="190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37300" y="3535412"/>
            <a:ext cx="407726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45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82.7% benign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67566" y="3535412"/>
            <a:ext cx="859036" cy="1905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0843766" y="3535412"/>
            <a:ext cx="78283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45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17.3%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651575" y="3925937"/>
            <a:ext cx="513424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17.3% attack rate — elevated.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2064901" y="2334518"/>
            <a:ext cx="5460950" cy="2022872"/>
          </a:xfrm>
          <a:prstGeom prst="roundRect">
            <a:avLst>
              <a:gd name="adj" fmla="val 1883"/>
            </a:avLst>
          </a:prstGeom>
          <a:solidFill>
            <a:srgbClr val="FAEFE9"/>
          </a:solidFill>
          <a:ln w="9525">
            <a:solidFill>
              <a:srgbClr val="E5B5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03026" y="2553593"/>
            <a:ext cx="513424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12303026" y="2819698"/>
            <a:ext cx="5134241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50" spc="-19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Ports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2303026" y="3194000"/>
            <a:ext cx="513424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75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1 024 – 49 151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12303026" y="3525887"/>
            <a:ext cx="4984700" cy="209550"/>
          </a:xfrm>
          <a:prstGeom prst="roundRect">
            <a:avLst>
              <a:gd name="adj" fmla="val 13636"/>
            </a:avLst>
          </a:prstGeom>
          <a:ln w="9525">
            <a:solidFill>
              <a:srgbClr val="D7CDB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312551" y="3535412"/>
            <a:ext cx="2760762" cy="190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12388751" y="3535412"/>
            <a:ext cx="269118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45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55.6% benign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5073313" y="3535412"/>
            <a:ext cx="2204740" cy="190500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34" name="Text 32"/>
          <p:cNvSpPr/>
          <p:nvPr/>
        </p:nvSpPr>
        <p:spPr>
          <a:xfrm>
            <a:off x="15149512" y="3535412"/>
            <a:ext cx="21285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50" b="1" spc="45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44.4%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2303026" y="3925937"/>
            <a:ext cx="513424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Nearly half of all flows here are hostile.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2000" y="4624090"/>
            <a:ext cx="16764000" cy="1055191"/>
          </a:xfrm>
          <a:prstGeom prst="roundRect">
            <a:avLst>
              <a:gd name="adj" fmla="val 3611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8225" y="4929783"/>
            <a:ext cx="14614492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INDEPENDENCE TEST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38225" y="5152579"/>
            <a:ext cx="14614492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significant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relationship between destination-port category and attack status — the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range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 real, statistical hot zone, not noise.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5455652" y="4843165"/>
            <a:ext cx="1794123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χ² = </a:t>
            </a:r>
            <a:pPr algn="r" indent="0" marL="0">
              <a:lnSpc>
                <a:spcPct val="180000"/>
              </a:lnSpc>
              <a:buNone/>
            </a:pPr>
            <a:r>
              <a:rPr lang="en-US" sz="1650" b="1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135.83 </a:t>
            </a:r>
            <a:pPr algn="r"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2 p &lt; </a:t>
            </a:r>
            <a:pPr algn="r" indent="0" marL="0">
              <a:lnSpc>
                <a:spcPct val="180000"/>
              </a:lnSpc>
              <a:buNone/>
            </a:pPr>
            <a:r>
              <a:rPr lang="en-US" sz="1050" b="1" dirty="0">
                <a:solidFill>
                  <a:srgbClr val="B33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2.22e-16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1" name="Text 39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66315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PRE-MODELING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463254" y="609600"/>
            <a:ext cx="24117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VARIABLE SELECTION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Pruning the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redundant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predictors.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03338"/>
            <a:ext cx="9810750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either model is fit, we screen the candidates for multicollinearity. Heavily redundant variables are cut by correlation prune, then by stepwise BIC, then by iterative VIF pruning (logistic only).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762000" y="2344192"/>
            <a:ext cx="16764000" cy="977354"/>
          </a:xfrm>
          <a:prstGeom prst="roundRect">
            <a:avLst>
              <a:gd name="adj" fmla="val 38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925" y="2487067"/>
            <a:ext cx="3135454" cy="169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13" b="1" spc="114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INPUT</a:t>
            </a:r>
            <a:endParaRPr lang="en-US" sz="713" dirty="0"/>
          </a:p>
        </p:txBody>
      </p:sp>
      <p:sp>
        <p:nvSpPr>
          <p:cNvPr id="9" name="Text 7"/>
          <p:cNvSpPr/>
          <p:nvPr/>
        </p:nvSpPr>
        <p:spPr>
          <a:xfrm>
            <a:off x="923925" y="2694384"/>
            <a:ext cx="3135454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</a:t>
            </a:r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23925" y="3037284"/>
            <a:ext cx="3135454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CICIDS2017 flow features after CSV cleanup.</a:t>
            </a:r>
            <a:endParaRPr lang="en-US" sz="825" dirty="0"/>
          </a:p>
        </p:txBody>
      </p:sp>
      <p:sp>
        <p:nvSpPr>
          <p:cNvPr id="11" name="Shape 9"/>
          <p:cNvSpPr/>
          <p:nvPr/>
        </p:nvSpPr>
        <p:spPr>
          <a:xfrm>
            <a:off x="4120455" y="2353717"/>
            <a:ext cx="9525" cy="958304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Text 10"/>
          <p:cNvSpPr/>
          <p:nvPr/>
        </p:nvSpPr>
        <p:spPr>
          <a:xfrm>
            <a:off x="4282380" y="2487067"/>
            <a:ext cx="3125644" cy="169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13" b="1" spc="114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+ NON-DEGENERATE</a:t>
            </a:r>
            <a:endParaRPr lang="en-US" sz="713" dirty="0"/>
          </a:p>
        </p:txBody>
      </p:sp>
      <p:sp>
        <p:nvSpPr>
          <p:cNvPr id="13" name="Text 11"/>
          <p:cNvSpPr/>
          <p:nvPr/>
        </p:nvSpPr>
        <p:spPr>
          <a:xfrm>
            <a:off x="4282380" y="2694384"/>
            <a:ext cx="312564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note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282380" y="2942034"/>
            <a:ext cx="3125644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Zero-variance and non-numeric columns dropped.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7469386" y="2353717"/>
            <a:ext cx="9525" cy="958304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Text 14"/>
          <p:cNvSpPr/>
          <p:nvPr/>
        </p:nvSpPr>
        <p:spPr>
          <a:xfrm>
            <a:off x="7631311" y="2487067"/>
            <a:ext cx="3125797" cy="169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13" b="1" spc="114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 &gt; 0.9 PRUNE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7631311" y="2694384"/>
            <a:ext cx="312579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note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631311" y="2942034"/>
            <a:ext cx="3125797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correlated pairs removed.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10818465" y="2353717"/>
            <a:ext cx="9525" cy="958304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0" name="Text 18"/>
          <p:cNvSpPr/>
          <p:nvPr/>
        </p:nvSpPr>
        <p:spPr>
          <a:xfrm>
            <a:off x="10980390" y="2487067"/>
            <a:ext cx="3125644" cy="169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13" b="1" spc="114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BIC</a:t>
            </a:r>
            <a:endParaRPr lang="en-US" sz="713" dirty="0"/>
          </a:p>
        </p:txBody>
      </p:sp>
      <p:sp>
        <p:nvSpPr>
          <p:cNvPr id="21" name="Text 19"/>
          <p:cNvSpPr/>
          <p:nvPr/>
        </p:nvSpPr>
        <p:spPr>
          <a:xfrm>
            <a:off x="10980390" y="2694384"/>
            <a:ext cx="312564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8A8E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 </a:t>
            </a:r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980390" y="2980134"/>
            <a:ext cx="3125644" cy="182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predictors for MLR · 13 for logistic (in </a:t>
            </a:r>
            <a:pPr algn="l" indent="0" marL="0">
              <a:lnSpc>
                <a:spcPct val="135000"/>
              </a:lnSpc>
              <a:buNone/>
            </a:pPr>
            <a:r>
              <a:rPr lang="en-US" sz="788" i="1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glm_data.csv</a:t>
            </a:r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14167396" y="2353717"/>
            <a:ext cx="9525" cy="958304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Text 22"/>
          <p:cNvSpPr/>
          <p:nvPr/>
        </p:nvSpPr>
        <p:spPr>
          <a:xfrm>
            <a:off x="14329321" y="2487067"/>
            <a:ext cx="3125797" cy="169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13" b="1" spc="114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PRUNE · LOGISTIC ONLY</a:t>
            </a:r>
            <a:endParaRPr lang="en-US" sz="713" dirty="0"/>
          </a:p>
        </p:txBody>
      </p:sp>
      <p:sp>
        <p:nvSpPr>
          <p:cNvPr id="25" name="Text 23"/>
          <p:cNvSpPr/>
          <p:nvPr/>
        </p:nvSpPr>
        <p:spPr>
          <a:xfrm>
            <a:off x="14329321" y="2694384"/>
            <a:ext cx="312579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pPr algn="l" indent="0" marL="0">
              <a:lnSpc>
                <a:spcPct val="100000"/>
              </a:lnSpc>
              <a:buNone/>
            </a:pPr>
            <a:r>
              <a:rPr lang="en-US" sz="825" b="1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4329321" y="2980134"/>
            <a:ext cx="3125797" cy="1826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Iterative prune of VIF &gt; 5 in </a:t>
            </a:r>
            <a:pPr algn="l" indent="0" marL="0">
              <a:lnSpc>
                <a:spcPct val="135000"/>
              </a:lnSpc>
              <a:buNone/>
            </a:pPr>
            <a:r>
              <a:rPr lang="en-US" sz="788" i="1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Logistic.R </a:t>
            </a:r>
            <a:pPr algn="l" indent="0" marL="0">
              <a:lnSpc>
                <a:spcPct val="135000"/>
              </a:lnSpc>
              <a:buNone/>
            </a:pPr>
            <a:r>
              <a:rPr lang="en-US" sz="8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drops 2 of the 13.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762000" y="3454896"/>
            <a:ext cx="17266920" cy="210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38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Intermediate column counts after the zero-variance drop and the |r| &gt; 0.9 pairwise prune (chips 2 and 3) are not reported in this deck — the raw CICIDS files are held by a different team member, so the in-between counts were not re-computed locally. The pipeline endpoints (79, 8, 13, 11) are exact.</a:t>
            </a:r>
            <a:endParaRPr lang="en-US" sz="938" dirty="0"/>
          </a:p>
        </p:txBody>
      </p:sp>
      <p:sp>
        <p:nvSpPr>
          <p:cNvPr id="28" name="Text 26"/>
          <p:cNvSpPr/>
          <p:nvPr/>
        </p:nvSpPr>
        <p:spPr>
          <a:xfrm>
            <a:off x="762000" y="3760887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 PREDICTOR CORRELATIONS · PHASE 1 · 8 VARS</a:t>
            </a:r>
            <a:endParaRPr lang="en-US" sz="825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2000" y="3988891"/>
            <a:ext cx="8267700" cy="43815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9258300" y="3760887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PREDICTOR CORRELATIONS · PHASE 2 · 13 VARS (POST-BIC, PRE-VIF)</a:t>
            </a:r>
            <a:endParaRPr lang="en-US" sz="825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58300" y="3988891"/>
            <a:ext cx="8267700" cy="438150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62000" y="8503741"/>
            <a:ext cx="16678275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matrices show intense pockets of correlation (dark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navy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firebrick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particularly among packet-size and length variables. All pairs with |r| &gt; 0.9 were pruned before stepwise BIC.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4" name="Text 30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3861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MLR SETUP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the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67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</a:t>
            </a:r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normal traffic.</a:t>
            </a:r>
            <a:endParaRPr lang="en-US" sz="3750" dirty="0"/>
          </a:p>
        </p:txBody>
      </p:sp>
      <p:sp>
        <p:nvSpPr>
          <p:cNvPr id="6" name="Shape 4"/>
          <p:cNvSpPr/>
          <p:nvPr/>
        </p:nvSpPr>
        <p:spPr>
          <a:xfrm>
            <a:off x="762000" y="2028825"/>
            <a:ext cx="342900" cy="34290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" y="2038350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276350" y="2085975"/>
            <a:ext cx="633881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SCOPE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1276350" y="2294930"/>
            <a:ext cx="633881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First-order terms only — no interactions or polynomial expansions. Keep the model interpretable.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762000" y="2647355"/>
            <a:ext cx="684207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762000" y="2809280"/>
            <a:ext cx="342900" cy="34290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425" y="2818805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6350" y="2866430"/>
            <a:ext cx="5205983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SELECTION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1276350" y="3075384"/>
            <a:ext cx="520598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Stepwise BIC applied to the benign-only dataset to find the leanest predictor set.</a:t>
            </a:r>
            <a:endParaRPr lang="en-US" sz="1125" dirty="0"/>
          </a:p>
        </p:txBody>
      </p:sp>
      <p:sp>
        <p:nvSpPr>
          <p:cNvPr id="15" name="Shape 13"/>
          <p:cNvSpPr/>
          <p:nvPr/>
        </p:nvSpPr>
        <p:spPr>
          <a:xfrm>
            <a:off x="762000" y="3427809"/>
            <a:ext cx="684207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3589734"/>
            <a:ext cx="342900" cy="342900"/>
          </a:xfrm>
          <a:prstGeom prst="ellipse">
            <a:avLst/>
          </a:prstGeom>
          <a:solidFill>
            <a:srgbClr val="FBF7EC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425" y="359925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76350" y="3646884"/>
            <a:ext cx="4605687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276350" y="3855839"/>
            <a:ext cx="460568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25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predictors </a:t>
            </a:r>
            <a:pPr algn="l" indent="0" marL="0">
              <a:lnSpc>
                <a:spcPct val="14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retained to model Flow.Bytes — see VIF check to the right.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7946975" y="1876425"/>
            <a:ext cx="9866395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MULTICOLLINEARITY CHECK · VIF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7946975" y="2142530"/>
            <a:ext cx="9579025" cy="2188369"/>
          </a:xfrm>
          <a:prstGeom prst="roundRect">
            <a:avLst>
              <a:gd name="adj" fmla="val 2612"/>
            </a:avLst>
          </a:prstGeom>
          <a:solidFill>
            <a:srgbClr val="15181F"/>
          </a:solidFill>
          <a:ln/>
        </p:spPr>
      </p:sp>
      <p:sp>
        <p:nvSpPr>
          <p:cNvPr id="22" name="Text 20"/>
          <p:cNvSpPr/>
          <p:nvPr/>
        </p:nvSpPr>
        <p:spPr>
          <a:xfrm>
            <a:off x="8156525" y="2313980"/>
            <a:ext cx="9447295" cy="1883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38" i="1" dirty="0">
                <a:solidFill>
                  <a:srgbClr val="6B73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Variance Inflation Factor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D4B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vif_values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&lt;- car::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(m1)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(vif_values)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    act_data_pkt_fwd        PSH.Flag.Count   Avg.Bwd.Segment.Size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             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1.720699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2.261688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938" b="1" dirty="0">
                <a:solidFill>
                  <a:srgbClr val="D4B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5.937063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Bwd.Packet.Length.Std  Bwd.Packet.Length.Min    min_seg_size_forward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             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b="1" dirty="0">
                <a:solidFill>
                  <a:srgbClr val="D4B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6.830515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1.769534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1.038479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         Active.Std              Active.Max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##               </a:t>
            </a:r>
            <a:endParaRPr lang="en-US" sz="938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2.406375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E8DEC4"/>
                </a:solidFill>
                <a:highlight>
                  <a:srgbClr val="15181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algn="l" indent="0" marL="0">
              <a:lnSpc>
                <a:spcPct val="155000"/>
              </a:lnSpc>
              <a:buNone/>
            </a:pPr>
            <a:r>
              <a:rPr lang="en-US" sz="938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2.545160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7946975" y="4464248"/>
            <a:ext cx="9579025" cy="1146721"/>
          </a:xfrm>
          <a:prstGeom prst="roundRect">
            <a:avLst>
              <a:gd name="adj" fmla="val 3323"/>
            </a:avLst>
          </a:prstGeom>
          <a:solidFill>
            <a:srgbClr val="FBF7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946975" y="5601444"/>
            <a:ext cx="957902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5" name="Shape 23"/>
          <p:cNvSpPr/>
          <p:nvPr/>
        </p:nvSpPr>
        <p:spPr>
          <a:xfrm>
            <a:off x="7946975" y="4464248"/>
            <a:ext cx="9579025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6" name="Shape 24"/>
          <p:cNvSpPr/>
          <p:nvPr/>
        </p:nvSpPr>
        <p:spPr>
          <a:xfrm>
            <a:off x="7946975" y="4464248"/>
            <a:ext cx="28575" cy="1146721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516475" y="4464248"/>
            <a:ext cx="9525" cy="114672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8" name="Text 26"/>
          <p:cNvSpPr/>
          <p:nvPr/>
        </p:nvSpPr>
        <p:spPr>
          <a:xfrm>
            <a:off x="8185100" y="4645223"/>
            <a:ext cx="295573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⚑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537823" y="4788098"/>
            <a:ext cx="9032175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CAVEAT · CLASS THRESHOLD &lt; 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37823" y="5029944"/>
            <a:ext cx="903217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 VIF is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6.83 </a:t>
            </a:r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(Bwd.Packet.Length.Std), with Avg.Bwd.Segment.Size at </a:t>
            </a:r>
            <a:pPr algn="l" indent="0" marL="0">
              <a:lnSpc>
                <a:spcPct val="150000"/>
              </a:lnSpc>
              <a:buNone/>
            </a:pPr>
            <a:r>
              <a:rPr lang="en-US" sz="105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5.94 </a:t>
            </a:r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sit above the class threshold of 5, below the broader rule-of-thumb of 10. We retain them because they are substantively meaningful and dropping them noticeably hurts the fit — </a:t>
            </a:r>
            <a:pPr algn="l"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treated as a known caveat.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2" name="Text 30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6231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DIAGNOSTICS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fit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breaks every assumption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50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trusting any p‑value, we check residuals. The default model fails on two counts — outliers and non-normality — both visible in the diagnostic triptych.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762000" y="2401342"/>
            <a:ext cx="16764000" cy="32385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1627" y="2544217"/>
            <a:ext cx="9404598" cy="29526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62000" y="5811292"/>
            <a:ext cx="8267700" cy="2399854"/>
          </a:xfrm>
          <a:prstGeom prst="roundRect">
            <a:avLst>
              <a:gd name="adj" fmla="val 158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19175" y="6049417"/>
            <a:ext cx="798595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· ROW 1198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19175" y="6329363"/>
            <a:ext cx="79859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observation drives the Cook's distance plot. Row 1198 has leverage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Cook's distance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~5,800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artificially inflating R² to 0.99 and warping the regression plane.</a:t>
            </a:r>
            <a:endParaRPr lang="en-US" sz="1088" dirty="0"/>
          </a:p>
        </p:txBody>
      </p:sp>
      <p:sp>
        <p:nvSpPr>
          <p:cNvPr id="12" name="Shape 9"/>
          <p:cNvSpPr/>
          <p:nvPr/>
        </p:nvSpPr>
        <p:spPr>
          <a:xfrm>
            <a:off x="1019175" y="6858000"/>
            <a:ext cx="7753350" cy="1115020"/>
          </a:xfrm>
          <a:prstGeom prst="roundRect">
            <a:avLst>
              <a:gd name="adj" fmla="val 5125"/>
            </a:avLst>
          </a:prstGeom>
          <a:solidFill>
            <a:srgbClr val="15181F"/>
          </a:solidFill>
          <a:ln/>
        </p:spPr>
      </p:sp>
      <p:sp>
        <p:nvSpPr>
          <p:cNvPr id="13" name="Text 10"/>
          <p:cNvSpPr/>
          <p:nvPr/>
        </p:nvSpPr>
        <p:spPr>
          <a:xfrm>
            <a:off x="1190625" y="7000875"/>
            <a:ext cx="152161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i="1" dirty="0">
                <a:solidFill>
                  <a:srgbClr val="6B73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=== Row 1198 Outlier ===</a:t>
            </a:r>
            <a:endParaRPr lang="en-US" sz="863" dirty="0"/>
          </a:p>
        </p:txBody>
      </p:sp>
      <p:sp>
        <p:nvSpPr>
          <p:cNvPr id="14" name="Text 11"/>
          <p:cNvSpPr/>
          <p:nvPr/>
        </p:nvSpPr>
        <p:spPr>
          <a:xfrm>
            <a:off x="1190625" y="7170539"/>
            <a:ext cx="1364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63" dirty="0"/>
          </a:p>
        </p:txBody>
      </p:sp>
      <p:sp>
        <p:nvSpPr>
          <p:cNvPr id="15" name="Text 12"/>
          <p:cNvSpPr/>
          <p:nvPr/>
        </p:nvSpPr>
        <p:spPr>
          <a:xfrm>
            <a:off x="1250900" y="7170539"/>
            <a:ext cx="1364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3" dirty="0"/>
          </a:p>
        </p:txBody>
      </p:sp>
      <p:sp>
        <p:nvSpPr>
          <p:cNvPr id="16" name="Text 13"/>
          <p:cNvSpPr/>
          <p:nvPr/>
        </p:nvSpPr>
        <p:spPr>
          <a:xfrm>
            <a:off x="1311176" y="7170539"/>
            <a:ext cx="37742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endParaRPr lang="en-US" sz="863" dirty="0"/>
          </a:p>
        </p:txBody>
      </p:sp>
      <p:sp>
        <p:nvSpPr>
          <p:cNvPr id="17" name="Text 14"/>
          <p:cNvSpPr/>
          <p:nvPr/>
        </p:nvSpPr>
        <p:spPr>
          <a:xfrm>
            <a:off x="1612404" y="7170539"/>
            <a:ext cx="11602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(tab, row.names = </a:t>
            </a:r>
            <a:endParaRPr lang="en-US" sz="863" dirty="0"/>
          </a:p>
        </p:txBody>
      </p:sp>
      <p:sp>
        <p:nvSpPr>
          <p:cNvPr id="18" name="Text 15"/>
          <p:cNvSpPr/>
          <p:nvPr/>
        </p:nvSpPr>
        <p:spPr>
          <a:xfrm>
            <a:off x="2696468" y="7170539"/>
            <a:ext cx="37742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98C7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863" dirty="0"/>
          </a:p>
        </p:txBody>
      </p:sp>
      <p:sp>
        <p:nvSpPr>
          <p:cNvPr id="19" name="Text 16"/>
          <p:cNvSpPr/>
          <p:nvPr/>
        </p:nvSpPr>
        <p:spPr>
          <a:xfrm>
            <a:off x="1190625" y="7170539"/>
            <a:ext cx="3349758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6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Variable Row_1198 Second_Val Z_Score Times_2nd</a:t>
            </a:r>
            <a:endParaRPr lang="en-US" sz="863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Flow.Bytes </a:t>
            </a:r>
            <a:endParaRPr lang="en-US" sz="863" dirty="0"/>
          </a:p>
        </p:txBody>
      </p:sp>
      <p:sp>
        <p:nvSpPr>
          <p:cNvPr id="20" name="Text 17"/>
          <p:cNvSpPr/>
          <p:nvPr/>
        </p:nvSpPr>
        <p:spPr>
          <a:xfrm>
            <a:off x="2274689" y="7509867"/>
            <a:ext cx="55810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D4B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10716095</a:t>
            </a:r>
            <a:endParaRPr lang="en-US" sz="863" dirty="0"/>
          </a:p>
        </p:txBody>
      </p:sp>
      <p:sp>
        <p:nvSpPr>
          <p:cNvPr id="21" name="Text 18"/>
          <p:cNvSpPr/>
          <p:nvPr/>
        </p:nvSpPr>
        <p:spPr>
          <a:xfrm>
            <a:off x="2756595" y="7509867"/>
            <a:ext cx="2568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863" dirty="0"/>
          </a:p>
        </p:txBody>
      </p:sp>
      <p:sp>
        <p:nvSpPr>
          <p:cNvPr id="22" name="Shape 19"/>
          <p:cNvSpPr/>
          <p:nvPr/>
        </p:nvSpPr>
        <p:spPr>
          <a:xfrm>
            <a:off x="1190625" y="6743700"/>
            <a:ext cx="623441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3" name="Text 20"/>
          <p:cNvSpPr/>
          <p:nvPr/>
        </p:nvSpPr>
        <p:spPr>
          <a:xfrm>
            <a:off x="1266825" y="6743700"/>
            <a:ext cx="547241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977134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2937272" y="7509867"/>
            <a:ext cx="1967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63" dirty="0"/>
          </a:p>
        </p:txBody>
      </p:sp>
      <p:sp>
        <p:nvSpPr>
          <p:cNvPr id="25" name="Shape 22"/>
          <p:cNvSpPr/>
          <p:nvPr/>
        </p:nvSpPr>
        <p:spPr>
          <a:xfrm>
            <a:off x="1190625" y="6743700"/>
            <a:ext cx="594420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6" name="Text 23"/>
          <p:cNvSpPr/>
          <p:nvPr/>
        </p:nvSpPr>
        <p:spPr>
          <a:xfrm>
            <a:off x="1266825" y="6743700"/>
            <a:ext cx="518220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312.81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057823" y="7509867"/>
            <a:ext cx="2568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863" dirty="0"/>
          </a:p>
        </p:txBody>
      </p:sp>
      <p:sp>
        <p:nvSpPr>
          <p:cNvPr id="28" name="Shape 25"/>
          <p:cNvSpPr/>
          <p:nvPr/>
        </p:nvSpPr>
        <p:spPr>
          <a:xfrm>
            <a:off x="1190625" y="6743700"/>
            <a:ext cx="437406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9" name="Text 26"/>
          <p:cNvSpPr/>
          <p:nvPr/>
        </p:nvSpPr>
        <p:spPr>
          <a:xfrm>
            <a:off x="1266825" y="6743700"/>
            <a:ext cx="361206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90625" y="7679531"/>
            <a:ext cx="1461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act_data_pkt_fwd     </a:t>
            </a:r>
            <a:endParaRPr lang="en-US" sz="863" dirty="0"/>
          </a:p>
        </p:txBody>
      </p:sp>
      <p:sp>
        <p:nvSpPr>
          <p:cNvPr id="31" name="Text 28"/>
          <p:cNvSpPr/>
          <p:nvPr/>
        </p:nvSpPr>
        <p:spPr>
          <a:xfrm>
            <a:off x="2575917" y="7679531"/>
            <a:ext cx="31715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D4B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2626</a:t>
            </a:r>
            <a:endParaRPr lang="en-US" sz="863" dirty="0"/>
          </a:p>
        </p:txBody>
      </p:sp>
      <p:sp>
        <p:nvSpPr>
          <p:cNvPr id="32" name="Text 29"/>
          <p:cNvSpPr/>
          <p:nvPr/>
        </p:nvSpPr>
        <p:spPr>
          <a:xfrm>
            <a:off x="2816870" y="7679531"/>
            <a:ext cx="4375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endParaRPr lang="en-US" sz="863" dirty="0"/>
          </a:p>
        </p:txBody>
      </p:sp>
      <p:sp>
        <p:nvSpPr>
          <p:cNvPr id="33" name="Shape 30"/>
          <p:cNvSpPr/>
          <p:nvPr/>
        </p:nvSpPr>
        <p:spPr>
          <a:xfrm>
            <a:off x="1190625" y="6743700"/>
            <a:ext cx="387995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34" name="Text 31"/>
          <p:cNvSpPr/>
          <p:nvPr/>
        </p:nvSpPr>
        <p:spPr>
          <a:xfrm>
            <a:off x="1266825" y="6743700"/>
            <a:ext cx="311795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178225" y="7679531"/>
            <a:ext cx="19675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63" dirty="0"/>
          </a:p>
        </p:txBody>
      </p:sp>
      <p:sp>
        <p:nvSpPr>
          <p:cNvPr id="36" name="Shape 33"/>
          <p:cNvSpPr/>
          <p:nvPr/>
        </p:nvSpPr>
        <p:spPr>
          <a:xfrm>
            <a:off x="1190625" y="6743700"/>
            <a:ext cx="594420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37" name="Text 34"/>
          <p:cNvSpPr/>
          <p:nvPr/>
        </p:nvSpPr>
        <p:spPr>
          <a:xfrm>
            <a:off x="1266825" y="6743700"/>
            <a:ext cx="518220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311.82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3298775" y="7679531"/>
            <a:ext cx="2568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n-US" sz="863" dirty="0"/>
          </a:p>
        </p:txBody>
      </p:sp>
      <p:sp>
        <p:nvSpPr>
          <p:cNvPr id="39" name="Shape 36"/>
          <p:cNvSpPr/>
          <p:nvPr/>
        </p:nvSpPr>
        <p:spPr>
          <a:xfrm>
            <a:off x="1190625" y="6743700"/>
            <a:ext cx="437406" cy="177105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40" name="Text 37"/>
          <p:cNvSpPr/>
          <p:nvPr/>
        </p:nvSpPr>
        <p:spPr>
          <a:xfrm>
            <a:off x="1266825" y="6743700"/>
            <a:ext cx="361206" cy="215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b="1" spc="162" kern="0" dirty="0">
                <a:solidFill>
                  <a:srgbClr val="98C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9258300" y="5811292"/>
            <a:ext cx="8267700" cy="2399854"/>
          </a:xfrm>
          <a:prstGeom prst="roundRect">
            <a:avLst>
              <a:gd name="adj" fmla="val 158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515475" y="6049417"/>
            <a:ext cx="798595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NON-NORMALITY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9515475" y="6329363"/>
            <a:ext cx="798595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Q‑Q plot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 massive deviation in both tails — the residuals are nowhere near normal. This destabilizes every confidence interval downstream.</a:t>
            </a:r>
            <a:endParaRPr lang="en-US" sz="1088" dirty="0"/>
          </a:p>
        </p:txBody>
      </p:sp>
      <p:sp>
        <p:nvSpPr>
          <p:cNvPr id="44" name="Text 41"/>
          <p:cNvSpPr/>
          <p:nvPr/>
        </p:nvSpPr>
        <p:spPr>
          <a:xfrm>
            <a:off x="9515475" y="6858000"/>
            <a:ext cx="798595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13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NEXT SLIDE</a:t>
            </a:r>
            <a:endParaRPr lang="en-US" sz="825" dirty="0"/>
          </a:p>
        </p:txBody>
      </p:sp>
      <p:sp>
        <p:nvSpPr>
          <p:cNvPr id="45" name="Text 42"/>
          <p:cNvSpPr/>
          <p:nvPr/>
        </p:nvSpPr>
        <p:spPr>
          <a:xfrm>
            <a:off x="9515475" y="7066955"/>
            <a:ext cx="798595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Row 1198, then re-check whether a log transform of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Flow.Bytes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calms the residual spread.</a:t>
            </a:r>
            <a:endParaRPr lang="en-US" sz="1088" dirty="0"/>
          </a:p>
        </p:txBody>
      </p:sp>
      <p:sp>
        <p:nvSpPr>
          <p:cNvPr id="46" name="Shape 43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7" name="Text 44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7590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 REPAIR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fixes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restore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assumptions.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272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the influential point comes out. Then a </a:t>
            </a:r>
            <a:pPr algn="l" indent="0" marL="0">
              <a:lnSpc>
                <a:spcPct val="145000"/>
              </a:lnSpc>
              <a:buNone/>
            </a:pPr>
            <a:r>
              <a:rPr lang="en-US" sz="1148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log1p(Flow.Bytes) </a:t>
            </a:r>
            <a:pPr algn="l" indent="0" marL="0">
              <a:lnSpc>
                <a:spcPct val="145000"/>
              </a:lnSpc>
              <a:buNone/>
            </a:pPr>
            <a:r>
              <a:rPr lang="en-US" sz="12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 settles the heavy tail.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762000" y="2204740"/>
            <a:ext cx="847648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DROPPING ROW 1198 · RAW RESPONSE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762000" y="2432745"/>
            <a:ext cx="8229600" cy="22860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5311" y="2518470"/>
            <a:ext cx="6682978" cy="21144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4813995"/>
            <a:ext cx="847648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Cook's distance maximum drops from ~5,800 to </a:t>
            </a:r>
            <a:pPr algn="l" indent="0" marL="0">
              <a:lnSpc>
                <a:spcPct val="145000"/>
              </a:lnSpc>
              <a:buNone/>
            </a:pPr>
            <a:r>
              <a:rPr lang="en-US" sz="1050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</a:t>
            </a:r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Residuals still cluster at low fitted values and the Q‑Q tail is heavy — a transformation is warranted.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296400" y="2204740"/>
            <a:ext cx="847648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LOG1P(FLOW.BYTES) TRANSFORM</a:t>
            </a:r>
            <a:endParaRPr lang="en-US" sz="825" dirty="0"/>
          </a:p>
        </p:txBody>
      </p:sp>
      <p:sp>
        <p:nvSpPr>
          <p:cNvPr id="12" name="Shape 9"/>
          <p:cNvSpPr/>
          <p:nvPr/>
        </p:nvSpPr>
        <p:spPr>
          <a:xfrm>
            <a:off x="9296400" y="2432745"/>
            <a:ext cx="8229600" cy="22860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3666" y="2518470"/>
            <a:ext cx="6734919" cy="21144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296400" y="4813995"/>
            <a:ext cx="847648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Residuals now spread evenly around zero and the Q‑Q line straightens — confirming the heavy-tailed structure and supporting the log-scale model carried into Slide 10.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Text 12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89696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final MLR —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output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key takeaways.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dropping Row 1198 and adding two polynomial terms to straighten the residual curve, two predictors revealed concave (downward-opening) relationships with log byte volume.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2000" y="2354610"/>
            <a:ext cx="9912077" cy="1830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88" b="1" spc="14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PRE-POLYNOMIAL</a:t>
            </a:r>
            <a:endParaRPr lang="en-US" sz="788" dirty="0"/>
          </a:p>
        </p:txBody>
      </p:sp>
      <p:sp>
        <p:nvSpPr>
          <p:cNvPr id="8" name="Shape 6"/>
          <p:cNvSpPr/>
          <p:nvPr/>
        </p:nvSpPr>
        <p:spPr>
          <a:xfrm>
            <a:off x="762000" y="2556718"/>
            <a:ext cx="9623375" cy="2286000"/>
          </a:xfrm>
          <a:prstGeom prst="roundRect">
            <a:avLst>
              <a:gd name="adj" fmla="val 1667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2175" y="2556867"/>
            <a:ext cx="2542877" cy="228585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2000" y="4957018"/>
            <a:ext cx="9912077" cy="1830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788" b="1" spc="142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FINAL MODEL · TWO POLYNOMIAL TERMS ADDED</a:t>
            </a:r>
            <a:endParaRPr lang="en-US" sz="788" dirty="0"/>
          </a:p>
        </p:txBody>
      </p:sp>
      <p:sp>
        <p:nvSpPr>
          <p:cNvPr id="11" name="Shape 8"/>
          <p:cNvSpPr/>
          <p:nvPr/>
        </p:nvSpPr>
        <p:spPr>
          <a:xfrm>
            <a:off x="762000" y="5159127"/>
            <a:ext cx="9623375" cy="2667000"/>
          </a:xfrm>
          <a:prstGeom prst="roundRect">
            <a:avLst>
              <a:gd name="adj" fmla="val 1429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034" y="5159276"/>
            <a:ext cx="2977307" cy="26668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652075" y="2354610"/>
            <a:ext cx="707998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825" dirty="0"/>
          </a:p>
        </p:txBody>
      </p:sp>
      <p:sp>
        <p:nvSpPr>
          <p:cNvPr id="14" name="Text 10"/>
          <p:cNvSpPr/>
          <p:nvPr/>
        </p:nvSpPr>
        <p:spPr>
          <a:xfrm>
            <a:off x="10652075" y="2544514"/>
            <a:ext cx="7079989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summary tells us.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0652075" y="3074045"/>
            <a:ext cx="361950" cy="431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1052125" y="3074045"/>
            <a:ext cx="6667938" cy="431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088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0.6889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(Adj. 0.6869) — a realistic fit after the outlier removal and polynomial terms. RSE =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1.527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log scale.</a:t>
            </a:r>
            <a:endParaRPr lang="en-US" sz="1088" dirty="0"/>
          </a:p>
        </p:txBody>
      </p:sp>
      <p:sp>
        <p:nvSpPr>
          <p:cNvPr id="17" name="Shape 13"/>
          <p:cNvSpPr/>
          <p:nvPr/>
        </p:nvSpPr>
        <p:spPr>
          <a:xfrm>
            <a:off x="10652075" y="3601045"/>
            <a:ext cx="68737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8" name="Text 14"/>
          <p:cNvSpPr/>
          <p:nvPr/>
        </p:nvSpPr>
        <p:spPr>
          <a:xfrm>
            <a:off x="10652075" y="3743920"/>
            <a:ext cx="3619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1052125" y="3743920"/>
            <a:ext cx="666793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088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= 354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10 and 1599 DF · p &lt; 2.2e-16 — the model as a whole is overwhelmingly significant.</a:t>
            </a:r>
            <a:endParaRPr lang="en-US" sz="1088" dirty="0"/>
          </a:p>
        </p:txBody>
      </p:sp>
      <p:sp>
        <p:nvSpPr>
          <p:cNvPr id="20" name="Shape 16"/>
          <p:cNvSpPr/>
          <p:nvPr/>
        </p:nvSpPr>
        <p:spPr>
          <a:xfrm>
            <a:off x="10652075" y="4105870"/>
            <a:ext cx="68737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Text 17"/>
          <p:cNvSpPr/>
          <p:nvPr/>
        </p:nvSpPr>
        <p:spPr>
          <a:xfrm>
            <a:off x="10652075" y="4248745"/>
            <a:ext cx="3619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7/8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11052125" y="4248745"/>
            <a:ext cx="666793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088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of 8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linear-term predictors significant at p &lt; 0.05 — only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falls short.</a:t>
            </a:r>
            <a:endParaRPr lang="en-US" sz="1088" dirty="0"/>
          </a:p>
        </p:txBody>
      </p:sp>
      <p:sp>
        <p:nvSpPr>
          <p:cNvPr id="23" name="Shape 19"/>
          <p:cNvSpPr/>
          <p:nvPr/>
        </p:nvSpPr>
        <p:spPr>
          <a:xfrm>
            <a:off x="10652075" y="4610695"/>
            <a:ext cx="68737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Text 20"/>
          <p:cNvSpPr/>
          <p:nvPr/>
        </p:nvSpPr>
        <p:spPr>
          <a:xfrm>
            <a:off x="10652075" y="4753570"/>
            <a:ext cx="361950" cy="431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∩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11052125" y="4753570"/>
            <a:ext cx="6667938" cy="431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quadratic terms (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Bwd.Packet.Length.Min²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42000"/>
              </a:lnSpc>
              <a:buNone/>
            </a:pPr>
            <a:r>
              <a:rPr lang="en-US" sz="938" dirty="0">
                <a:solidFill>
                  <a:srgbClr val="1A1D26"/>
                </a:solidFill>
                <a:highlight>
                  <a:srgbClr val="EAE0C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act_data_pkt_fwd²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are </a:t>
            </a:r>
            <a:pPr algn="l" indent="0" marL="0">
              <a:lnSpc>
                <a:spcPct val="142000"/>
              </a:lnSpc>
              <a:buNone/>
            </a:pPr>
            <a:r>
              <a:rPr lang="en-US" sz="1088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highly significant with negative signs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confirming concave, peaked relationships with byte volume.</a:t>
            </a:r>
            <a:endParaRPr lang="en-US" sz="1088" dirty="0"/>
          </a:p>
        </p:txBody>
      </p:sp>
      <p:sp>
        <p:nvSpPr>
          <p:cNvPr id="26" name="Shape 22"/>
          <p:cNvSpPr/>
          <p:nvPr/>
        </p:nvSpPr>
        <p:spPr>
          <a:xfrm>
            <a:off x="10652075" y="5280571"/>
            <a:ext cx="6873776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7" name="Text 23"/>
          <p:cNvSpPr/>
          <p:nvPr/>
        </p:nvSpPr>
        <p:spPr>
          <a:xfrm>
            <a:off x="10652075" y="5423446"/>
            <a:ext cx="361950" cy="430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11052125" y="5423446"/>
            <a:ext cx="6667938" cy="430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Compared to the pre-polynomial fit (R² = 0.5686): </a:t>
            </a:r>
            <a:pPr algn="l" indent="0" marL="0">
              <a:lnSpc>
                <a:spcPct val="142000"/>
              </a:lnSpc>
              <a:buNone/>
            </a:pPr>
            <a:r>
              <a:rPr lang="en-US" sz="1088" b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+12 percentage points </a:t>
            </a:r>
            <a:pPr algn="l" indent="0" marL="0">
              <a:lnSpc>
                <a:spcPct val="142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explained variance just from the two curvature terms.</a:t>
            </a:r>
            <a:endParaRPr lang="en-US" sz="1088" dirty="0"/>
          </a:p>
        </p:txBody>
      </p:sp>
      <p:sp>
        <p:nvSpPr>
          <p:cNvPr id="29" name="Shape 25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0" name="Text 26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97346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INTERPRETATION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velocity?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762000" y="1741438"/>
            <a:ext cx="543550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1960513"/>
            <a:ext cx="510802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1000125" y="2188518"/>
            <a:ext cx="5108028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0.6889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000125" y="2874318"/>
            <a:ext cx="5108028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realistic fit after removing the leverage outlier and adding polynomial terms.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6426101" y="1741438"/>
            <a:ext cx="5435650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4226" y="1960513"/>
            <a:ext cx="5108182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SIGNIFICANCE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664226" y="2188518"/>
            <a:ext cx="510818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50" spc="-81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= 354</a:t>
            </a:r>
            <a:endParaRPr lang="en-US" sz="4050" dirty="0"/>
          </a:p>
        </p:txBody>
      </p:sp>
      <p:sp>
        <p:nvSpPr>
          <p:cNvPr id="13" name="Text 11"/>
          <p:cNvSpPr/>
          <p:nvPr/>
        </p:nvSpPr>
        <p:spPr>
          <a:xfrm>
            <a:off x="6664226" y="2779068"/>
            <a:ext cx="5108182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F(10, 1599) · p &lt; 2.2e-16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12090350" y="1741438"/>
            <a:ext cx="5435650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28475" y="1960513"/>
            <a:ext cx="5108182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2328475" y="2188518"/>
            <a:ext cx="510818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</a:t>
            </a:r>
            <a:pPr algn="l" indent="0" marL="0">
              <a:lnSpc>
                <a:spcPct val="100000"/>
              </a:lnSpc>
              <a:buNone/>
            </a:pPr>
            <a:r>
              <a:rPr lang="en-US" sz="2700" spc="-96" kern="0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 8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328475" y="2874318"/>
            <a:ext cx="5108182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retained predictors but </a:t>
            </a:r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 </a:t>
            </a:r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statistically significant.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62000" y="3438079"/>
            <a:ext cx="849611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CONFIDENCE INTERVALS · FINAL MODEL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762000" y="3666083"/>
            <a:ext cx="8248650" cy="3238500"/>
          </a:xfrm>
          <a:prstGeom prst="roundRect">
            <a:avLst>
              <a:gd name="adj" fmla="val 1176"/>
            </a:avLst>
          </a:prstGeom>
          <a:solidFill>
            <a:srgbClr val="15181F"/>
          </a:solidFill>
          <a:ln w="9525">
            <a:solidFill>
              <a:srgbClr val="15181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803" y="3666232"/>
            <a:ext cx="5595045" cy="3238351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9277350" y="3438079"/>
            <a:ext cx="849611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· THE CONCAVE EFFECT</a:t>
            </a:r>
            <a:endParaRPr lang="en-US" sz="825" dirty="0"/>
          </a:p>
        </p:txBody>
      </p:sp>
      <p:sp>
        <p:nvSpPr>
          <p:cNvPr id="22" name="Text 19"/>
          <p:cNvSpPr/>
          <p:nvPr/>
        </p:nvSpPr>
        <p:spPr>
          <a:xfrm>
            <a:off x="9277350" y="3666083"/>
            <a:ext cx="849611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Holding all other variables constant, the marginal effect of a one-byte increase in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Bwd.Packet.Length.Min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log(Flow.Bytes) is: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9277350" y="4013746"/>
            <a:ext cx="8248650" cy="8572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0421" y="4156770"/>
            <a:ext cx="3402360" cy="571351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277350" y="5004346"/>
            <a:ext cx="8496110" cy="659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a low baseline floor, a one-byte increase raises expected throughput by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~2.32%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(β = 0.02316). Due to the negative quadratic term (β = −0.0000145), this benefit diminishes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0.0029%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additional byte, peaking at </a:t>
            </a:r>
            <a:pPr algn="l" indent="0" marL="0">
              <a:lnSpc>
                <a:spcPct val="150000"/>
              </a:lnSpc>
              <a:buNone/>
            </a:pPr>
            <a:r>
              <a:rPr lang="en-US" sz="1088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798.6 bytes </a:t>
            </a:r>
            <a:pPr algn="l" indent="0" marL="0">
              <a:lnSpc>
                <a:spcPct val="150000"/>
              </a:lnSpc>
              <a:buNone/>
            </a:pPr>
            <a:r>
              <a:rPr lang="en-US" sz="1088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Past that threshold the marginal effect flips sign.</a:t>
            </a:r>
            <a:endParaRPr lang="en-US" sz="1088" dirty="0"/>
          </a:p>
        </p:txBody>
      </p:sp>
      <p:sp>
        <p:nvSpPr>
          <p:cNvPr id="26" name="Shape 22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7" name="Text 23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8910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LOGISTIC SETUP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Classifying </a:t>
            </a:r>
            <a:pPr algn="l" indent="0" marL="0">
              <a:lnSpc>
                <a:spcPct val="104000"/>
              </a:lnSpc>
              <a:buNone/>
            </a:pPr>
            <a:r>
              <a:rPr lang="en-US" sz="3750" i="1" spc="-67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threats </a:t>
            </a:r>
            <a:pPr algn="l" indent="0" marL="0">
              <a:lnSpc>
                <a:spcPct val="104000"/>
              </a:lnSpc>
              <a:buNone/>
            </a:pPr>
            <a:r>
              <a:rPr lang="en-US" sz="3750" spc="-67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baseline.</a:t>
            </a:r>
            <a:endParaRPr lang="en-US" sz="3750" dirty="0"/>
          </a:p>
        </p:txBody>
      </p:sp>
      <p:sp>
        <p:nvSpPr>
          <p:cNvPr id="6" name="Shape 4"/>
          <p:cNvSpPr/>
          <p:nvPr/>
        </p:nvSpPr>
        <p:spPr>
          <a:xfrm>
            <a:off x="762000" y="1876425"/>
            <a:ext cx="543550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2095500"/>
            <a:ext cx="510802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1000125" y="2323505"/>
            <a:ext cx="510802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spc="-48" kern="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Attack_Flag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00125" y="2704505"/>
            <a:ext cx="5108028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outcome — 0 = benign, 1 = attack. Overall attack rate in the data is </a:t>
            </a:r>
            <a:pPr algn="l" indent="0" marL="0">
              <a:lnSpc>
                <a:spcPct val="140000"/>
              </a:lnSpc>
              <a:buNone/>
            </a:pPr>
            <a:r>
              <a:rPr lang="en-US" sz="975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19.3%</a:t>
            </a:r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6426101" y="1876425"/>
            <a:ext cx="5435650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64226" y="2095500"/>
            <a:ext cx="5108182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SCOPE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664226" y="2323505"/>
            <a:ext cx="510818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</a:t>
            </a:r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predictors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664226" y="3009305"/>
            <a:ext cx="5108182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First-order terms only. Iterative stepwise BIC, with VIF-based pruning. Max VIF: </a:t>
            </a:r>
            <a:pPr algn="l" indent="0" marL="0">
              <a:lnSpc>
                <a:spcPct val="140000"/>
              </a:lnSpc>
              <a:buNone/>
            </a:pPr>
            <a:r>
              <a:rPr lang="en-US" sz="975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4.37</a:t>
            </a:r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12090350" y="1876425"/>
            <a:ext cx="5435650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28475" y="2095500"/>
            <a:ext cx="5108182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2328475" y="2323505"/>
            <a:ext cx="510818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logit </a:t>
            </a:r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328475" y="3009305"/>
            <a:ext cx="5108182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Binomial GLM, maximum likelihood. Convergence in &lt; 10 iterations.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762000" y="3630216"/>
            <a:ext cx="16764000" cy="894308"/>
          </a:xfrm>
          <a:prstGeom prst="roundRect">
            <a:avLst>
              <a:gd name="adj" fmla="val 4260"/>
            </a:avLst>
          </a:prstGeom>
          <a:solidFill>
            <a:srgbClr val="FBF7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62000" y="4514999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0" name="Shape 18"/>
          <p:cNvSpPr/>
          <p:nvPr/>
        </p:nvSpPr>
        <p:spPr>
          <a:xfrm>
            <a:off x="762000" y="3630216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762000" y="3630216"/>
            <a:ext cx="28575" cy="894308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16475" y="3630216"/>
            <a:ext cx="9525" cy="89430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8225" y="3830241"/>
            <a:ext cx="342900" cy="342900"/>
          </a:xfrm>
          <a:prstGeom prst="ellipse">
            <a:avLst/>
          </a:prstGeom>
          <a:solidFill>
            <a:srgbClr val="B33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000125" y="3830241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52575" y="3868341"/>
            <a:ext cx="16187738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ALERT · PARTIAL SEPARATION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552575" y="4110186"/>
            <a:ext cx="161877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Fwd.Packet.Length.Min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Avg.Fwd.Segment.Size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were flagged for partial separation. We keep them for predictive accuracy but </a:t>
            </a:r>
            <a:pPr algn="l" indent="0" marL="0">
              <a:lnSpc>
                <a:spcPct val="150000"/>
              </a:lnSpc>
              <a:buNone/>
            </a:pPr>
            <a:r>
              <a:rPr lang="en-US" sz="1125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interpret their odds-ratio magnitudes </a:t>
            </a:r>
            <a:pPr algn="l" indent="0" marL="0">
              <a:lnSpc>
                <a:spcPct val="150000"/>
              </a:lnSpc>
              <a:buNone/>
            </a:pPr>
            <a:r>
              <a:rPr lang="en-US" sz="1125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those saturate at ±100% by construction.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762000" y="4695974"/>
            <a:ext cx="17266920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/ test split discussion → moved to slide 14 (Performance), where the held-out metrics live.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9" name="Text 27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316074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FORMULATION &amp; VARIABLES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binary GLM with a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logit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flow gets a probability of being an attack; the log-odds of that probability are modeled as a linear combination of the eleven retained predictors.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2411760"/>
            <a:ext cx="6583561" cy="2307878"/>
          </a:xfrm>
          <a:prstGeom prst="roundRect">
            <a:avLst>
              <a:gd name="adj" fmla="val 1651"/>
            </a:avLst>
          </a:prstGeom>
          <a:solidFill>
            <a:srgbClr val="FBF7EC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4710113"/>
            <a:ext cx="658356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2411760"/>
            <a:ext cx="658356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" name="Shape 8"/>
          <p:cNvSpPr/>
          <p:nvPr/>
        </p:nvSpPr>
        <p:spPr>
          <a:xfrm>
            <a:off x="762000" y="2411760"/>
            <a:ext cx="28575" cy="2307878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11" name="Shape 9"/>
          <p:cNvSpPr/>
          <p:nvPr/>
        </p:nvSpPr>
        <p:spPr>
          <a:xfrm>
            <a:off x="7336036" y="2411760"/>
            <a:ext cx="9525" cy="2307878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2" name="Text 10"/>
          <p:cNvSpPr/>
          <p:nvPr/>
        </p:nvSpPr>
        <p:spPr>
          <a:xfrm>
            <a:off x="1095375" y="2687985"/>
            <a:ext cx="6113937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8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FORMULATION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95375" y="3063180"/>
            <a:ext cx="6113937" cy="3534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∼ Bin(1, p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1095375" y="3492847"/>
            <a:ext cx="6113937" cy="3534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P(Y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1 | X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1i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…, X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095375" y="4066729"/>
            <a:ext cx="317748" cy="327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</a:t>
            </a:r>
            <a:endParaRPr lang="en-US" sz="1425" dirty="0"/>
          </a:p>
        </p:txBody>
      </p:sp>
      <p:sp>
        <p:nvSpPr>
          <p:cNvPr id="16" name="Shape 14"/>
          <p:cNvSpPr/>
          <p:nvPr/>
        </p:nvSpPr>
        <p:spPr>
          <a:xfrm>
            <a:off x="1512540" y="4206776"/>
            <a:ext cx="276671" cy="9525"/>
          </a:xfrm>
          <a:prstGeom prst="rect">
            <a:avLst/>
          </a:prstGeom>
          <a:solidFill>
            <a:srgbClr val="1A1D26"/>
          </a:solidFill>
          <a:ln/>
        </p:spPr>
      </p:sp>
      <p:sp>
        <p:nvSpPr>
          <p:cNvPr id="17" name="Text 15"/>
          <p:cNvSpPr/>
          <p:nvPr/>
        </p:nvSpPr>
        <p:spPr>
          <a:xfrm>
            <a:off x="1588740" y="3979664"/>
            <a:ext cx="200471" cy="246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10000"/>
              </a:lnSpc>
              <a:buNone/>
            </a:pPr>
            <a:r>
              <a:rPr lang="en-US" sz="1000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70273" y="4235351"/>
            <a:ext cx="437555" cy="246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1 − p</a:t>
            </a:r>
            <a:pPr algn="l" indent="0" marL="0">
              <a:lnSpc>
                <a:spcPct val="110000"/>
              </a:lnSpc>
              <a:buNone/>
            </a:pPr>
            <a:r>
              <a:rPr lang="en-US" sz="1000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03078" y="4053780"/>
            <a:ext cx="2060079" cy="3534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β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β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1i 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⋯ + β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pPr algn="l" indent="0" marL="0">
              <a:lnSpc>
                <a:spcPct val="160000"/>
              </a:lnSpc>
              <a:buNone/>
            </a:pPr>
            <a:r>
              <a:rPr lang="en-US" sz="1425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pPr algn="l" indent="0" marL="0">
              <a:lnSpc>
                <a:spcPct val="160000"/>
              </a:lnSpc>
              <a:buNone/>
            </a:pPr>
            <a:r>
              <a:rPr lang="en-US" sz="1187" i="1" baseline="-4000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762000" y="4891088"/>
            <a:ext cx="678106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side is the linear predictor (η); the left side is the log-odds of an attack. Exponentiating coefficients gives the multiplicative odds ratio per unit increase in a predictor.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50361" y="2411760"/>
            <a:ext cx="10171908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 GLOSSARY · PHASE 2 · 11 VARIABLES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7650361" y="2711202"/>
            <a:ext cx="1324124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23" name="Text 21"/>
          <p:cNvSpPr/>
          <p:nvPr/>
        </p:nvSpPr>
        <p:spPr>
          <a:xfrm>
            <a:off x="7707511" y="2730252"/>
            <a:ext cx="1286024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Fwd.Packet.Length.Min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9288661" y="2706439"/>
            <a:ext cx="3280776" cy="227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Smallest forward packet.</a:t>
            </a:r>
            <a:endParaRPr lang="en-US" sz="1013" dirty="0"/>
          </a:p>
        </p:txBody>
      </p:sp>
      <p:sp>
        <p:nvSpPr>
          <p:cNvPr id="25" name="Shape 23"/>
          <p:cNvSpPr/>
          <p:nvPr/>
        </p:nvSpPr>
        <p:spPr>
          <a:xfrm>
            <a:off x="12702480" y="2658814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26" name="Shape 24"/>
          <p:cNvSpPr/>
          <p:nvPr/>
        </p:nvSpPr>
        <p:spPr>
          <a:xfrm>
            <a:off x="12702480" y="2715964"/>
            <a:ext cx="1035993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27" name="Text 25"/>
          <p:cNvSpPr/>
          <p:nvPr/>
        </p:nvSpPr>
        <p:spPr>
          <a:xfrm>
            <a:off x="12759630" y="2735014"/>
            <a:ext cx="997893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14150280" y="2715964"/>
            <a:ext cx="347699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traffic is going.</a:t>
            </a:r>
            <a:endParaRPr lang="en-US" sz="1013" dirty="0"/>
          </a:p>
        </p:txBody>
      </p:sp>
      <p:sp>
        <p:nvSpPr>
          <p:cNvPr id="29" name="Shape 27"/>
          <p:cNvSpPr/>
          <p:nvPr/>
        </p:nvSpPr>
        <p:spPr>
          <a:xfrm>
            <a:off x="7650361" y="2943076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0" name="Shape 28"/>
          <p:cNvSpPr/>
          <p:nvPr/>
        </p:nvSpPr>
        <p:spPr>
          <a:xfrm>
            <a:off x="7650361" y="3000226"/>
            <a:ext cx="1266527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31" name="Text 29"/>
          <p:cNvSpPr/>
          <p:nvPr/>
        </p:nvSpPr>
        <p:spPr>
          <a:xfrm>
            <a:off x="7707511" y="3019276"/>
            <a:ext cx="1228427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Avg.Fwd.Segment.Size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9288661" y="3000226"/>
            <a:ext cx="328077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 forward segment size.</a:t>
            </a:r>
            <a:endParaRPr lang="en-US" sz="1013" dirty="0"/>
          </a:p>
        </p:txBody>
      </p:sp>
      <p:sp>
        <p:nvSpPr>
          <p:cNvPr id="33" name="Shape 31"/>
          <p:cNvSpPr/>
          <p:nvPr/>
        </p:nvSpPr>
        <p:spPr>
          <a:xfrm>
            <a:off x="12702480" y="2943076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4" name="Shape 32"/>
          <p:cNvSpPr/>
          <p:nvPr/>
        </p:nvSpPr>
        <p:spPr>
          <a:xfrm>
            <a:off x="12702480" y="3000226"/>
            <a:ext cx="575221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35" name="Text 33"/>
          <p:cNvSpPr/>
          <p:nvPr/>
        </p:nvSpPr>
        <p:spPr>
          <a:xfrm>
            <a:off x="12759630" y="3019276"/>
            <a:ext cx="537121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Idle.Min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14150280" y="3000226"/>
            <a:ext cx="347699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Shortest idle period.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7650361" y="3227338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38" name="Shape 36"/>
          <p:cNvSpPr/>
          <p:nvPr/>
        </p:nvSpPr>
        <p:spPr>
          <a:xfrm>
            <a:off x="7650361" y="3284488"/>
            <a:ext cx="920800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39" name="Text 37"/>
          <p:cNvSpPr/>
          <p:nvPr/>
        </p:nvSpPr>
        <p:spPr>
          <a:xfrm>
            <a:off x="7707511" y="3303538"/>
            <a:ext cx="882700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URG.Flag.Count</a:t>
            </a:r>
            <a:endParaRPr lang="en-US" sz="825" dirty="0"/>
          </a:p>
        </p:txBody>
      </p:sp>
      <p:sp>
        <p:nvSpPr>
          <p:cNvPr id="40" name="Text 38"/>
          <p:cNvSpPr/>
          <p:nvPr/>
        </p:nvSpPr>
        <p:spPr>
          <a:xfrm>
            <a:off x="9288661" y="3284488"/>
            <a:ext cx="328077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Packets with TCP URG flag set.</a:t>
            </a:r>
            <a:endParaRPr lang="en-US" sz="1013" dirty="0"/>
          </a:p>
        </p:txBody>
      </p:sp>
      <p:sp>
        <p:nvSpPr>
          <p:cNvPr id="41" name="Shape 39"/>
          <p:cNvSpPr/>
          <p:nvPr/>
        </p:nvSpPr>
        <p:spPr>
          <a:xfrm>
            <a:off x="12702480" y="3227338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2" name="Shape 40"/>
          <p:cNvSpPr/>
          <p:nvPr/>
        </p:nvSpPr>
        <p:spPr>
          <a:xfrm>
            <a:off x="12702480" y="3284488"/>
            <a:ext cx="1266527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43" name="Text 41"/>
          <p:cNvSpPr/>
          <p:nvPr/>
        </p:nvSpPr>
        <p:spPr>
          <a:xfrm>
            <a:off x="12759630" y="3303538"/>
            <a:ext cx="1228427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14150280" y="3284488"/>
            <a:ext cx="347699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 backward segment size.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7650361" y="3511600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46" name="Shape 44"/>
          <p:cNvSpPr/>
          <p:nvPr/>
        </p:nvSpPr>
        <p:spPr>
          <a:xfrm>
            <a:off x="7650361" y="3568750"/>
            <a:ext cx="690414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47" name="Text 45"/>
          <p:cNvSpPr/>
          <p:nvPr/>
        </p:nvSpPr>
        <p:spPr>
          <a:xfrm>
            <a:off x="7707511" y="3587800"/>
            <a:ext cx="652314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</a:t>
            </a:r>
            <a:endParaRPr lang="en-US" sz="825" dirty="0"/>
          </a:p>
        </p:txBody>
      </p:sp>
      <p:sp>
        <p:nvSpPr>
          <p:cNvPr id="48" name="Text 46"/>
          <p:cNvSpPr/>
          <p:nvPr/>
        </p:nvSpPr>
        <p:spPr>
          <a:xfrm>
            <a:off x="9288661" y="3568750"/>
            <a:ext cx="328077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Std-dev of active periods.</a:t>
            </a:r>
            <a:endParaRPr lang="en-US" sz="1013" dirty="0"/>
          </a:p>
        </p:txBody>
      </p:sp>
      <p:sp>
        <p:nvSpPr>
          <p:cNvPr id="49" name="Shape 47"/>
          <p:cNvSpPr/>
          <p:nvPr/>
        </p:nvSpPr>
        <p:spPr>
          <a:xfrm>
            <a:off x="12702480" y="3511600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0" name="Shape 48"/>
          <p:cNvSpPr/>
          <p:nvPr/>
        </p:nvSpPr>
        <p:spPr>
          <a:xfrm>
            <a:off x="12702480" y="3568750"/>
            <a:ext cx="863203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51" name="Text 49"/>
          <p:cNvSpPr/>
          <p:nvPr/>
        </p:nvSpPr>
        <p:spPr>
          <a:xfrm>
            <a:off x="12759630" y="3587800"/>
            <a:ext cx="825103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Bwd.IAT.Total</a:t>
            </a:r>
            <a:endParaRPr lang="en-US" sz="825" dirty="0"/>
          </a:p>
        </p:txBody>
      </p:sp>
      <p:sp>
        <p:nvSpPr>
          <p:cNvPr id="52" name="Text 50"/>
          <p:cNvSpPr/>
          <p:nvPr/>
        </p:nvSpPr>
        <p:spPr>
          <a:xfrm>
            <a:off x="14150280" y="3568750"/>
            <a:ext cx="347699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inter-arrival time of bwd packets.</a:t>
            </a:r>
            <a:endParaRPr lang="en-US" sz="1013" dirty="0"/>
          </a:p>
        </p:txBody>
      </p:sp>
      <p:sp>
        <p:nvSpPr>
          <p:cNvPr id="53" name="Shape 51"/>
          <p:cNvSpPr/>
          <p:nvPr/>
        </p:nvSpPr>
        <p:spPr>
          <a:xfrm>
            <a:off x="7650361" y="3795861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4" name="Shape 52"/>
          <p:cNvSpPr/>
          <p:nvPr/>
        </p:nvSpPr>
        <p:spPr>
          <a:xfrm>
            <a:off x="7650361" y="3853011"/>
            <a:ext cx="863203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55" name="Text 53"/>
          <p:cNvSpPr/>
          <p:nvPr/>
        </p:nvSpPr>
        <p:spPr>
          <a:xfrm>
            <a:off x="7707511" y="3872061"/>
            <a:ext cx="825103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Down.Up.Ratio</a:t>
            </a:r>
            <a:endParaRPr lang="en-US" sz="825" dirty="0"/>
          </a:p>
        </p:txBody>
      </p:sp>
      <p:sp>
        <p:nvSpPr>
          <p:cNvPr id="56" name="Text 54"/>
          <p:cNvSpPr/>
          <p:nvPr/>
        </p:nvSpPr>
        <p:spPr>
          <a:xfrm>
            <a:off x="9288661" y="3853011"/>
            <a:ext cx="328077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Download / upload ratio.</a:t>
            </a:r>
            <a:endParaRPr lang="en-US" sz="1013" dirty="0"/>
          </a:p>
        </p:txBody>
      </p:sp>
      <p:sp>
        <p:nvSpPr>
          <p:cNvPr id="57" name="Shape 55"/>
          <p:cNvSpPr/>
          <p:nvPr/>
        </p:nvSpPr>
        <p:spPr>
          <a:xfrm>
            <a:off x="12702480" y="3795861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58" name="Shape 56"/>
          <p:cNvSpPr/>
          <p:nvPr/>
        </p:nvSpPr>
        <p:spPr>
          <a:xfrm>
            <a:off x="12702480" y="3853011"/>
            <a:ext cx="1439317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59" name="Text 57"/>
          <p:cNvSpPr/>
          <p:nvPr/>
        </p:nvSpPr>
        <p:spPr>
          <a:xfrm>
            <a:off x="12759630" y="3872061"/>
            <a:ext cx="1401217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Init_Win_bytes_backward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14150280" y="3853011"/>
            <a:ext cx="3476991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TCP receive window from server.</a:t>
            </a:r>
            <a:endParaRPr lang="en-US" sz="1013" dirty="0"/>
          </a:p>
        </p:txBody>
      </p:sp>
      <p:sp>
        <p:nvSpPr>
          <p:cNvPr id="61" name="Shape 59"/>
          <p:cNvSpPr/>
          <p:nvPr/>
        </p:nvSpPr>
        <p:spPr>
          <a:xfrm>
            <a:off x="7650361" y="4080123"/>
            <a:ext cx="4823520" cy="9525"/>
          </a:xfrm>
          <a:prstGeom prst="rect">
            <a:avLst/>
          </a:prstGeom>
          <a:solidFill>
            <a:srgbClr val="E8DEC4"/>
          </a:solidFill>
          <a:ln/>
        </p:spPr>
      </p:sp>
      <p:sp>
        <p:nvSpPr>
          <p:cNvPr id="62" name="Shape 60"/>
          <p:cNvSpPr/>
          <p:nvPr/>
        </p:nvSpPr>
        <p:spPr>
          <a:xfrm>
            <a:off x="7650361" y="4137273"/>
            <a:ext cx="920800" cy="179487"/>
          </a:xfrm>
          <a:prstGeom prst="roundRect">
            <a:avLst>
              <a:gd name="adj" fmla="val 15920"/>
            </a:avLst>
          </a:prstGeom>
          <a:solidFill>
            <a:srgbClr val="EAE0C7"/>
          </a:solidFill>
          <a:ln/>
        </p:spPr>
      </p:sp>
      <p:sp>
        <p:nvSpPr>
          <p:cNvPr id="63" name="Text 61"/>
          <p:cNvSpPr/>
          <p:nvPr/>
        </p:nvSpPr>
        <p:spPr>
          <a:xfrm>
            <a:off x="7707511" y="4156323"/>
            <a:ext cx="882700" cy="179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825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PSH.Flag.Count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9288661" y="4137273"/>
            <a:ext cx="3280776" cy="217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Packets with TCP PSH flag set.</a:t>
            </a:r>
            <a:endParaRPr lang="en-US" sz="1013" dirty="0"/>
          </a:p>
        </p:txBody>
      </p:sp>
      <p:sp>
        <p:nvSpPr>
          <p:cNvPr id="65" name="Shape 63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66" name="Text 64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176465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PERFORMANCE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catches attacks at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near-perfect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rates.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762000" y="1703338"/>
            <a:ext cx="2701677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B5D7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4875" y="1779538"/>
            <a:ext cx="2496977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· 600 ROWS (30%)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58927" y="1703338"/>
            <a:ext cx="2434382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1802" y="1779538"/>
            <a:ext cx="2224832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· 1,397 ROWS (70%)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8559" y="1703338"/>
            <a:ext cx="1720453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4B5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1434" y="1779538"/>
            <a:ext cx="151090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· 1,997 ROWS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62000" y="2125266"/>
            <a:ext cx="17266920" cy="245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2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Likelihood-Ratio Test · χ² = 878.25 · p = 2.94e-181 — overall model is overwhelmingly significant.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762000" y="2503884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4019550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2000" y="2503884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2503884"/>
            <a:ext cx="28575" cy="1525191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Shape 15"/>
          <p:cNvSpPr/>
          <p:nvPr/>
        </p:nvSpPr>
        <p:spPr>
          <a:xfrm>
            <a:off x="7366546" y="2503884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8" name="Text 16"/>
          <p:cNvSpPr/>
          <p:nvPr/>
        </p:nvSpPr>
        <p:spPr>
          <a:xfrm>
            <a:off x="1019175" y="2722959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019175" y="2950964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90.3%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019175" y="3636764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Youden's-optimal cutoff — overall correct call rate on the held-out set.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762000" y="4162425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22" name="Shape 20"/>
          <p:cNvSpPr/>
          <p:nvPr/>
        </p:nvSpPr>
        <p:spPr>
          <a:xfrm>
            <a:off x="762000" y="5678091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2000" y="4162425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762000" y="4162425"/>
            <a:ext cx="28575" cy="1525191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366546" y="4162425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6" name="Text 24"/>
          <p:cNvSpPr/>
          <p:nvPr/>
        </p:nvSpPr>
        <p:spPr>
          <a:xfrm>
            <a:off x="1019175" y="4381500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1019175" y="4609505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95.3%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019175" y="5295305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Youden's-optimal cutoff — of all true attacks, the model catches this many.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762000" y="5820966"/>
            <a:ext cx="6614071" cy="1525191"/>
          </a:xfrm>
          <a:prstGeom prst="roundRect">
            <a:avLst>
              <a:gd name="adj" fmla="val 2498"/>
            </a:avLst>
          </a:prstGeom>
          <a:solidFill>
            <a:srgbClr val="FBF7EC"/>
          </a:solidFill>
          <a:ln/>
        </p:spPr>
      </p:sp>
      <p:sp>
        <p:nvSpPr>
          <p:cNvPr id="30" name="Shape 28"/>
          <p:cNvSpPr/>
          <p:nvPr/>
        </p:nvSpPr>
        <p:spPr>
          <a:xfrm>
            <a:off x="762000" y="7336631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1" name="Shape 29"/>
          <p:cNvSpPr/>
          <p:nvPr/>
        </p:nvSpPr>
        <p:spPr>
          <a:xfrm>
            <a:off x="762000" y="5820966"/>
            <a:ext cx="6614071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2" name="Shape 30"/>
          <p:cNvSpPr/>
          <p:nvPr/>
        </p:nvSpPr>
        <p:spPr>
          <a:xfrm>
            <a:off x="762000" y="5820966"/>
            <a:ext cx="28575" cy="1525191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7366546" y="5820966"/>
            <a:ext cx="9525" cy="1525191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4" name="Text 32"/>
          <p:cNvSpPr/>
          <p:nvPr/>
        </p:nvSpPr>
        <p:spPr>
          <a:xfrm>
            <a:off x="1019175" y="6040041"/>
            <a:ext cx="6302334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65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1019175" y="6268045"/>
            <a:ext cx="630233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spc="-96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89.0%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1019175" y="6953845"/>
            <a:ext cx="6302334" cy="2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75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tuning threshold via Youden's Index — correct clearance rate for benign traffic.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7604671" y="2503884"/>
            <a:ext cx="1021896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 · TEST SET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7604671" y="2731889"/>
            <a:ext cx="9921329" cy="4953000"/>
          </a:xfrm>
          <a:prstGeom prst="roundRect">
            <a:avLst>
              <a:gd name="adj" fmla="val 769"/>
            </a:avLst>
          </a:prstGeom>
          <a:solidFill>
            <a:srgbClr val="FFFFFF"/>
          </a:solidFill>
          <a:ln w="9525">
            <a:solidFill>
              <a:srgbClr val="D7CDB4"/>
            </a:solidFill>
            <a:prstDash val="solid"/>
          </a:ln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7963" y="2922389"/>
            <a:ext cx="8674745" cy="4571851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604671" y="7799189"/>
            <a:ext cx="1239887" cy="345728"/>
          </a:xfrm>
          <a:prstGeom prst="roundRect">
            <a:avLst>
              <a:gd name="adj" fmla="val 50000"/>
            </a:avLst>
          </a:prstGeom>
          <a:solidFill>
            <a:srgbClr val="FBF7EC"/>
          </a:solidFill>
          <a:ln w="9525">
            <a:solidFill>
              <a:srgbClr val="D4B56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747546" y="7875389"/>
            <a:ext cx="1030337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b="1" spc="147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0.9625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9659392" y="7865864"/>
            <a:ext cx="8102606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guessing model tracks the dashed diagonal — ours hugs the top-left corner. At default 0.5 cutoff: acc 91.2%, sens 78.9%, spec 94.5%.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44" name="Text 41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93717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737271" y="609600"/>
            <a:ext cx="34057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COEFFICIENT INTERPRETATION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493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ct val="104000"/>
              </a:lnSpc>
              <a:buNone/>
            </a:pPr>
            <a:r>
              <a:rPr lang="en-US" sz="3450" i="1" spc="-62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anatomy </a:t>
            </a:r>
            <a:pPr algn="l" indent="0" marL="0">
              <a:lnSpc>
                <a:spcPct val="104000"/>
              </a:lnSpc>
              <a:buNone/>
            </a:pPr>
            <a:r>
              <a:rPr lang="en-US" sz="3450" spc="-62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an attack.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762000" y="1741438"/>
            <a:ext cx="981075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summary on the left, percent-change-in-odds per 1-SD increase on the right. The signs split cleanly in two directions.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2000" y="2133749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 OUTPUT · SUMMARY(FINAL_MODEL)</a:t>
            </a:r>
            <a:endParaRPr lang="en-US" sz="825" dirty="0"/>
          </a:p>
        </p:txBody>
      </p:sp>
      <p:sp>
        <p:nvSpPr>
          <p:cNvPr id="8" name="Shape 6"/>
          <p:cNvSpPr/>
          <p:nvPr/>
        </p:nvSpPr>
        <p:spPr>
          <a:xfrm>
            <a:off x="762000" y="2361754"/>
            <a:ext cx="8267700" cy="5583287"/>
          </a:xfrm>
          <a:prstGeom prst="roundRect">
            <a:avLst>
              <a:gd name="adj" fmla="val 1024"/>
            </a:avLst>
          </a:prstGeom>
          <a:solidFill>
            <a:srgbClr val="15181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" y="2533204"/>
            <a:ext cx="8096631" cy="5278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summary(final_model)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Call: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glm(formula = Attack_Flag ~ Fwd.Packet.Length.Min + Avg.Fwd.Segment.Size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URG.Flag.Count + Active.Std + Down.Up.Ratio + Destination.Port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Idle.Min + Avg.Bwd.Segment.Size + Bwd.IAT.Total + Init_Win_bytes_backward +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PSH.Flag.Count, family = binomial, data = train,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control = glm.control(maxit = 100))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Estimate Std. Error z value Pr(&gt;|z|)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            6.347e-02  2.066e-01   0.307 0.758635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Fwd.Packet.Length.Min   -1.291e-01  2.434e-02  -5.303 1.14e-07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Avg.Fwd.Segment.Size    -8.241e-02  1.127e-02  -7.315 2.57e-13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URG.Flag.Count          -8.178e+00  1.820e+00  -4.493 7.04e-06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Active.Std              -6.012e-01  1.005e+01  -0.060 0.952305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Down.Up.Ratio            1.520e+00  3.124e-01   4.866 1.14e-06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Destination.Port        -3.827e-05  8.449e-06  -4.529 5.92e-06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Idle.Min                 7.587e-08  1.455e-08   5.213 1.86e-07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     1.086e-03  2.818e-04   3.852 0.000117 ***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Bwd.IAT.Total           -2.480e-08  1.328e-08  -1.867 0.061856 .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Init_Win_bytes_backward -6.841e-05  2.587e-05  -2.644 0.008188 **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PSH.Flag.Count          -1.503e-02  3.333e-01  -0.045 0.964032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Signif. codes:  0 '***' 0.001 '**' 0.01 '*' 0.05 '.' 0.1 ' ' 1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(Dispersion parameter for binomial family taken to be 1)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Null deviance: 1336.70  on 1396  degrees of freedom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deviance:  458.46  on 1385  degrees of freedom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AIC: 482.46</a:t>
            </a: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endParaRPr lang="en-US" sz="863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863" dirty="0">
                <a:solidFill>
                  <a:srgbClr val="E8DE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 of Fisher Scoring iterations: 34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9258300" y="2133749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SIGNALS · INCREASE THE ODDS</a:t>
            </a:r>
            <a:endParaRPr lang="en-US" sz="825" dirty="0"/>
          </a:p>
        </p:txBody>
      </p:sp>
      <p:sp>
        <p:nvSpPr>
          <p:cNvPr id="11" name="Shape 9"/>
          <p:cNvSpPr/>
          <p:nvPr/>
        </p:nvSpPr>
        <p:spPr>
          <a:xfrm>
            <a:off x="9258300" y="2361754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58325" y="2618929"/>
            <a:ext cx="6914433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Idle.Min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228516" y="2523679"/>
            <a:ext cx="10974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+319.3%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458325" y="2945606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1-SD increase · 95% CI [+178.4%, +562.8%] · p &lt; 0.001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9258300" y="3354586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58325" y="3611761"/>
            <a:ext cx="69073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Down.Up.Ratio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221670" y="3516511"/>
            <a:ext cx="11043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+187.8%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458325" y="3938439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1-SD increase · 95% CI [+96.2%, +325.7%] · p &lt; 0.001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9258300" y="4347418"/>
            <a:ext cx="851573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Attacks often feature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prolonged idle states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asymmetric upload/download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fingerprint of automated, one-way traffic.</a:t>
            </a:r>
            <a:endParaRPr lang="en-US" sz="1013" dirty="0"/>
          </a:p>
        </p:txBody>
      </p:sp>
      <p:sp>
        <p:nvSpPr>
          <p:cNvPr id="20" name="Text 18"/>
          <p:cNvSpPr/>
          <p:nvPr/>
        </p:nvSpPr>
        <p:spPr>
          <a:xfrm>
            <a:off x="9258300" y="4705201"/>
            <a:ext cx="8515731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49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PROTECTIVE SIGNALS · SEPARATION-FLAGGED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9258300" y="4933206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>
              <a:alpha val="92000"/>
            </a:srgbClr>
          </a:solidFill>
          <a:ln w="9525">
            <a:solidFill>
              <a:srgbClr val="D7CDB4">
                <a:alpha val="9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58325" y="5190381"/>
            <a:ext cx="71098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Fwd.Packet.Length.Min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6418272" y="5095131"/>
            <a:ext cx="90770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−100%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458325" y="5517059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· separation-flagged (see Slide 12)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9258300" y="5926038"/>
            <a:ext cx="8267700" cy="897582"/>
          </a:xfrm>
          <a:prstGeom prst="roundRect">
            <a:avLst>
              <a:gd name="adj" fmla="val 4245"/>
            </a:avLst>
          </a:prstGeom>
          <a:solidFill>
            <a:srgbClr val="FBF7EC">
              <a:alpha val="92000"/>
            </a:srgbClr>
          </a:solidFill>
          <a:ln w="9525">
            <a:solidFill>
              <a:srgbClr val="D7CDB4">
                <a:alpha val="9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6183213"/>
            <a:ext cx="7109881" cy="231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1A1D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Avg.Fwd.Segment.Size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418272" y="6087963"/>
            <a:ext cx="90770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−100%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458325" y="6509891"/>
            <a:ext cx="8103679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spc="33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· separation-flagged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9258300" y="6918871"/>
            <a:ext cx="8515731" cy="224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Odds ratios saturate at −100% because attacks rarely show normal forward packet sizes. Treat as a </a:t>
            </a:r>
            <a:pPr algn="l" indent="0" marL="0">
              <a:lnSpc>
                <a:spcPct val="145000"/>
              </a:lnSpc>
              <a:buNone/>
            </a:pPr>
            <a:r>
              <a:rPr lang="en-US" sz="1013" b="1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</a:t>
            </a:r>
            <a:pPr algn="l" indent="0" marL="0">
              <a:lnSpc>
                <a:spcPct val="145000"/>
              </a:lnSpc>
              <a:buNone/>
            </a:pPr>
            <a:r>
              <a:rPr lang="en-US" sz="1013" i="1" dirty="0">
                <a:solidFill>
                  <a:srgbClr val="5A61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 only.</a:t>
            </a:r>
            <a:endParaRPr lang="en-US" sz="1013" dirty="0"/>
          </a:p>
        </p:txBody>
      </p:sp>
      <p:sp>
        <p:nvSpPr>
          <p:cNvPr id="30" name="Shape 28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1" name="Text 29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370671" y="9723239"/>
            <a:ext cx="2231529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679" y="609600"/>
            <a:ext cx="8355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62000" y="609600"/>
            <a:ext cx="153248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332583" y="609600"/>
            <a:ext cx="469153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b="1" spc="24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DEFINE NORMAL, ISOLATE THE ABNORMAL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62000" y="1152525"/>
            <a:ext cx="1726692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</a:t>
            </a:r>
            <a:pPr algn="l" indent="0" marL="0">
              <a:lnSpc>
                <a:spcPct val="104000"/>
              </a:lnSpc>
              <a:buNone/>
            </a:pPr>
            <a:r>
              <a:rPr lang="en-US" sz="4050" i="1" spc="-73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</a:t>
            </a:r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isolate the </a:t>
            </a:r>
            <a:pPr algn="l" indent="0" marL="0">
              <a:lnSpc>
                <a:spcPct val="104000"/>
              </a:lnSpc>
              <a:buNone/>
            </a:pPr>
            <a:r>
              <a:rPr lang="en-US" sz="4050" i="1" spc="-73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abnormal</a:t>
            </a:r>
            <a:pPr algn="l" indent="0" marL="0">
              <a:lnSpc>
                <a:spcPct val="104000"/>
              </a:lnSpc>
              <a:buNone/>
            </a:pPr>
            <a:r>
              <a:rPr lang="en-US" sz="4050" spc="-73" kern="0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050" dirty="0"/>
          </a:p>
        </p:txBody>
      </p:sp>
      <p:sp>
        <p:nvSpPr>
          <p:cNvPr id="6" name="Shape 4"/>
          <p:cNvSpPr/>
          <p:nvPr/>
        </p:nvSpPr>
        <p:spPr>
          <a:xfrm>
            <a:off x="762000" y="1916013"/>
            <a:ext cx="8248650" cy="2533799"/>
          </a:xfrm>
          <a:prstGeom prst="roundRect">
            <a:avLst>
              <a:gd name="adj" fmla="val 1504"/>
            </a:avLst>
          </a:prstGeom>
          <a:solidFill>
            <a:srgbClr val="FBF7EC"/>
          </a:solidFill>
          <a:ln/>
        </p:spPr>
      </p:sp>
      <p:sp>
        <p:nvSpPr>
          <p:cNvPr id="7" name="Shape 5"/>
          <p:cNvSpPr/>
          <p:nvPr/>
        </p:nvSpPr>
        <p:spPr>
          <a:xfrm>
            <a:off x="762000" y="4440287"/>
            <a:ext cx="8248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8" name="Shape 6"/>
          <p:cNvSpPr/>
          <p:nvPr/>
        </p:nvSpPr>
        <p:spPr>
          <a:xfrm>
            <a:off x="762000" y="1916013"/>
            <a:ext cx="8248650" cy="28575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762000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0" name="Shape 8"/>
          <p:cNvSpPr/>
          <p:nvPr/>
        </p:nvSpPr>
        <p:spPr>
          <a:xfrm>
            <a:off x="9001125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75" y="1830288"/>
            <a:ext cx="1724620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12" name="Text 10"/>
          <p:cNvSpPr/>
          <p:nvPr/>
        </p:nvSpPr>
        <p:spPr>
          <a:xfrm>
            <a:off x="1019175" y="1830288"/>
            <a:ext cx="164842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THE BASELINE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38225" y="2230338"/>
            <a:ext cx="792708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b="1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Multiple Linear Regression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38225" y="2866579"/>
            <a:ext cx="1028700" cy="341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124075" y="2809429"/>
            <a:ext cx="6808661" cy="482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traffic volume is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reasonably predictable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0.69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RSE ≈ 1.53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the log scale — driven primarily by base segment sizes (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Avg.Bwd.Segment.Size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active data packets.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38225" y="3349079"/>
            <a:ext cx="76962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17" name="Text 15"/>
          <p:cNvSpPr/>
          <p:nvPr/>
        </p:nvSpPr>
        <p:spPr>
          <a:xfrm>
            <a:off x="1038225" y="3511004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TRAIT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2124075" y="3453854"/>
            <a:ext cx="6808661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inherently </a:t>
            </a:r>
            <a:pPr algn="l" indent="0" marL="0">
              <a:lnSpc>
                <a:spcPct val="145000"/>
              </a:lnSpc>
              <a:buNone/>
            </a:pPr>
            <a:r>
              <a:rPr lang="en-US" sz="1200" i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heavy-tailed and heteroscedastic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 log transform was required before any baseline inference could be trusted.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77350" y="1916013"/>
            <a:ext cx="8248650" cy="2533799"/>
          </a:xfrm>
          <a:prstGeom prst="roundRect">
            <a:avLst>
              <a:gd name="adj" fmla="val 1504"/>
            </a:avLst>
          </a:prstGeom>
          <a:solidFill>
            <a:srgbClr val="FBF7EC"/>
          </a:solidFill>
          <a:ln/>
        </p:spPr>
      </p:sp>
      <p:sp>
        <p:nvSpPr>
          <p:cNvPr id="20" name="Shape 18"/>
          <p:cNvSpPr/>
          <p:nvPr/>
        </p:nvSpPr>
        <p:spPr>
          <a:xfrm>
            <a:off x="9277350" y="4440287"/>
            <a:ext cx="824865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1" name="Shape 19"/>
          <p:cNvSpPr/>
          <p:nvPr/>
        </p:nvSpPr>
        <p:spPr>
          <a:xfrm>
            <a:off x="9277350" y="1916013"/>
            <a:ext cx="8248650" cy="28575"/>
          </a:xfrm>
          <a:prstGeom prst="rect">
            <a:avLst/>
          </a:prstGeom>
          <a:solidFill>
            <a:srgbClr val="B33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9277350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3" name="Shape 21"/>
          <p:cNvSpPr/>
          <p:nvPr/>
        </p:nvSpPr>
        <p:spPr>
          <a:xfrm>
            <a:off x="17516475" y="1916013"/>
            <a:ext cx="9525" cy="2533799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24" name="Shape 22"/>
          <p:cNvSpPr/>
          <p:nvPr/>
        </p:nvSpPr>
        <p:spPr>
          <a:xfrm>
            <a:off x="9458325" y="1830288"/>
            <a:ext cx="1736080" cy="165646"/>
          </a:xfrm>
          <a:prstGeom prst="rect">
            <a:avLst/>
          </a:prstGeom>
          <a:solidFill>
            <a:srgbClr val="F4EEDF"/>
          </a:solidFill>
          <a:ln/>
        </p:spPr>
      </p:sp>
      <p:sp>
        <p:nvSpPr>
          <p:cNvPr id="25" name="Text 23"/>
          <p:cNvSpPr/>
          <p:nvPr/>
        </p:nvSpPr>
        <p:spPr>
          <a:xfrm>
            <a:off x="9534525" y="1830288"/>
            <a:ext cx="1659880" cy="203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b="1" spc="162" kern="0" dirty="0">
                <a:solidFill>
                  <a:srgbClr val="B3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THE ANOMALY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553575" y="2230338"/>
            <a:ext cx="792708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b="1" i="1" dirty="0">
                <a:solidFill>
                  <a:srgbClr val="B3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53575" y="2866579"/>
            <a:ext cx="1028700" cy="341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10639425" y="2809429"/>
            <a:ext cx="6808661" cy="70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Malicious traffic deviates sharply from the baseline. It operates disproportionately on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Registered Ports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(44.4% attack rate) and shows anomalous timing (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Idle.Min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asymmetric flow ( </a:t>
            </a:r>
            <a:pPr algn="l" indent="0" marL="0">
              <a:lnSpc>
                <a:spcPct val="145000"/>
              </a:lnSpc>
              <a:buNone/>
            </a:pPr>
            <a:r>
              <a:rPr lang="en-US" sz="1104" dirty="0">
                <a:solidFill>
                  <a:srgbClr val="2C31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Down.Up.Ratio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553575" y="3569940"/>
            <a:ext cx="76962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0" name="Text 28"/>
          <p:cNvSpPr/>
          <p:nvPr/>
        </p:nvSpPr>
        <p:spPr>
          <a:xfrm>
            <a:off x="9553575" y="3731865"/>
            <a:ext cx="1028700" cy="1899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825" b="1" spc="132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TRAIT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10639425" y="3674715"/>
            <a:ext cx="6808661" cy="479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These deviations let a first-order logistic model isolate attacks with </a:t>
            </a:r>
            <a:pPr algn="l"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95.3% sensitivity at the Youden's-optimal cutoff </a:t>
            </a:r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C31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(accuracy 90.3%, AUC = 0.9625).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2000" y="4678412"/>
            <a:ext cx="16764000" cy="1085850"/>
          </a:xfrm>
          <a:prstGeom prst="roundRect">
            <a:avLst>
              <a:gd name="adj" fmla="val 3509"/>
            </a:avLst>
          </a:prstGeom>
          <a:solidFill>
            <a:srgbClr val="FBF7EC"/>
          </a:solidFill>
          <a:ln w="9525">
            <a:solidFill>
              <a:srgbClr val="D7CDB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8225" y="4927997"/>
            <a:ext cx="151211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mathematically defining the </a:t>
            </a:r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of benign flow </a:t>
            </a:r>
            <a:pPr algn="l" indent="0" marL="0">
              <a:lnSpc>
                <a:spcPct val="140000"/>
              </a:lnSpc>
              <a:buNone/>
            </a:pPr>
            <a:r>
              <a:rPr lang="en-US" sz="1650" i="1" dirty="0">
                <a:solidFill>
                  <a:srgbClr val="1A1D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anomalous network intrusions become statistically glaring — enabling highly sensitive automated detection.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5947529" y="4859387"/>
            <a:ext cx="109805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95.3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16893183" y="5030837"/>
            <a:ext cx="35659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15871329" y="5449937"/>
            <a:ext cx="1378446" cy="133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spc="150" kern="0" dirty="0">
                <a:solidFill>
                  <a:srgbClr val="5A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SENSITIVITY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62000" y="9580364"/>
            <a:ext cx="16764000" cy="9525"/>
          </a:xfrm>
          <a:prstGeom prst="rect">
            <a:avLst/>
          </a:prstGeom>
          <a:solidFill>
            <a:srgbClr val="D7CDB4"/>
          </a:solidFill>
          <a:ln/>
        </p:spPr>
      </p:sp>
      <p:sp>
        <p:nvSpPr>
          <p:cNvPr id="38" name="Text 36"/>
          <p:cNvSpPr/>
          <p:nvPr/>
        </p:nvSpPr>
        <p:spPr>
          <a:xfrm>
            <a:off x="762000" y="9723239"/>
            <a:ext cx="4936034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 CICIDS 2017 INTRUSION DATA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4891891" y="9723239"/>
            <a:ext cx="2713132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b="1" spc="216" kern="0" dirty="0">
                <a:solidFill>
                  <a:srgbClr val="8A8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II · MAY 2026 · FIN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2026-05-21T01:35:15Z</dcterms:created>
  <dcterms:modified xsi:type="dcterms:W3CDTF">2026-05-21T01:35:15Z</dcterms:modified>
</cp:coreProperties>
</file>