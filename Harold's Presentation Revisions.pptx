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620" y="0"/>
            <a:ext cx="6949380" cy="10287000"/>
          </a:xfrm>
          <a:prstGeom prst="rect">
            <a:avLst/>
          </a:prstGeom>
          <a:solidFill>
            <a:srgbClr val="EAE0C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09600"/>
            <a:ext cx="3303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D4B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0498" y="609600"/>
            <a:ext cx="32846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STATISTICS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286000"/>
            <a:ext cx="10140483" cy="2486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spc="-12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Analysis of </a:t>
            </a:r>
            <a:pPr algn="l" indent="0" marL="0">
              <a:lnSpc>
                <a:spcPct val="102000"/>
              </a:lnSpc>
              <a:buNone/>
            </a:pPr>
            <a:r>
              <a:rPr lang="en-US" sz="6300" i="1" spc="-126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CICIDS 2017 </a:t>
            </a:r>
            <a:pPr algn="l" indent="0" marL="0">
              <a:lnSpc>
                <a:spcPct val="102000"/>
              </a:lnSpc>
              <a:buNone/>
            </a:pPr>
            <a:r>
              <a:rPr lang="en-US" sz="6300" spc="-12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Intrusion </a:t>
            </a:r>
            <a:pPr algn="l" indent="0" marL="0">
              <a:lnSpc>
                <a:spcPct val="102000"/>
              </a:lnSpc>
              <a:buNone/>
            </a:pPr>
            <a:r>
              <a:rPr lang="en-US" sz="6300" i="1" spc="-126" kern="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762000" y="5096024"/>
            <a:ext cx="1143000" cy="14288"/>
          </a:xfrm>
          <a:prstGeom prst="rect">
            <a:avLst/>
          </a:prstGeom>
          <a:solidFill>
            <a:srgbClr val="5A6173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5377011"/>
            <a:ext cx="863346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normal traffic and isolating threats via multiple linear &amp; logistic regression.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00" y="9565481"/>
            <a:ext cx="3259009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spc="247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IDC 5205 · MAY 2026</a:t>
            </a:r>
            <a:endParaRPr lang="en-US" sz="11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2582" y="2212333"/>
            <a:ext cx="5862335" cy="58623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66144" y="609600"/>
            <a:ext cx="289662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34" kern="0" dirty="0">
                <a:solidFill>
                  <a:srgbClr val="70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· CICIDS 2017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7316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31739" y="609600"/>
            <a:ext cx="25680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RESEARCH QUESTIONS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spc="-7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76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7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76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7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1859607"/>
            <a:ext cx="981075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split the question in two: first describe normal network behavior, then learn what makes an attack look different.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62000" y="2771924"/>
            <a:ext cx="5435501" cy="2712095"/>
          </a:xfrm>
          <a:prstGeom prst="roundRect">
            <a:avLst>
              <a:gd name="adj" fmla="val 140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975" y="2667149"/>
            <a:ext cx="1315938" cy="165646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9" name="Text 7"/>
          <p:cNvSpPr/>
          <p:nvPr/>
        </p:nvSpPr>
        <p:spPr>
          <a:xfrm>
            <a:off x="1019175" y="2667149"/>
            <a:ext cx="1239738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TERRAIN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9175" y="3067199"/>
            <a:ext cx="506878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CICIDS 2017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19175" y="3684389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105025" y="3627239"/>
            <a:ext cx="395036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Canadian Institute for Cybersecurity.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9175" y="3943350"/>
            <a:ext cx="492115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9175" y="4105275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105025" y="4048125"/>
            <a:ext cx="395036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 columns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describing packet sizes, timing, TCP flags, and routing.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9175" y="4585097"/>
            <a:ext cx="492115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175" y="4747022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105025" y="4689872"/>
            <a:ext cx="3950360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~250 rows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drawn from each raw CSV across 8 days of traffic, cleaned to remove infinities and NAs.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26101" y="2771924"/>
            <a:ext cx="5435650" cy="2712095"/>
          </a:xfrm>
          <a:prstGeom prst="roundRect">
            <a:avLst>
              <a:gd name="adj" fmla="val 1405"/>
            </a:avLst>
          </a:prstGeom>
          <a:solidFill>
            <a:srgbClr val="FBF7E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6101" y="5474494"/>
            <a:ext cx="543565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6101" y="2771924"/>
            <a:ext cx="5435650" cy="285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6101" y="2771924"/>
            <a:ext cx="9525" cy="271209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52225" y="2771924"/>
            <a:ext cx="9525" cy="271209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4" name="Shape 22"/>
          <p:cNvSpPr/>
          <p:nvPr/>
        </p:nvSpPr>
        <p:spPr>
          <a:xfrm>
            <a:off x="6607076" y="2686199"/>
            <a:ext cx="1110555" cy="165646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25" name="Text 23"/>
          <p:cNvSpPr/>
          <p:nvPr/>
        </p:nvSpPr>
        <p:spPr>
          <a:xfrm>
            <a:off x="6683276" y="2686199"/>
            <a:ext cx="1034355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MLR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83276" y="3086249"/>
            <a:ext cx="506893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what's normal.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83276" y="3703439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769126" y="3646289"/>
            <a:ext cx="395051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 traffic only.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83276" y="3962400"/>
            <a:ext cx="49213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0" name="Text 28"/>
          <p:cNvSpPr/>
          <p:nvPr/>
        </p:nvSpPr>
        <p:spPr>
          <a:xfrm>
            <a:off x="6683276" y="4124325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769126" y="4067175"/>
            <a:ext cx="3950513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network flow features best predict total byte volume ( </a:t>
            </a:r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Flow.Bytes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83276" y="4604147"/>
            <a:ext cx="49213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3" name="Text 31"/>
          <p:cNvSpPr/>
          <p:nvPr/>
        </p:nvSpPr>
        <p:spPr>
          <a:xfrm>
            <a:off x="6683276" y="4766072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769126" y="4708922"/>
            <a:ext cx="3950513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components that contribute to network flow in benign network configurations.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090350" y="2771924"/>
            <a:ext cx="5435650" cy="2712095"/>
          </a:xfrm>
          <a:prstGeom prst="roundRect">
            <a:avLst>
              <a:gd name="adj" fmla="val 1405"/>
            </a:avLst>
          </a:prstGeom>
          <a:solidFill>
            <a:srgbClr val="FBF7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90350" y="5474494"/>
            <a:ext cx="543565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90350" y="2771924"/>
            <a:ext cx="5435650" cy="28575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90350" y="2771924"/>
            <a:ext cx="9525" cy="271209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9" name="Shape 37"/>
          <p:cNvSpPr/>
          <p:nvPr/>
        </p:nvSpPr>
        <p:spPr>
          <a:xfrm>
            <a:off x="17516475" y="2771924"/>
            <a:ext cx="9525" cy="271209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0" name="Shape 38"/>
          <p:cNvSpPr/>
          <p:nvPr/>
        </p:nvSpPr>
        <p:spPr>
          <a:xfrm>
            <a:off x="12271325" y="2686199"/>
            <a:ext cx="1428155" cy="165646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41" name="Text 39"/>
          <p:cNvSpPr/>
          <p:nvPr/>
        </p:nvSpPr>
        <p:spPr>
          <a:xfrm>
            <a:off x="12347525" y="2686199"/>
            <a:ext cx="1351955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LOGISTIC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347525" y="3086249"/>
            <a:ext cx="506893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the culprit.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2347525" y="3703439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3433375" y="3646289"/>
            <a:ext cx="395051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traffic — benign and attack.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2347525" y="3962400"/>
            <a:ext cx="49213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7525" y="4124325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3433375" y="4067175"/>
            <a:ext cx="3950513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features actually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 attack flows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benign ones?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2347525" y="4604147"/>
            <a:ext cx="49213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9" name="Text 47"/>
          <p:cNvSpPr/>
          <p:nvPr/>
        </p:nvSpPr>
        <p:spPr>
          <a:xfrm>
            <a:off x="12347525" y="4766072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3433375" y="4708922"/>
            <a:ext cx="3950513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risk factors and classify each flow as benign or attack.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15452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45382" y="609600"/>
            <a:ext cx="24431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VARIABLE GROUPING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ct val="104000"/>
              </a:lnSpc>
              <a:buNone/>
            </a:pPr>
            <a:r>
              <a:rPr lang="en-US" sz="4500" i="1" spc="-81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 sets </a:t>
            </a:r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each model.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62000" y="1899196"/>
            <a:ext cx="9810750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variable selection, two compact predictor sets remain — eight for the linear baseline, and thirteen for the classifier (later pruned to eleven via VIF in </a:t>
            </a:r>
            <a:pPr algn="l" indent="0" marL="0">
              <a:lnSpc>
                <a:spcPct val="145000"/>
              </a:lnSpc>
              <a:buNone/>
            </a:pPr>
            <a:r>
              <a:rPr lang="en-US" sz="1449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Logistic.R</a:t>
            </a:r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2707630"/>
            <a:ext cx="8229600" cy="5925741"/>
          </a:xfrm>
          <a:prstGeom prst="roundRect">
            <a:avLst>
              <a:gd name="adj" fmla="val 643"/>
            </a:avLst>
          </a:prstGeom>
          <a:solidFill>
            <a:srgbClr val="FBF7E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8623846"/>
            <a:ext cx="82296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707630"/>
            <a:ext cx="8229600" cy="285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707630"/>
            <a:ext cx="9525" cy="592574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1" name="Shape 9"/>
          <p:cNvSpPr/>
          <p:nvPr/>
        </p:nvSpPr>
        <p:spPr>
          <a:xfrm>
            <a:off x="8982075" y="2707630"/>
            <a:ext cx="9525" cy="592574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2" name="Shape 10"/>
          <p:cNvSpPr/>
          <p:nvPr/>
        </p:nvSpPr>
        <p:spPr>
          <a:xfrm>
            <a:off x="942975" y="2621905"/>
            <a:ext cx="2322165" cy="179487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175" y="2621905"/>
            <a:ext cx="224596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LINEAR REGRESSION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057275" y="3021955"/>
            <a:ext cx="786822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25" b="1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</a:t>
            </a:r>
            <a:pPr algn="l" indent="0" marL="0">
              <a:lnSpc>
                <a:spcPct val="120000"/>
              </a:lnSpc>
              <a:buNone/>
            </a:pPr>
            <a:r>
              <a:rPr lang="en-US" sz="2025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Flow.Bytes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57275" y="3482876"/>
            <a:ext cx="7868221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5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USED IN </a:t>
            </a:r>
            <a:pPr algn="l" indent="0" marL="0">
              <a:lnSpc>
                <a:spcPct val="145000"/>
              </a:lnSpc>
              <a:buNone/>
            </a:pPr>
            <a:r>
              <a:rPr lang="en-US" sz="926" spc="156" kern="0" dirty="0">
                <a:solidFill>
                  <a:srgbClr val="8A8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MLR_DATA.CSV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57275" y="3862834"/>
            <a:ext cx="152831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17" name="Text 15"/>
          <p:cNvSpPr/>
          <p:nvPr/>
        </p:nvSpPr>
        <p:spPr>
          <a:xfrm>
            <a:off x="1114425" y="3881884"/>
            <a:ext cx="149021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min_seg_size_forward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552825" y="3862834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segment size in forward direction.</a:t>
            </a:r>
            <a:endParaRPr lang="en-US" sz="1163" dirty="0"/>
          </a:p>
        </p:txBody>
      </p:sp>
      <p:sp>
        <p:nvSpPr>
          <p:cNvPr id="19" name="Shape 17"/>
          <p:cNvSpPr/>
          <p:nvPr/>
        </p:nvSpPr>
        <p:spPr>
          <a:xfrm>
            <a:off x="1057275" y="4141143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7275" y="4217343"/>
            <a:ext cx="1245543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425" y="4236393"/>
            <a:ext cx="1207443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act_data_pkt_fwd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3552825" y="4217343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of forward packets with actual data.</a:t>
            </a:r>
            <a:endParaRPr lang="en-US" sz="1163" dirty="0"/>
          </a:p>
        </p:txBody>
      </p:sp>
      <p:sp>
        <p:nvSpPr>
          <p:cNvPr id="23" name="Shape 21"/>
          <p:cNvSpPr/>
          <p:nvPr/>
        </p:nvSpPr>
        <p:spPr>
          <a:xfrm>
            <a:off x="1057275" y="4495651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7275" y="4571851"/>
            <a:ext cx="152831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25" name="Text 23"/>
          <p:cNvSpPr/>
          <p:nvPr/>
        </p:nvSpPr>
        <p:spPr>
          <a:xfrm>
            <a:off x="1114425" y="4590901"/>
            <a:ext cx="149021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3552825" y="4571851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size of backward data segments.</a:t>
            </a:r>
            <a:endParaRPr lang="en-US" sz="1163" dirty="0"/>
          </a:p>
        </p:txBody>
      </p:sp>
      <p:sp>
        <p:nvSpPr>
          <p:cNvPr id="27" name="Shape 25"/>
          <p:cNvSpPr/>
          <p:nvPr/>
        </p:nvSpPr>
        <p:spPr>
          <a:xfrm>
            <a:off x="1057275" y="4850160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7275" y="4926360"/>
            <a:ext cx="1599009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29" name="Text 27"/>
          <p:cNvSpPr/>
          <p:nvPr/>
        </p:nvSpPr>
        <p:spPr>
          <a:xfrm>
            <a:off x="1114425" y="4945410"/>
            <a:ext cx="1560909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Bwd.Packet.Length.Min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3552825" y="4926360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length of backward packets.</a:t>
            </a:r>
            <a:endParaRPr lang="en-US" sz="1163" dirty="0"/>
          </a:p>
        </p:txBody>
      </p:sp>
      <p:sp>
        <p:nvSpPr>
          <p:cNvPr id="31" name="Shape 29"/>
          <p:cNvSpPr/>
          <p:nvPr/>
        </p:nvSpPr>
        <p:spPr>
          <a:xfrm>
            <a:off x="1057275" y="5204668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7275" y="5280868"/>
            <a:ext cx="1599009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33" name="Text 31"/>
          <p:cNvSpPr/>
          <p:nvPr/>
        </p:nvSpPr>
        <p:spPr>
          <a:xfrm>
            <a:off x="1114425" y="5299918"/>
            <a:ext cx="1560909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Bwd.Packet.Length.Std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3552825" y="5280868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 of backward packet lengths.</a:t>
            </a:r>
            <a:endParaRPr lang="en-US" sz="1163" dirty="0"/>
          </a:p>
        </p:txBody>
      </p:sp>
      <p:sp>
        <p:nvSpPr>
          <p:cNvPr id="35" name="Shape 33"/>
          <p:cNvSpPr/>
          <p:nvPr/>
        </p:nvSpPr>
        <p:spPr>
          <a:xfrm>
            <a:off x="1057275" y="5559177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7275" y="5635377"/>
            <a:ext cx="110415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37" name="Text 35"/>
          <p:cNvSpPr/>
          <p:nvPr/>
        </p:nvSpPr>
        <p:spPr>
          <a:xfrm>
            <a:off x="1114425" y="5654427"/>
            <a:ext cx="106605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PSH.Flag.Count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3552825" y="5635377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of push TCP flags.</a:t>
            </a:r>
            <a:endParaRPr lang="en-US" sz="1163" dirty="0"/>
          </a:p>
        </p:txBody>
      </p:sp>
      <p:sp>
        <p:nvSpPr>
          <p:cNvPr id="39" name="Shape 37"/>
          <p:cNvSpPr/>
          <p:nvPr/>
        </p:nvSpPr>
        <p:spPr>
          <a:xfrm>
            <a:off x="1057275" y="5913686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7275" y="5989886"/>
            <a:ext cx="821382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41" name="Text 39"/>
          <p:cNvSpPr/>
          <p:nvPr/>
        </p:nvSpPr>
        <p:spPr>
          <a:xfrm>
            <a:off x="1114425" y="6008936"/>
            <a:ext cx="78328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Active.Max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3552825" y="5989886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time flow remained active.</a:t>
            </a:r>
            <a:endParaRPr lang="en-US" sz="1163" dirty="0"/>
          </a:p>
        </p:txBody>
      </p:sp>
      <p:sp>
        <p:nvSpPr>
          <p:cNvPr id="43" name="Shape 41"/>
          <p:cNvSpPr/>
          <p:nvPr/>
        </p:nvSpPr>
        <p:spPr>
          <a:xfrm>
            <a:off x="1057275" y="6268194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7275" y="6344394"/>
            <a:ext cx="821382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45" name="Text 43"/>
          <p:cNvSpPr/>
          <p:nvPr/>
        </p:nvSpPr>
        <p:spPr>
          <a:xfrm>
            <a:off x="1114425" y="6363444"/>
            <a:ext cx="78328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3552825" y="6344394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 of active time.</a:t>
            </a:r>
            <a:endParaRPr lang="en-US" sz="1163" dirty="0"/>
          </a:p>
        </p:txBody>
      </p:sp>
      <p:sp>
        <p:nvSpPr>
          <p:cNvPr id="47" name="Shape 45"/>
          <p:cNvSpPr/>
          <p:nvPr/>
        </p:nvSpPr>
        <p:spPr>
          <a:xfrm>
            <a:off x="9296400" y="2707630"/>
            <a:ext cx="8229600" cy="5925741"/>
          </a:xfrm>
          <a:prstGeom prst="roundRect">
            <a:avLst>
              <a:gd name="adj" fmla="val 643"/>
            </a:avLst>
          </a:prstGeom>
          <a:solidFill>
            <a:srgbClr val="FBF7EC"/>
          </a:solidFill>
          <a:ln/>
        </p:spPr>
      </p:sp>
      <p:sp>
        <p:nvSpPr>
          <p:cNvPr id="48" name="Shape 46"/>
          <p:cNvSpPr/>
          <p:nvPr/>
        </p:nvSpPr>
        <p:spPr>
          <a:xfrm>
            <a:off x="9296400" y="8623846"/>
            <a:ext cx="82296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9" name="Shape 47"/>
          <p:cNvSpPr/>
          <p:nvPr/>
        </p:nvSpPr>
        <p:spPr>
          <a:xfrm>
            <a:off x="9296400" y="2707630"/>
            <a:ext cx="8229600" cy="28575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50" name="Shape 48"/>
          <p:cNvSpPr/>
          <p:nvPr/>
        </p:nvSpPr>
        <p:spPr>
          <a:xfrm>
            <a:off x="9296400" y="2707630"/>
            <a:ext cx="9525" cy="592574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6475" y="2707630"/>
            <a:ext cx="9525" cy="592574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2" name="Shape 50"/>
          <p:cNvSpPr/>
          <p:nvPr/>
        </p:nvSpPr>
        <p:spPr>
          <a:xfrm>
            <a:off x="9477375" y="2621905"/>
            <a:ext cx="2459236" cy="179487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53" name="Text 51"/>
          <p:cNvSpPr/>
          <p:nvPr/>
        </p:nvSpPr>
        <p:spPr>
          <a:xfrm>
            <a:off x="9553575" y="2621905"/>
            <a:ext cx="238303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LOGISTIC REGRESSION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591675" y="3021955"/>
            <a:ext cx="786822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25" b="1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</a:t>
            </a:r>
            <a:pPr algn="l" indent="0" marL="0">
              <a:lnSpc>
                <a:spcPct val="120000"/>
              </a:lnSpc>
              <a:buNone/>
            </a:pPr>
            <a:r>
              <a:rPr lang="en-US" sz="2025" b="1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Attack_Flag</a:t>
            </a:r>
            <a:endParaRPr lang="en-US" sz="2025" dirty="0"/>
          </a:p>
        </p:txBody>
      </p:sp>
      <p:sp>
        <p:nvSpPr>
          <p:cNvPr id="55" name="Text 53"/>
          <p:cNvSpPr/>
          <p:nvPr/>
        </p:nvSpPr>
        <p:spPr>
          <a:xfrm>
            <a:off x="9591675" y="3482876"/>
            <a:ext cx="7868221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5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USED IN </a:t>
            </a:r>
            <a:pPr algn="l" indent="0" marL="0">
              <a:lnSpc>
                <a:spcPct val="145000"/>
              </a:lnSpc>
              <a:buNone/>
            </a:pPr>
            <a:r>
              <a:rPr lang="en-US" sz="926" spc="156" kern="0" dirty="0">
                <a:solidFill>
                  <a:srgbClr val="8A8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GLM_DATA.CSV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9591675" y="3862834"/>
            <a:ext cx="1245543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57" name="Text 55"/>
          <p:cNvSpPr/>
          <p:nvPr/>
        </p:nvSpPr>
        <p:spPr>
          <a:xfrm>
            <a:off x="9648825" y="3881884"/>
            <a:ext cx="1207443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</a:t>
            </a:r>
            <a:endParaRPr lang="en-US" sz="1013" dirty="0"/>
          </a:p>
        </p:txBody>
      </p:sp>
      <p:sp>
        <p:nvSpPr>
          <p:cNvPr id="58" name="Text 56"/>
          <p:cNvSpPr/>
          <p:nvPr/>
        </p:nvSpPr>
        <p:spPr>
          <a:xfrm>
            <a:off x="12087225" y="3862834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targeted network port.</a:t>
            </a:r>
            <a:endParaRPr lang="en-US" sz="1163" dirty="0"/>
          </a:p>
        </p:txBody>
      </p:sp>
      <p:sp>
        <p:nvSpPr>
          <p:cNvPr id="59" name="Shape 57"/>
          <p:cNvSpPr/>
          <p:nvPr/>
        </p:nvSpPr>
        <p:spPr>
          <a:xfrm>
            <a:off x="9591675" y="4141143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60" name="Shape 58"/>
          <p:cNvSpPr/>
          <p:nvPr/>
        </p:nvSpPr>
        <p:spPr>
          <a:xfrm>
            <a:off x="9591675" y="4217343"/>
            <a:ext cx="1669703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61" name="Text 59"/>
          <p:cNvSpPr/>
          <p:nvPr/>
        </p:nvSpPr>
        <p:spPr>
          <a:xfrm>
            <a:off x="9648825" y="4236393"/>
            <a:ext cx="1631603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Packet.Length.Variance</a:t>
            </a:r>
            <a:endParaRPr lang="en-US" sz="1013" dirty="0"/>
          </a:p>
        </p:txBody>
      </p:sp>
      <p:sp>
        <p:nvSpPr>
          <p:cNvPr id="62" name="Text 60"/>
          <p:cNvSpPr/>
          <p:nvPr/>
        </p:nvSpPr>
        <p:spPr>
          <a:xfrm>
            <a:off x="12087225" y="4217343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in packet payload size.</a:t>
            </a:r>
            <a:endParaRPr lang="en-US" sz="1163" dirty="0"/>
          </a:p>
        </p:txBody>
      </p:sp>
      <p:sp>
        <p:nvSpPr>
          <p:cNvPr id="63" name="Shape 61"/>
          <p:cNvSpPr/>
          <p:nvPr/>
        </p:nvSpPr>
        <p:spPr>
          <a:xfrm>
            <a:off x="9591675" y="4495651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64" name="Shape 62"/>
          <p:cNvSpPr/>
          <p:nvPr/>
        </p:nvSpPr>
        <p:spPr>
          <a:xfrm>
            <a:off x="9591675" y="4571851"/>
            <a:ext cx="152831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65" name="Text 63"/>
          <p:cNvSpPr/>
          <p:nvPr/>
        </p:nvSpPr>
        <p:spPr>
          <a:xfrm>
            <a:off x="9648825" y="4590901"/>
            <a:ext cx="149021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Avg.Fwd.Segment.Size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12087225" y="4571851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size of forward data segments.</a:t>
            </a:r>
            <a:endParaRPr lang="en-US" sz="1163" dirty="0"/>
          </a:p>
        </p:txBody>
      </p:sp>
      <p:sp>
        <p:nvSpPr>
          <p:cNvPr id="67" name="Shape 65"/>
          <p:cNvSpPr/>
          <p:nvPr/>
        </p:nvSpPr>
        <p:spPr>
          <a:xfrm>
            <a:off x="9591675" y="4850160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68" name="Shape 66"/>
          <p:cNvSpPr/>
          <p:nvPr/>
        </p:nvSpPr>
        <p:spPr>
          <a:xfrm>
            <a:off x="9591675" y="4926360"/>
            <a:ext cx="152831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69" name="Text 67"/>
          <p:cNvSpPr/>
          <p:nvPr/>
        </p:nvSpPr>
        <p:spPr>
          <a:xfrm>
            <a:off x="9648825" y="4945410"/>
            <a:ext cx="149021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013" dirty="0"/>
          </a:p>
        </p:txBody>
      </p:sp>
      <p:sp>
        <p:nvSpPr>
          <p:cNvPr id="70" name="Text 68"/>
          <p:cNvSpPr/>
          <p:nvPr/>
        </p:nvSpPr>
        <p:spPr>
          <a:xfrm>
            <a:off x="12087225" y="4926360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size of backward data segments.</a:t>
            </a:r>
            <a:endParaRPr lang="en-US" sz="1163" dirty="0"/>
          </a:p>
        </p:txBody>
      </p:sp>
      <p:sp>
        <p:nvSpPr>
          <p:cNvPr id="71" name="Shape 69"/>
          <p:cNvSpPr/>
          <p:nvPr/>
        </p:nvSpPr>
        <p:spPr>
          <a:xfrm>
            <a:off x="9591675" y="5204668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72" name="Shape 70"/>
          <p:cNvSpPr/>
          <p:nvPr/>
        </p:nvSpPr>
        <p:spPr>
          <a:xfrm>
            <a:off x="9591675" y="5280868"/>
            <a:ext cx="1599009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73" name="Text 71"/>
          <p:cNvSpPr/>
          <p:nvPr/>
        </p:nvSpPr>
        <p:spPr>
          <a:xfrm>
            <a:off x="9648825" y="5299918"/>
            <a:ext cx="1560909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Fwd.Packet.Length.Min</a:t>
            </a:r>
            <a:endParaRPr lang="en-US" sz="1013" dirty="0"/>
          </a:p>
        </p:txBody>
      </p:sp>
      <p:sp>
        <p:nvSpPr>
          <p:cNvPr id="74" name="Text 72"/>
          <p:cNvSpPr/>
          <p:nvPr/>
        </p:nvSpPr>
        <p:spPr>
          <a:xfrm>
            <a:off x="12087225" y="5280868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length of forward packets.</a:t>
            </a:r>
            <a:endParaRPr lang="en-US" sz="1163" dirty="0"/>
          </a:p>
        </p:txBody>
      </p:sp>
      <p:sp>
        <p:nvSpPr>
          <p:cNvPr id="75" name="Shape 73"/>
          <p:cNvSpPr/>
          <p:nvPr/>
        </p:nvSpPr>
        <p:spPr>
          <a:xfrm>
            <a:off x="9591675" y="5559177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76" name="Shape 74"/>
          <p:cNvSpPr/>
          <p:nvPr/>
        </p:nvSpPr>
        <p:spPr>
          <a:xfrm>
            <a:off x="9591675" y="5635377"/>
            <a:ext cx="1033462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77" name="Text 75"/>
          <p:cNvSpPr/>
          <p:nvPr/>
        </p:nvSpPr>
        <p:spPr>
          <a:xfrm>
            <a:off x="9648825" y="5654427"/>
            <a:ext cx="99536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Bwd.IAT.Total</a:t>
            </a:r>
            <a:endParaRPr lang="en-US" sz="1013" dirty="0"/>
          </a:p>
        </p:txBody>
      </p:sp>
      <p:sp>
        <p:nvSpPr>
          <p:cNvPr id="78" name="Text 76"/>
          <p:cNvSpPr/>
          <p:nvPr/>
        </p:nvSpPr>
        <p:spPr>
          <a:xfrm>
            <a:off x="12087225" y="5635377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inter-arrival time for backward packets.</a:t>
            </a:r>
            <a:endParaRPr lang="en-US" sz="1163" dirty="0"/>
          </a:p>
        </p:txBody>
      </p:sp>
      <p:sp>
        <p:nvSpPr>
          <p:cNvPr id="79" name="Shape 77"/>
          <p:cNvSpPr/>
          <p:nvPr/>
        </p:nvSpPr>
        <p:spPr>
          <a:xfrm>
            <a:off x="9591675" y="5913686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80" name="Shape 78"/>
          <p:cNvSpPr/>
          <p:nvPr/>
        </p:nvSpPr>
        <p:spPr>
          <a:xfrm>
            <a:off x="9591675" y="5989886"/>
            <a:ext cx="89207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81" name="Text 79"/>
          <p:cNvSpPr/>
          <p:nvPr/>
        </p:nvSpPr>
        <p:spPr>
          <a:xfrm>
            <a:off x="9648825" y="6008936"/>
            <a:ext cx="85397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Bwd.IAT.Max</a:t>
            </a:r>
            <a:endParaRPr lang="en-US" sz="1013" dirty="0"/>
          </a:p>
        </p:txBody>
      </p:sp>
      <p:sp>
        <p:nvSpPr>
          <p:cNvPr id="82" name="Text 80"/>
          <p:cNvSpPr/>
          <p:nvPr/>
        </p:nvSpPr>
        <p:spPr>
          <a:xfrm>
            <a:off x="12087225" y="5989886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inter-arrival time for backward packets.</a:t>
            </a:r>
            <a:endParaRPr lang="en-US" sz="1163" dirty="0"/>
          </a:p>
        </p:txBody>
      </p:sp>
      <p:sp>
        <p:nvSpPr>
          <p:cNvPr id="83" name="Shape 81"/>
          <p:cNvSpPr/>
          <p:nvPr/>
        </p:nvSpPr>
        <p:spPr>
          <a:xfrm>
            <a:off x="9591675" y="6268194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84" name="Shape 82"/>
          <p:cNvSpPr/>
          <p:nvPr/>
        </p:nvSpPr>
        <p:spPr>
          <a:xfrm>
            <a:off x="9591675" y="6344394"/>
            <a:ext cx="174039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85" name="Text 83"/>
          <p:cNvSpPr/>
          <p:nvPr/>
        </p:nvSpPr>
        <p:spPr>
          <a:xfrm>
            <a:off x="9648825" y="6363444"/>
            <a:ext cx="170229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Init_Win_bytes_backward</a:t>
            </a:r>
            <a:endParaRPr lang="en-US" sz="1013" dirty="0"/>
          </a:p>
        </p:txBody>
      </p:sp>
      <p:sp>
        <p:nvSpPr>
          <p:cNvPr id="86" name="Text 84"/>
          <p:cNvSpPr/>
          <p:nvPr/>
        </p:nvSpPr>
        <p:spPr>
          <a:xfrm>
            <a:off x="12087225" y="6344394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TCP window size (backward).</a:t>
            </a:r>
            <a:endParaRPr lang="en-US" sz="1163" dirty="0"/>
          </a:p>
        </p:txBody>
      </p:sp>
      <p:sp>
        <p:nvSpPr>
          <p:cNvPr id="87" name="Shape 85"/>
          <p:cNvSpPr/>
          <p:nvPr/>
        </p:nvSpPr>
        <p:spPr>
          <a:xfrm>
            <a:off x="9591675" y="6622703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88" name="Shape 86"/>
          <p:cNvSpPr/>
          <p:nvPr/>
        </p:nvSpPr>
        <p:spPr>
          <a:xfrm>
            <a:off x="9591675" y="6698903"/>
            <a:ext cx="1033462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89" name="Text 87"/>
          <p:cNvSpPr/>
          <p:nvPr/>
        </p:nvSpPr>
        <p:spPr>
          <a:xfrm>
            <a:off x="9648825" y="6717953"/>
            <a:ext cx="99536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Down.Up.Ratio</a:t>
            </a:r>
            <a:endParaRPr lang="en-US" sz="1013" dirty="0"/>
          </a:p>
        </p:txBody>
      </p:sp>
      <p:sp>
        <p:nvSpPr>
          <p:cNvPr id="90" name="Text 88"/>
          <p:cNvSpPr/>
          <p:nvPr/>
        </p:nvSpPr>
        <p:spPr>
          <a:xfrm>
            <a:off x="12087225" y="6698903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 of downloaded to uploaded data.</a:t>
            </a:r>
            <a:endParaRPr lang="en-US" sz="1163" dirty="0"/>
          </a:p>
        </p:txBody>
      </p:sp>
      <p:sp>
        <p:nvSpPr>
          <p:cNvPr id="91" name="Shape 89"/>
          <p:cNvSpPr/>
          <p:nvPr/>
        </p:nvSpPr>
        <p:spPr>
          <a:xfrm>
            <a:off x="9591675" y="6977211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92" name="Shape 90"/>
          <p:cNvSpPr/>
          <p:nvPr/>
        </p:nvSpPr>
        <p:spPr>
          <a:xfrm>
            <a:off x="9591675" y="7053411"/>
            <a:ext cx="110415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93" name="Text 91"/>
          <p:cNvSpPr/>
          <p:nvPr/>
        </p:nvSpPr>
        <p:spPr>
          <a:xfrm>
            <a:off x="9648825" y="7072461"/>
            <a:ext cx="106605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URG.Flag.Count</a:t>
            </a:r>
            <a:endParaRPr lang="en-US" sz="1013" dirty="0"/>
          </a:p>
        </p:txBody>
      </p:sp>
      <p:sp>
        <p:nvSpPr>
          <p:cNvPr id="94" name="Text 92"/>
          <p:cNvSpPr/>
          <p:nvPr/>
        </p:nvSpPr>
        <p:spPr>
          <a:xfrm>
            <a:off x="12087225" y="7053411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of urgent TCP flags.</a:t>
            </a:r>
            <a:endParaRPr lang="en-US" sz="1163" dirty="0"/>
          </a:p>
        </p:txBody>
      </p:sp>
      <p:sp>
        <p:nvSpPr>
          <p:cNvPr id="95" name="Shape 93"/>
          <p:cNvSpPr/>
          <p:nvPr/>
        </p:nvSpPr>
        <p:spPr>
          <a:xfrm>
            <a:off x="9591675" y="7331720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96" name="Shape 94"/>
          <p:cNvSpPr/>
          <p:nvPr/>
        </p:nvSpPr>
        <p:spPr>
          <a:xfrm>
            <a:off x="9591675" y="7407920"/>
            <a:ext cx="110415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97" name="Text 95"/>
          <p:cNvSpPr/>
          <p:nvPr/>
        </p:nvSpPr>
        <p:spPr>
          <a:xfrm>
            <a:off x="9648825" y="7426970"/>
            <a:ext cx="106605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PSH.Flag.Count</a:t>
            </a:r>
            <a:endParaRPr lang="en-US" sz="1013" dirty="0"/>
          </a:p>
        </p:txBody>
      </p:sp>
      <p:sp>
        <p:nvSpPr>
          <p:cNvPr id="98" name="Text 96"/>
          <p:cNvSpPr/>
          <p:nvPr/>
        </p:nvSpPr>
        <p:spPr>
          <a:xfrm>
            <a:off x="12087225" y="7407920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of push TCP flags.</a:t>
            </a:r>
            <a:endParaRPr lang="en-US" sz="1163" dirty="0"/>
          </a:p>
        </p:txBody>
      </p:sp>
      <p:sp>
        <p:nvSpPr>
          <p:cNvPr id="99" name="Shape 97"/>
          <p:cNvSpPr/>
          <p:nvPr/>
        </p:nvSpPr>
        <p:spPr>
          <a:xfrm>
            <a:off x="9591675" y="7686229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100" name="Shape 98"/>
          <p:cNvSpPr/>
          <p:nvPr/>
        </p:nvSpPr>
        <p:spPr>
          <a:xfrm>
            <a:off x="9591675" y="7762429"/>
            <a:ext cx="679996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101" name="Text 99"/>
          <p:cNvSpPr/>
          <p:nvPr/>
        </p:nvSpPr>
        <p:spPr>
          <a:xfrm>
            <a:off x="9648825" y="7781479"/>
            <a:ext cx="64189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Idle.Min</a:t>
            </a:r>
            <a:endParaRPr lang="en-US" sz="1013" dirty="0"/>
          </a:p>
        </p:txBody>
      </p:sp>
      <p:sp>
        <p:nvSpPr>
          <p:cNvPr id="102" name="Text 100"/>
          <p:cNvSpPr/>
          <p:nvPr/>
        </p:nvSpPr>
        <p:spPr>
          <a:xfrm>
            <a:off x="12087225" y="7762429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idle time between flows.</a:t>
            </a:r>
            <a:endParaRPr lang="en-US" sz="1163" dirty="0"/>
          </a:p>
        </p:txBody>
      </p:sp>
      <p:sp>
        <p:nvSpPr>
          <p:cNvPr id="103" name="Shape 101"/>
          <p:cNvSpPr/>
          <p:nvPr/>
        </p:nvSpPr>
        <p:spPr>
          <a:xfrm>
            <a:off x="9591675" y="8040737"/>
            <a:ext cx="763905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591675" y="8116937"/>
            <a:ext cx="821382" cy="211634"/>
          </a:xfrm>
          <a:prstGeom prst="roundRect">
            <a:avLst>
              <a:gd name="adj" fmla="val 13502"/>
            </a:avLst>
          </a:prstGeom>
          <a:solidFill>
            <a:srgbClr val="EAE0C7"/>
          </a:solidFill>
          <a:ln/>
        </p:spPr>
      </p:sp>
      <p:sp>
        <p:nvSpPr>
          <p:cNvPr id="105" name="Text 103"/>
          <p:cNvSpPr/>
          <p:nvPr/>
        </p:nvSpPr>
        <p:spPr>
          <a:xfrm>
            <a:off x="9648825" y="8135987"/>
            <a:ext cx="783282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</a:t>
            </a:r>
            <a:endParaRPr lang="en-US" sz="1013" dirty="0"/>
          </a:p>
        </p:txBody>
      </p:sp>
      <p:sp>
        <p:nvSpPr>
          <p:cNvPr id="106" name="Text 104"/>
          <p:cNvSpPr/>
          <p:nvPr/>
        </p:nvSpPr>
        <p:spPr>
          <a:xfrm>
            <a:off x="12087225" y="8116937"/>
            <a:ext cx="5297805" cy="249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 of active time.</a:t>
            </a:r>
            <a:endParaRPr lang="en-US" sz="1163" dirty="0"/>
          </a:p>
        </p:txBody>
      </p:sp>
      <p:sp>
        <p:nvSpPr>
          <p:cNvPr id="107" name="Shape 105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8" name="Text 106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15452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45382" y="609600"/>
            <a:ext cx="27991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DESCRIPTIVE STATISTICS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 and attack distributions </a:t>
            </a:r>
            <a:pPr algn="l" indent="0" marL="0">
              <a:lnSpc>
                <a:spcPct val="104000"/>
              </a:lnSpc>
              <a:buNone/>
            </a:pPr>
            <a:r>
              <a:rPr lang="en-US" sz="4500" i="1" spc="-81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overlap </a:t>
            </a:r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but their tails diverge.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62000" y="1899196"/>
            <a:ext cx="9810750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densities of three key flow features. The bulk of each distribution sits in similar territory; the differences live in the tails and around port-range modes.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62000" y="2726680"/>
            <a:ext cx="559856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DESTINATION.PORT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762000" y="3001417"/>
            <a:ext cx="5435501" cy="23812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3727698"/>
            <a:ext cx="5149751" cy="9286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2000" y="5468392"/>
            <a:ext cx="5598566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spc="121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ATTACK</a:t>
            </a:r>
            <a:endParaRPr lang="en-US" sz="863" dirty="0"/>
          </a:p>
        </p:txBody>
      </p:sp>
      <p:sp>
        <p:nvSpPr>
          <p:cNvPr id="11" name="Text 8"/>
          <p:cNvSpPr/>
          <p:nvPr/>
        </p:nvSpPr>
        <p:spPr>
          <a:xfrm>
            <a:off x="6426101" y="2726680"/>
            <a:ext cx="559871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AVG.BWD.SEGMENT.SIZE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6426101" y="3001417"/>
            <a:ext cx="5435650" cy="23812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76" y="3731121"/>
            <a:ext cx="5149900" cy="9216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26101" y="5468392"/>
            <a:ext cx="5598719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spc="121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ATTACK</a:t>
            </a:r>
            <a:endParaRPr lang="en-US" sz="863" dirty="0"/>
          </a:p>
        </p:txBody>
      </p:sp>
      <p:sp>
        <p:nvSpPr>
          <p:cNvPr id="15" name="Text 11"/>
          <p:cNvSpPr/>
          <p:nvPr/>
        </p:nvSpPr>
        <p:spPr>
          <a:xfrm>
            <a:off x="12090350" y="2726680"/>
            <a:ext cx="559871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PACKET.LENGTH.VARIANCE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12090350" y="3001417"/>
            <a:ext cx="5435650" cy="23812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3225" y="3730526"/>
            <a:ext cx="5149900" cy="9228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90350" y="5468392"/>
            <a:ext cx="5598719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spc="121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ATTACK</a:t>
            </a:r>
            <a:endParaRPr lang="en-US" sz="863" dirty="0"/>
          </a:p>
        </p:txBody>
      </p:sp>
      <p:sp>
        <p:nvSpPr>
          <p:cNvPr id="19" name="Shape 14"/>
          <p:cNvSpPr/>
          <p:nvPr/>
        </p:nvSpPr>
        <p:spPr>
          <a:xfrm>
            <a:off x="762000" y="5855791"/>
            <a:ext cx="6873776" cy="3464868"/>
          </a:xfrm>
          <a:prstGeom prst="roundRect">
            <a:avLst>
              <a:gd name="adj" fmla="val 1100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19175" y="6093916"/>
            <a:ext cx="6550209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FINDING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1019175" y="6407051"/>
            <a:ext cx="6550209" cy="1054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distributions are </a:t>
            </a:r>
            <a:pPr algn="l" indent="0" marL="0">
              <a:lnSpc>
                <a:spcPct val="150000"/>
              </a:lnSpc>
              <a:buNone/>
            </a:pPr>
            <a:r>
              <a:rPr lang="en-US" sz="1335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bimodal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most flows cluster near zero, with a small subset reaching extreme right-tail values. For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ct val="150000"/>
              </a:lnSpc>
              <a:buNone/>
            </a:pPr>
            <a:r>
              <a:rPr lang="en-US" sz="1335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is actually heavier than the </a:t>
            </a:r>
            <a:pPr algn="l" indent="0" marL="0">
              <a:lnSpc>
                <a:spcPct val="150000"/>
              </a:lnSpc>
              <a:buNone/>
            </a:pPr>
            <a:r>
              <a:rPr lang="en-US" sz="1335" b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— benign 99th percentile = </a:t>
            </a:r>
            <a:pPr algn="l" indent="0" marL="0">
              <a:lnSpc>
                <a:spcPct val="150000"/>
              </a:lnSpc>
              <a:buNone/>
            </a:pPr>
            <a:r>
              <a:rPr lang="en-US" sz="1335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61,502 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attack 99th percentile = </a:t>
            </a:r>
            <a:pPr algn="l" indent="0" marL="0">
              <a:lnSpc>
                <a:spcPct val="150000"/>
              </a:lnSpc>
              <a:buNone/>
            </a:pPr>
            <a:r>
              <a:rPr lang="en-US" sz="1335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50,047</a:t>
            </a:r>
            <a:pPr algn="l" indent="0" marL="0">
              <a:lnSpc>
                <a:spcPct val="150000"/>
              </a:lnSpc>
              <a:buNone/>
            </a:pPr>
            <a:r>
              <a:rPr lang="en-US" sz="1335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35" dirty="0"/>
          </a:p>
        </p:txBody>
      </p:sp>
      <p:sp>
        <p:nvSpPr>
          <p:cNvPr id="22" name="Shape 17"/>
          <p:cNvSpPr/>
          <p:nvPr/>
        </p:nvSpPr>
        <p:spPr>
          <a:xfrm>
            <a:off x="7902476" y="5855791"/>
            <a:ext cx="9623375" cy="3464868"/>
          </a:xfrm>
          <a:prstGeom prst="roundRect">
            <a:avLst>
              <a:gd name="adj" fmla="val 1100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159651" y="6093916"/>
            <a:ext cx="9382296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· BENIGN VS ATTACK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8159651" y="6739384"/>
            <a:ext cx="2911376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25" name="Text 20"/>
          <p:cNvSpPr/>
          <p:nvPr/>
        </p:nvSpPr>
        <p:spPr>
          <a:xfrm>
            <a:off x="8273951" y="6492776"/>
            <a:ext cx="2770117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1071027" y="6739384"/>
            <a:ext cx="1106537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27" name="Text 22"/>
          <p:cNvSpPr/>
          <p:nvPr/>
        </p:nvSpPr>
        <p:spPr>
          <a:xfrm>
            <a:off x="11185327" y="6492776"/>
            <a:ext cx="954137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2177564" y="6739384"/>
            <a:ext cx="982414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29" name="Text 24"/>
          <p:cNvSpPr/>
          <p:nvPr/>
        </p:nvSpPr>
        <p:spPr>
          <a:xfrm>
            <a:off x="12215664" y="6492776"/>
            <a:ext cx="830014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3159978" y="6739384"/>
            <a:ext cx="1479203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31" name="Text 26"/>
          <p:cNvSpPr/>
          <p:nvPr/>
        </p:nvSpPr>
        <p:spPr>
          <a:xfrm>
            <a:off x="13198078" y="6492776"/>
            <a:ext cx="1326803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4639181" y="6739384"/>
            <a:ext cx="1149995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33" name="Text 28"/>
          <p:cNvSpPr/>
          <p:nvPr/>
        </p:nvSpPr>
        <p:spPr>
          <a:xfrm>
            <a:off x="14677281" y="6492776"/>
            <a:ext cx="997595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5789176" y="6739384"/>
            <a:ext cx="1479500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35" name="Text 30"/>
          <p:cNvSpPr/>
          <p:nvPr/>
        </p:nvSpPr>
        <p:spPr>
          <a:xfrm>
            <a:off x="15827276" y="6492776"/>
            <a:ext cx="132710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00" b="1" spc="12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8159651" y="7127528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7" name="Text 32"/>
          <p:cNvSpPr/>
          <p:nvPr/>
        </p:nvSpPr>
        <p:spPr>
          <a:xfrm>
            <a:off x="8273951" y="6834634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1071027" y="7127528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9" name="Text 34"/>
          <p:cNvSpPr/>
          <p:nvPr/>
        </p:nvSpPr>
        <p:spPr>
          <a:xfrm>
            <a:off x="11185327" y="6834634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</a:t>
            </a:r>
            <a:endParaRPr lang="en-US" sz="1125" dirty="0"/>
          </a:p>
        </p:txBody>
      </p:sp>
      <p:sp>
        <p:nvSpPr>
          <p:cNvPr id="40" name="Shape 35"/>
          <p:cNvSpPr/>
          <p:nvPr/>
        </p:nvSpPr>
        <p:spPr>
          <a:xfrm>
            <a:off x="12177564" y="7127528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1" name="Text 36"/>
          <p:cNvSpPr/>
          <p:nvPr/>
        </p:nvSpPr>
        <p:spPr>
          <a:xfrm>
            <a:off x="12215664" y="6834634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1,611</a:t>
            </a:r>
            <a:endParaRPr lang="en-US" sz="1125" dirty="0"/>
          </a:p>
        </p:txBody>
      </p:sp>
      <p:sp>
        <p:nvSpPr>
          <p:cNvPr id="42" name="Shape 37"/>
          <p:cNvSpPr/>
          <p:nvPr/>
        </p:nvSpPr>
        <p:spPr>
          <a:xfrm>
            <a:off x="13159978" y="7127528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3" name="Text 38"/>
          <p:cNvSpPr/>
          <p:nvPr/>
        </p:nvSpPr>
        <p:spPr>
          <a:xfrm>
            <a:off x="13198078" y="6834634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8,846</a:t>
            </a:r>
            <a:endParaRPr lang="en-US" sz="1125" dirty="0"/>
          </a:p>
        </p:txBody>
      </p:sp>
      <p:sp>
        <p:nvSpPr>
          <p:cNvPr id="44" name="Shape 39"/>
          <p:cNvSpPr/>
          <p:nvPr/>
        </p:nvSpPr>
        <p:spPr>
          <a:xfrm>
            <a:off x="14639181" y="7127528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5" name="Text 40"/>
          <p:cNvSpPr/>
          <p:nvPr/>
        </p:nvSpPr>
        <p:spPr>
          <a:xfrm>
            <a:off x="14677281" y="6834634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25" dirty="0"/>
          </a:p>
        </p:txBody>
      </p:sp>
      <p:sp>
        <p:nvSpPr>
          <p:cNvPr id="46" name="Shape 41"/>
          <p:cNvSpPr/>
          <p:nvPr/>
        </p:nvSpPr>
        <p:spPr>
          <a:xfrm>
            <a:off x="15789176" y="7127528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7" name="Text 42"/>
          <p:cNvSpPr/>
          <p:nvPr/>
        </p:nvSpPr>
        <p:spPr>
          <a:xfrm>
            <a:off x="15827276" y="6834634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19,146</a:t>
            </a:r>
            <a:endParaRPr lang="en-US" sz="1125" dirty="0"/>
          </a:p>
        </p:txBody>
      </p:sp>
      <p:sp>
        <p:nvSpPr>
          <p:cNvPr id="48" name="Shape 43"/>
          <p:cNvSpPr/>
          <p:nvPr/>
        </p:nvSpPr>
        <p:spPr>
          <a:xfrm>
            <a:off x="8159651" y="7515671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9" name="Text 44"/>
          <p:cNvSpPr/>
          <p:nvPr/>
        </p:nvSpPr>
        <p:spPr>
          <a:xfrm>
            <a:off x="8273951" y="7222778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8A8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11071027" y="7515671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1" name="Text 46"/>
          <p:cNvSpPr/>
          <p:nvPr/>
        </p:nvSpPr>
        <p:spPr>
          <a:xfrm>
            <a:off x="11185327" y="7222778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B3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125" dirty="0"/>
          </a:p>
        </p:txBody>
      </p:sp>
      <p:sp>
        <p:nvSpPr>
          <p:cNvPr id="52" name="Shape 47"/>
          <p:cNvSpPr/>
          <p:nvPr/>
        </p:nvSpPr>
        <p:spPr>
          <a:xfrm>
            <a:off x="12177564" y="7515671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3" name="Text 48"/>
          <p:cNvSpPr/>
          <p:nvPr/>
        </p:nvSpPr>
        <p:spPr>
          <a:xfrm>
            <a:off x="12215664" y="7222778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386</a:t>
            </a:r>
            <a:endParaRPr lang="en-US" sz="1125" dirty="0"/>
          </a:p>
        </p:txBody>
      </p:sp>
      <p:sp>
        <p:nvSpPr>
          <p:cNvPr id="54" name="Shape 49"/>
          <p:cNvSpPr/>
          <p:nvPr/>
        </p:nvSpPr>
        <p:spPr>
          <a:xfrm>
            <a:off x="13159978" y="7515671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5" name="Text 50"/>
          <p:cNvSpPr/>
          <p:nvPr/>
        </p:nvSpPr>
        <p:spPr>
          <a:xfrm>
            <a:off x="13198078" y="7222778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3,477</a:t>
            </a:r>
            <a:endParaRPr lang="en-US" sz="1125" dirty="0"/>
          </a:p>
        </p:txBody>
      </p:sp>
      <p:sp>
        <p:nvSpPr>
          <p:cNvPr id="56" name="Shape 51"/>
          <p:cNvSpPr/>
          <p:nvPr/>
        </p:nvSpPr>
        <p:spPr>
          <a:xfrm>
            <a:off x="14639181" y="7515671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7" name="Text 52"/>
          <p:cNvSpPr/>
          <p:nvPr/>
        </p:nvSpPr>
        <p:spPr>
          <a:xfrm>
            <a:off x="14677281" y="7222778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25" dirty="0"/>
          </a:p>
        </p:txBody>
      </p:sp>
      <p:sp>
        <p:nvSpPr>
          <p:cNvPr id="58" name="Shape 53"/>
          <p:cNvSpPr/>
          <p:nvPr/>
        </p:nvSpPr>
        <p:spPr>
          <a:xfrm>
            <a:off x="15789176" y="7515671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59" name="Text 54"/>
          <p:cNvSpPr/>
          <p:nvPr/>
        </p:nvSpPr>
        <p:spPr>
          <a:xfrm>
            <a:off x="15827276" y="7222778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9,250</a:t>
            </a:r>
            <a:endParaRPr lang="en-US" sz="1125" dirty="0"/>
          </a:p>
        </p:txBody>
      </p:sp>
      <p:sp>
        <p:nvSpPr>
          <p:cNvPr id="60" name="Shape 55"/>
          <p:cNvSpPr/>
          <p:nvPr/>
        </p:nvSpPr>
        <p:spPr>
          <a:xfrm>
            <a:off x="8159651" y="7903815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1" name="Text 56"/>
          <p:cNvSpPr/>
          <p:nvPr/>
        </p:nvSpPr>
        <p:spPr>
          <a:xfrm>
            <a:off x="8273951" y="7610921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050" dirty="0"/>
          </a:p>
        </p:txBody>
      </p:sp>
      <p:sp>
        <p:nvSpPr>
          <p:cNvPr id="62" name="Shape 57"/>
          <p:cNvSpPr/>
          <p:nvPr/>
        </p:nvSpPr>
        <p:spPr>
          <a:xfrm>
            <a:off x="11071027" y="7903815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3" name="Text 58"/>
          <p:cNvSpPr/>
          <p:nvPr/>
        </p:nvSpPr>
        <p:spPr>
          <a:xfrm>
            <a:off x="11185327" y="7610921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</a:t>
            </a:r>
            <a:endParaRPr lang="en-US" sz="1125" dirty="0"/>
          </a:p>
        </p:txBody>
      </p:sp>
      <p:sp>
        <p:nvSpPr>
          <p:cNvPr id="64" name="Shape 59"/>
          <p:cNvSpPr/>
          <p:nvPr/>
        </p:nvSpPr>
        <p:spPr>
          <a:xfrm>
            <a:off x="12177564" y="7903815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5" name="Text 60"/>
          <p:cNvSpPr/>
          <p:nvPr/>
        </p:nvSpPr>
        <p:spPr>
          <a:xfrm>
            <a:off x="12215664" y="7610921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1,611</a:t>
            </a:r>
            <a:endParaRPr lang="en-US" sz="1125" dirty="0"/>
          </a:p>
        </p:txBody>
      </p:sp>
      <p:sp>
        <p:nvSpPr>
          <p:cNvPr id="66" name="Shape 61"/>
          <p:cNvSpPr/>
          <p:nvPr/>
        </p:nvSpPr>
        <p:spPr>
          <a:xfrm>
            <a:off x="13159978" y="7903815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7" name="Text 62"/>
          <p:cNvSpPr/>
          <p:nvPr/>
        </p:nvSpPr>
        <p:spPr>
          <a:xfrm>
            <a:off x="13198078" y="7610921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</a:t>
            </a:r>
            <a:endParaRPr lang="en-US" sz="1125" dirty="0"/>
          </a:p>
        </p:txBody>
      </p:sp>
      <p:sp>
        <p:nvSpPr>
          <p:cNvPr id="68" name="Shape 63"/>
          <p:cNvSpPr/>
          <p:nvPr/>
        </p:nvSpPr>
        <p:spPr>
          <a:xfrm>
            <a:off x="14639181" y="7903815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9" name="Text 64"/>
          <p:cNvSpPr/>
          <p:nvPr/>
        </p:nvSpPr>
        <p:spPr>
          <a:xfrm>
            <a:off x="14677281" y="7610921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125" dirty="0"/>
          </a:p>
        </p:txBody>
      </p:sp>
      <p:sp>
        <p:nvSpPr>
          <p:cNvPr id="70" name="Shape 65"/>
          <p:cNvSpPr/>
          <p:nvPr/>
        </p:nvSpPr>
        <p:spPr>
          <a:xfrm>
            <a:off x="15789176" y="7903815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71" name="Text 66"/>
          <p:cNvSpPr/>
          <p:nvPr/>
        </p:nvSpPr>
        <p:spPr>
          <a:xfrm>
            <a:off x="15827276" y="7610921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278</a:t>
            </a:r>
            <a:endParaRPr lang="en-US" sz="1125" dirty="0"/>
          </a:p>
        </p:txBody>
      </p:sp>
      <p:sp>
        <p:nvSpPr>
          <p:cNvPr id="72" name="Shape 67"/>
          <p:cNvSpPr/>
          <p:nvPr/>
        </p:nvSpPr>
        <p:spPr>
          <a:xfrm>
            <a:off x="8159651" y="8291959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73" name="Text 68"/>
          <p:cNvSpPr/>
          <p:nvPr/>
        </p:nvSpPr>
        <p:spPr>
          <a:xfrm>
            <a:off x="8273951" y="7999065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8A8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1050" dirty="0"/>
          </a:p>
        </p:txBody>
      </p:sp>
      <p:sp>
        <p:nvSpPr>
          <p:cNvPr id="74" name="Shape 69"/>
          <p:cNvSpPr/>
          <p:nvPr/>
        </p:nvSpPr>
        <p:spPr>
          <a:xfrm>
            <a:off x="11071027" y="8291959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75" name="Text 70"/>
          <p:cNvSpPr/>
          <p:nvPr/>
        </p:nvSpPr>
        <p:spPr>
          <a:xfrm>
            <a:off x="11185327" y="7999065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B3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125" dirty="0"/>
          </a:p>
        </p:txBody>
      </p:sp>
      <p:sp>
        <p:nvSpPr>
          <p:cNvPr id="76" name="Shape 71"/>
          <p:cNvSpPr/>
          <p:nvPr/>
        </p:nvSpPr>
        <p:spPr>
          <a:xfrm>
            <a:off x="12177564" y="8291959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77" name="Text 72"/>
          <p:cNvSpPr/>
          <p:nvPr/>
        </p:nvSpPr>
        <p:spPr>
          <a:xfrm>
            <a:off x="12215664" y="7999065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386</a:t>
            </a:r>
            <a:endParaRPr lang="en-US" sz="1125" dirty="0"/>
          </a:p>
        </p:txBody>
      </p:sp>
      <p:sp>
        <p:nvSpPr>
          <p:cNvPr id="78" name="Shape 73"/>
          <p:cNvSpPr/>
          <p:nvPr/>
        </p:nvSpPr>
        <p:spPr>
          <a:xfrm>
            <a:off x="13159978" y="8291959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79" name="Text 74"/>
          <p:cNvSpPr/>
          <p:nvPr/>
        </p:nvSpPr>
        <p:spPr>
          <a:xfrm>
            <a:off x="13198078" y="7999065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854</a:t>
            </a:r>
            <a:endParaRPr lang="en-US" sz="1125" dirty="0"/>
          </a:p>
        </p:txBody>
      </p:sp>
      <p:sp>
        <p:nvSpPr>
          <p:cNvPr id="80" name="Shape 75"/>
          <p:cNvSpPr/>
          <p:nvPr/>
        </p:nvSpPr>
        <p:spPr>
          <a:xfrm>
            <a:off x="14639181" y="8291959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1" name="Text 76"/>
          <p:cNvSpPr/>
          <p:nvPr/>
        </p:nvSpPr>
        <p:spPr>
          <a:xfrm>
            <a:off x="14677281" y="7999065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25" dirty="0"/>
          </a:p>
        </p:txBody>
      </p:sp>
      <p:sp>
        <p:nvSpPr>
          <p:cNvPr id="82" name="Shape 77"/>
          <p:cNvSpPr/>
          <p:nvPr/>
        </p:nvSpPr>
        <p:spPr>
          <a:xfrm>
            <a:off x="15789176" y="8291959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3" name="Text 78"/>
          <p:cNvSpPr/>
          <p:nvPr/>
        </p:nvSpPr>
        <p:spPr>
          <a:xfrm>
            <a:off x="15827276" y="7999065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1,115</a:t>
            </a:r>
            <a:endParaRPr lang="en-US" sz="1125" dirty="0"/>
          </a:p>
        </p:txBody>
      </p:sp>
      <p:sp>
        <p:nvSpPr>
          <p:cNvPr id="84" name="Shape 79"/>
          <p:cNvSpPr/>
          <p:nvPr/>
        </p:nvSpPr>
        <p:spPr>
          <a:xfrm>
            <a:off x="8159651" y="8680103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5" name="Text 80"/>
          <p:cNvSpPr/>
          <p:nvPr/>
        </p:nvSpPr>
        <p:spPr>
          <a:xfrm>
            <a:off x="8273951" y="8387209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Packet.Length.Variance</a:t>
            </a:r>
            <a:endParaRPr lang="en-US" sz="1050" dirty="0"/>
          </a:p>
        </p:txBody>
      </p:sp>
      <p:sp>
        <p:nvSpPr>
          <p:cNvPr id="86" name="Shape 81"/>
          <p:cNvSpPr/>
          <p:nvPr/>
        </p:nvSpPr>
        <p:spPr>
          <a:xfrm>
            <a:off x="11071027" y="8680103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7" name="Text 82"/>
          <p:cNvSpPr/>
          <p:nvPr/>
        </p:nvSpPr>
        <p:spPr>
          <a:xfrm>
            <a:off x="11185327" y="8387209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</a:t>
            </a:r>
            <a:endParaRPr lang="en-US" sz="1125" dirty="0"/>
          </a:p>
        </p:txBody>
      </p:sp>
      <p:sp>
        <p:nvSpPr>
          <p:cNvPr id="88" name="Shape 83"/>
          <p:cNvSpPr/>
          <p:nvPr/>
        </p:nvSpPr>
        <p:spPr>
          <a:xfrm>
            <a:off x="12177564" y="8680103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9" name="Text 84"/>
          <p:cNvSpPr/>
          <p:nvPr/>
        </p:nvSpPr>
        <p:spPr>
          <a:xfrm>
            <a:off x="12215664" y="8387209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1,611</a:t>
            </a:r>
            <a:endParaRPr lang="en-US" sz="1125" dirty="0"/>
          </a:p>
        </p:txBody>
      </p:sp>
      <p:sp>
        <p:nvSpPr>
          <p:cNvPr id="90" name="Shape 85"/>
          <p:cNvSpPr/>
          <p:nvPr/>
        </p:nvSpPr>
        <p:spPr>
          <a:xfrm>
            <a:off x="13159978" y="8680103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1" name="Text 86"/>
          <p:cNvSpPr/>
          <p:nvPr/>
        </p:nvSpPr>
        <p:spPr>
          <a:xfrm>
            <a:off x="13198078" y="8387209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119,028</a:t>
            </a:r>
            <a:endParaRPr lang="en-US" sz="1125" dirty="0"/>
          </a:p>
        </p:txBody>
      </p:sp>
      <p:sp>
        <p:nvSpPr>
          <p:cNvPr id="92" name="Shape 87"/>
          <p:cNvSpPr/>
          <p:nvPr/>
        </p:nvSpPr>
        <p:spPr>
          <a:xfrm>
            <a:off x="14639181" y="8680103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3" name="Text 88"/>
          <p:cNvSpPr/>
          <p:nvPr/>
        </p:nvSpPr>
        <p:spPr>
          <a:xfrm>
            <a:off x="14677281" y="8387209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811</a:t>
            </a:r>
            <a:endParaRPr lang="en-US" sz="1125" dirty="0"/>
          </a:p>
        </p:txBody>
      </p:sp>
      <p:sp>
        <p:nvSpPr>
          <p:cNvPr id="94" name="Shape 89"/>
          <p:cNvSpPr/>
          <p:nvPr/>
        </p:nvSpPr>
        <p:spPr>
          <a:xfrm>
            <a:off x="15789176" y="8680103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5" name="Text 90"/>
          <p:cNvSpPr/>
          <p:nvPr/>
        </p:nvSpPr>
        <p:spPr>
          <a:xfrm>
            <a:off x="15827276" y="8387209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613,694</a:t>
            </a:r>
            <a:endParaRPr lang="en-US" sz="1125" dirty="0"/>
          </a:p>
        </p:txBody>
      </p:sp>
      <p:sp>
        <p:nvSpPr>
          <p:cNvPr id="96" name="Shape 91"/>
          <p:cNvSpPr/>
          <p:nvPr/>
        </p:nvSpPr>
        <p:spPr>
          <a:xfrm>
            <a:off x="8159651" y="9068246"/>
            <a:ext cx="2911376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7" name="Text 92"/>
          <p:cNvSpPr/>
          <p:nvPr/>
        </p:nvSpPr>
        <p:spPr>
          <a:xfrm>
            <a:off x="8273951" y="8775353"/>
            <a:ext cx="277011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8A8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Packet.Length.Variance</a:t>
            </a:r>
            <a:endParaRPr lang="en-US" sz="1050" dirty="0"/>
          </a:p>
        </p:txBody>
      </p:sp>
      <p:sp>
        <p:nvSpPr>
          <p:cNvPr id="98" name="Shape 93"/>
          <p:cNvSpPr/>
          <p:nvPr/>
        </p:nvSpPr>
        <p:spPr>
          <a:xfrm>
            <a:off x="11071027" y="9068246"/>
            <a:ext cx="1106537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9" name="Text 94"/>
          <p:cNvSpPr/>
          <p:nvPr/>
        </p:nvSpPr>
        <p:spPr>
          <a:xfrm>
            <a:off x="11185327" y="8775353"/>
            <a:ext cx="95413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B3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125" dirty="0"/>
          </a:p>
        </p:txBody>
      </p:sp>
      <p:sp>
        <p:nvSpPr>
          <p:cNvPr id="100" name="Shape 95"/>
          <p:cNvSpPr/>
          <p:nvPr/>
        </p:nvSpPr>
        <p:spPr>
          <a:xfrm>
            <a:off x="12177564" y="9068246"/>
            <a:ext cx="982414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1" name="Text 96"/>
          <p:cNvSpPr/>
          <p:nvPr/>
        </p:nvSpPr>
        <p:spPr>
          <a:xfrm>
            <a:off x="12215664" y="8775353"/>
            <a:ext cx="8300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386</a:t>
            </a:r>
            <a:endParaRPr lang="en-US" sz="1125" dirty="0"/>
          </a:p>
        </p:txBody>
      </p:sp>
      <p:sp>
        <p:nvSpPr>
          <p:cNvPr id="102" name="Shape 97"/>
          <p:cNvSpPr/>
          <p:nvPr/>
        </p:nvSpPr>
        <p:spPr>
          <a:xfrm>
            <a:off x="13159978" y="9068246"/>
            <a:ext cx="1479203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3" name="Text 98"/>
          <p:cNvSpPr/>
          <p:nvPr/>
        </p:nvSpPr>
        <p:spPr>
          <a:xfrm>
            <a:off x="13198078" y="8775353"/>
            <a:ext cx="1326803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2,348,052</a:t>
            </a:r>
            <a:endParaRPr lang="en-US" sz="1125" dirty="0"/>
          </a:p>
        </p:txBody>
      </p:sp>
      <p:sp>
        <p:nvSpPr>
          <p:cNvPr id="104" name="Shape 99"/>
          <p:cNvSpPr/>
          <p:nvPr/>
        </p:nvSpPr>
        <p:spPr>
          <a:xfrm>
            <a:off x="14639181" y="9068246"/>
            <a:ext cx="114999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5" name="Text 100"/>
          <p:cNvSpPr/>
          <p:nvPr/>
        </p:nvSpPr>
        <p:spPr>
          <a:xfrm>
            <a:off x="14677281" y="8775353"/>
            <a:ext cx="997595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25" dirty="0"/>
          </a:p>
        </p:txBody>
      </p:sp>
      <p:sp>
        <p:nvSpPr>
          <p:cNvPr id="106" name="Shape 101"/>
          <p:cNvSpPr/>
          <p:nvPr/>
        </p:nvSpPr>
        <p:spPr>
          <a:xfrm>
            <a:off x="15789176" y="9068246"/>
            <a:ext cx="14795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7" name="Text 102"/>
          <p:cNvSpPr/>
          <p:nvPr/>
        </p:nvSpPr>
        <p:spPr>
          <a:xfrm>
            <a:off x="15827276" y="8775353"/>
            <a:ext cx="13271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4,020,224</a:t>
            </a:r>
            <a:endParaRPr lang="en-US" sz="1125" dirty="0"/>
          </a:p>
        </p:txBody>
      </p:sp>
      <p:sp>
        <p:nvSpPr>
          <p:cNvPr id="108" name="Shape 103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9" name="Text 104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110" name="Text 105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15452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45382" y="609600"/>
            <a:ext cx="22051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CATEGORICAL RISK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 category </a:t>
            </a:r>
            <a:pPr algn="l" indent="0" marL="0">
              <a:lnSpc>
                <a:spcPct val="104000"/>
              </a:lnSpc>
              <a:buNone/>
            </a:pPr>
            <a:r>
              <a:rPr lang="en-US" sz="4500" i="1" spc="-81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</a:t>
            </a:r>
            <a:pPr algn="l" indent="0" marL="0">
              <a:lnSpc>
                <a:spcPct val="104000"/>
              </a:lnSpc>
              <a:buNone/>
            </a:pPr>
            <a:r>
              <a:rPr lang="en-US" sz="4500" spc="-81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where attacks hide.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62000" y="1899196"/>
            <a:ext cx="9810750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mapped </a:t>
            </a:r>
            <a:pPr algn="l" indent="0" marL="0">
              <a:lnSpc>
                <a:spcPct val="145000"/>
              </a:lnSpc>
              <a:buNone/>
            </a:pPr>
            <a:r>
              <a:rPr lang="en-US" sz="1339" i="1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 </a:t>
            </a:r>
            <a:pPr algn="l" indent="0" marL="0">
              <a:lnSpc>
                <a:spcPct val="145000"/>
              </a:lnSpc>
              <a:buNone/>
            </a:pPr>
            <a:r>
              <a:rPr lang="en-US" sz="15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three IANA ranges, then measured how often each range carries an attack.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2821930"/>
            <a:ext cx="5435501" cy="2221111"/>
          </a:xfrm>
          <a:prstGeom prst="roundRect">
            <a:avLst>
              <a:gd name="adj" fmla="val 171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0125" y="3041005"/>
            <a:ext cx="510802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00125" y="3334792"/>
            <a:ext cx="5108028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25" spc="-2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Ports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000125" y="3759101"/>
            <a:ext cx="5108028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49 152 – 65 535</a:t>
            </a:r>
            <a:endParaRPr lang="en-US" sz="1163" dirty="0"/>
          </a:p>
        </p:txBody>
      </p:sp>
      <p:sp>
        <p:nvSpPr>
          <p:cNvPr id="11" name="Shape 9"/>
          <p:cNvSpPr/>
          <p:nvPr/>
        </p:nvSpPr>
        <p:spPr>
          <a:xfrm>
            <a:off x="1000125" y="4125516"/>
            <a:ext cx="4959251" cy="247650"/>
          </a:xfrm>
          <a:prstGeom prst="roundRect">
            <a:avLst>
              <a:gd name="adj" fmla="val 11538"/>
            </a:avLst>
          </a:prstGeom>
          <a:ln w="9525">
            <a:solidFill>
              <a:srgbClr val="D7C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650" y="4135041"/>
            <a:ext cx="4732586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50" y="4135041"/>
            <a:ext cx="47221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benign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42236" y="4135041"/>
            <a:ext cx="207466" cy="228600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0125" y="4582716"/>
            <a:ext cx="5108028" cy="26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8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4.2% attack rate — the cleanest range.</a:t>
            </a:r>
            <a:endParaRPr lang="en-US" sz="1208" dirty="0"/>
          </a:p>
        </p:txBody>
      </p:sp>
      <p:sp>
        <p:nvSpPr>
          <p:cNvPr id="16" name="Shape 14"/>
          <p:cNvSpPr/>
          <p:nvPr/>
        </p:nvSpPr>
        <p:spPr>
          <a:xfrm>
            <a:off x="6426101" y="2821930"/>
            <a:ext cx="5435650" cy="2221111"/>
          </a:xfrm>
          <a:prstGeom prst="roundRect">
            <a:avLst>
              <a:gd name="adj" fmla="val 171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4226" y="3041005"/>
            <a:ext cx="510818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664226" y="3334792"/>
            <a:ext cx="510818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25" spc="-2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Well-known Ports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6664226" y="3759101"/>
            <a:ext cx="5108182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1 023</a:t>
            </a:r>
            <a:endParaRPr lang="en-US" sz="1163" dirty="0"/>
          </a:p>
        </p:txBody>
      </p:sp>
      <p:sp>
        <p:nvSpPr>
          <p:cNvPr id="20" name="Shape 18"/>
          <p:cNvSpPr/>
          <p:nvPr/>
        </p:nvSpPr>
        <p:spPr>
          <a:xfrm>
            <a:off x="6664226" y="4125516"/>
            <a:ext cx="4959400" cy="247650"/>
          </a:xfrm>
          <a:prstGeom prst="roundRect">
            <a:avLst>
              <a:gd name="adj" fmla="val 11538"/>
            </a:avLst>
          </a:prstGeom>
          <a:ln w="9525">
            <a:solidFill>
              <a:srgbClr val="D7C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3751" y="4135041"/>
            <a:ext cx="408563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49951" y="4135041"/>
            <a:ext cx="40557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 benign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759380" y="4135041"/>
            <a:ext cx="854571" cy="228600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835580" y="4135041"/>
            <a:ext cx="7783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64226" y="4582716"/>
            <a:ext cx="5108182" cy="26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8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17.3% attack rate — elevated.</a:t>
            </a:r>
            <a:endParaRPr lang="en-US" sz="1208" dirty="0"/>
          </a:p>
        </p:txBody>
      </p:sp>
      <p:sp>
        <p:nvSpPr>
          <p:cNvPr id="26" name="Shape 24"/>
          <p:cNvSpPr/>
          <p:nvPr/>
        </p:nvSpPr>
        <p:spPr>
          <a:xfrm>
            <a:off x="12090350" y="2821930"/>
            <a:ext cx="5435650" cy="2221111"/>
          </a:xfrm>
          <a:prstGeom prst="roundRect">
            <a:avLst>
              <a:gd name="adj" fmla="val 1715"/>
            </a:avLst>
          </a:prstGeom>
          <a:solidFill>
            <a:srgbClr val="FAEFE9"/>
          </a:solidFill>
          <a:ln w="9525">
            <a:solidFill>
              <a:srgbClr val="E5B5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28475" y="3041005"/>
            <a:ext cx="510818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328475" y="3334792"/>
            <a:ext cx="510818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25" spc="-2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Registered Ports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12328475" y="3759101"/>
            <a:ext cx="5108182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1 024 – 49 151</a:t>
            </a:r>
            <a:endParaRPr lang="en-US" sz="1163" dirty="0"/>
          </a:p>
        </p:txBody>
      </p:sp>
      <p:sp>
        <p:nvSpPr>
          <p:cNvPr id="30" name="Shape 28"/>
          <p:cNvSpPr/>
          <p:nvPr/>
        </p:nvSpPr>
        <p:spPr>
          <a:xfrm>
            <a:off x="12328475" y="4125516"/>
            <a:ext cx="4959400" cy="247650"/>
          </a:xfrm>
          <a:prstGeom prst="roundRect">
            <a:avLst>
              <a:gd name="adj" fmla="val 11538"/>
            </a:avLst>
          </a:prstGeom>
          <a:ln w="9525">
            <a:solidFill>
              <a:srgbClr val="D7C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38000" y="4135041"/>
            <a:ext cx="2746772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12414200" y="4135041"/>
            <a:ext cx="26767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 benign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4772" y="4135041"/>
            <a:ext cx="2193429" cy="228600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34" name="Text 32"/>
          <p:cNvSpPr/>
          <p:nvPr/>
        </p:nvSpPr>
        <p:spPr>
          <a:xfrm>
            <a:off x="15160972" y="4135041"/>
            <a:ext cx="2117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5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328475" y="4582716"/>
            <a:ext cx="5108182" cy="26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8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Nearly half of all flows here are hostile.</a:t>
            </a:r>
            <a:endParaRPr lang="en-US" sz="1208" dirty="0"/>
          </a:p>
        </p:txBody>
      </p:sp>
      <p:sp>
        <p:nvSpPr>
          <p:cNvPr id="36" name="Shape 34"/>
          <p:cNvSpPr/>
          <p:nvPr/>
        </p:nvSpPr>
        <p:spPr>
          <a:xfrm>
            <a:off x="762000" y="5347841"/>
            <a:ext cx="16764000" cy="1236018"/>
          </a:xfrm>
          <a:prstGeom prst="roundRect">
            <a:avLst>
              <a:gd name="adj" fmla="val 3082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6325" y="5701159"/>
            <a:ext cx="14208725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INDEPENDENCE TEST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076325" y="5976193"/>
            <a:ext cx="14208725" cy="292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8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pPr algn="l" indent="0" marL="0">
              <a:lnSpc>
                <a:spcPct val="145000"/>
              </a:lnSpc>
              <a:buNone/>
            </a:pPr>
            <a:r>
              <a:rPr lang="en-US" sz="138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highly significant </a:t>
            </a:r>
            <a:pPr algn="l" indent="0" marL="0">
              <a:lnSpc>
                <a:spcPct val="145000"/>
              </a:lnSpc>
              <a:buNone/>
            </a:pPr>
            <a:r>
              <a:rPr lang="en-US" sz="138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between destination-port category and attack status — the </a:t>
            </a:r>
            <a:pPr algn="l" indent="0" marL="0">
              <a:lnSpc>
                <a:spcPct val="145000"/>
              </a:lnSpc>
              <a:buNone/>
            </a:pPr>
            <a:r>
              <a:rPr lang="en-US" sz="1380" b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registered range </a:t>
            </a:r>
            <a:pPr algn="l" indent="0" marL="0">
              <a:lnSpc>
                <a:spcPct val="145000"/>
              </a:lnSpc>
              <a:buNone/>
            </a:pPr>
            <a:r>
              <a:rPr lang="en-US" sz="138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real, statistical hot zone, not noise.</a:t>
            </a:r>
            <a:endParaRPr lang="en-US" sz="1380" dirty="0"/>
          </a:p>
        </p:txBody>
      </p:sp>
      <p:sp>
        <p:nvSpPr>
          <p:cNvPr id="39" name="Text 37"/>
          <p:cNvSpPr/>
          <p:nvPr/>
        </p:nvSpPr>
        <p:spPr>
          <a:xfrm>
            <a:off x="15137904" y="5605016"/>
            <a:ext cx="2073771" cy="75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120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χ² = </a:t>
            </a:r>
            <a:pPr algn="r" indent="0" marL="0">
              <a:lnSpc>
                <a:spcPct val="180000"/>
              </a:lnSpc>
              <a:buNone/>
            </a:pPr>
            <a:r>
              <a:rPr lang="en-US" sz="1950" b="1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135.83 </a:t>
            </a:r>
            <a:pPr algn="r" indent="0" marL="0">
              <a:lnSpc>
                <a:spcPct val="180000"/>
              </a:lnSpc>
              <a:buNone/>
            </a:pPr>
            <a:r>
              <a:rPr lang="en-US" sz="120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2 p &lt; </a:t>
            </a:r>
            <a:pPr algn="r" indent="0" marL="0">
              <a:lnSpc>
                <a:spcPct val="180000"/>
              </a:lnSpc>
              <a:buNone/>
            </a:pPr>
            <a:r>
              <a:rPr lang="en-US" sz="1208" b="1" dirty="0">
                <a:solidFill>
                  <a:srgbClr val="B3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2.22e-16</a:t>
            </a:r>
            <a:endParaRPr lang="en-US" sz="1208" dirty="0"/>
          </a:p>
        </p:txBody>
      </p:sp>
      <p:sp>
        <p:nvSpPr>
          <p:cNvPr id="40" name="Shape 38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16847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PRE-MODELING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84834" y="609600"/>
            <a:ext cx="24494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VARIABLE SELECTION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Pruning the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redundant 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predictors.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62000" y="1841302"/>
            <a:ext cx="9810750" cy="57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either model is fit, we screen the candidates for multicollinearity. Heavily redundant variables are cut by correlation prune, then by stepwise BIC, then by iterative VIF pruning (logistic only).</a:t>
            </a:r>
            <a:endParaRPr lang="en-US" sz="1463" dirty="0"/>
          </a:p>
        </p:txBody>
      </p:sp>
      <p:sp>
        <p:nvSpPr>
          <p:cNvPr id="7" name="Shape 5"/>
          <p:cNvSpPr/>
          <p:nvPr/>
        </p:nvSpPr>
        <p:spPr>
          <a:xfrm>
            <a:off x="762000" y="2589312"/>
            <a:ext cx="16764000" cy="1178868"/>
          </a:xfrm>
          <a:prstGeom prst="roundRect">
            <a:avLst>
              <a:gd name="adj" fmla="val 3232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" y="2751237"/>
            <a:ext cx="309621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138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863" dirty="0"/>
          </a:p>
        </p:txBody>
      </p:sp>
      <p:sp>
        <p:nvSpPr>
          <p:cNvPr id="9" name="Text 7"/>
          <p:cNvSpPr/>
          <p:nvPr/>
        </p:nvSpPr>
        <p:spPr>
          <a:xfrm>
            <a:off x="942975" y="2986236"/>
            <a:ext cx="30962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42975" y="3386286"/>
            <a:ext cx="3096211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CICIDS2017 flow features after CSV cleanup.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120455" y="2598837"/>
            <a:ext cx="9525" cy="1159818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2" name="Text 10"/>
          <p:cNvSpPr/>
          <p:nvPr/>
        </p:nvSpPr>
        <p:spPr>
          <a:xfrm>
            <a:off x="4301430" y="2751237"/>
            <a:ext cx="308640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138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NON-DEGENERATE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4301430" y="2986236"/>
            <a:ext cx="30864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note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301430" y="3271986"/>
            <a:ext cx="3086401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Zero-variance and non-numeric columns dropped.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7469386" y="2598837"/>
            <a:ext cx="9525" cy="1159818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6" name="Text 14"/>
          <p:cNvSpPr/>
          <p:nvPr/>
        </p:nvSpPr>
        <p:spPr>
          <a:xfrm>
            <a:off x="7650361" y="2751237"/>
            <a:ext cx="3086554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138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0.9 PRUNE</a:t>
            </a:r>
            <a:endParaRPr lang="en-US" sz="863" dirty="0"/>
          </a:p>
        </p:txBody>
      </p:sp>
      <p:sp>
        <p:nvSpPr>
          <p:cNvPr id="17" name="Text 15"/>
          <p:cNvSpPr/>
          <p:nvPr/>
        </p:nvSpPr>
        <p:spPr>
          <a:xfrm>
            <a:off x="7650361" y="2986236"/>
            <a:ext cx="30865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note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50361" y="3271986"/>
            <a:ext cx="3086554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Highly correlated pairs removed.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0818465" y="2598837"/>
            <a:ext cx="9525" cy="1159818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0" name="Text 18"/>
          <p:cNvSpPr/>
          <p:nvPr/>
        </p:nvSpPr>
        <p:spPr>
          <a:xfrm>
            <a:off x="10999440" y="2751237"/>
            <a:ext cx="308640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138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BIC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10999440" y="2986236"/>
            <a:ext cx="30864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E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</a:t>
            </a:r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999440" y="3271986"/>
            <a:ext cx="3086401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predictors for MLR · 13 for logistic (in </a:t>
            </a:r>
            <a:pPr algn="l" indent="0" marL="0">
              <a:lnSpc>
                <a:spcPct val="135000"/>
              </a:lnSpc>
              <a:buNone/>
            </a:pPr>
            <a:r>
              <a:rPr lang="en-US" sz="788" i="1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glm_data.csv</a:t>
            </a:r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14167396" y="2598837"/>
            <a:ext cx="9525" cy="1159818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4" name="Text 22"/>
          <p:cNvSpPr/>
          <p:nvPr/>
        </p:nvSpPr>
        <p:spPr>
          <a:xfrm>
            <a:off x="14348371" y="2751237"/>
            <a:ext cx="3086554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138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PRUNE · LOGISTIC ONLY</a:t>
            </a:r>
            <a:endParaRPr lang="en-US" sz="863" dirty="0"/>
          </a:p>
        </p:txBody>
      </p:sp>
      <p:sp>
        <p:nvSpPr>
          <p:cNvPr id="25" name="Text 23"/>
          <p:cNvSpPr/>
          <p:nvPr/>
        </p:nvSpPr>
        <p:spPr>
          <a:xfrm>
            <a:off x="14348371" y="2986236"/>
            <a:ext cx="30865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348371" y="3271986"/>
            <a:ext cx="3086554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Iterative prune of VIF &gt; 5 in </a:t>
            </a:r>
            <a:pPr algn="l" indent="0" marL="0">
              <a:lnSpc>
                <a:spcPct val="135000"/>
              </a:lnSpc>
              <a:buNone/>
            </a:pPr>
            <a:r>
              <a:rPr lang="en-US" sz="788" i="1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Logistic.R </a:t>
            </a:r>
            <a:pPr algn="l" indent="0" marL="0">
              <a:lnSpc>
                <a:spcPct val="135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drops 2 of the 13.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62000" y="3901529"/>
            <a:ext cx="17266920" cy="43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 column counts after the zero-variance drop and the |r| &gt; 0.9 pairwise prune (chips 2 and 3) are not reported in this deck — the raw CICIDS files are held by a different team member, so the in-between counts were not re-computed locally. The pipeline endpoints (79, 8, 13, 11) are exact.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762000" y="4454277"/>
            <a:ext cx="849611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b="1" spc="169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PREDICTOR CORRELATIONS · PHASE 1 · 8 VARS</a:t>
            </a:r>
            <a:endParaRPr lang="en-US" sz="938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4722168"/>
            <a:ext cx="8248650" cy="45720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277350" y="4454277"/>
            <a:ext cx="849611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b="1" spc="169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PREDICTOR CORRELATIONS · PHASE 2 · 13 VARS (POST-BIC, PRE-VIF)</a:t>
            </a:r>
            <a:endParaRPr lang="en-US" sz="938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77350" y="4722168"/>
            <a:ext cx="8248650" cy="4572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62000" y="9389418"/>
            <a:ext cx="16678275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matrices show intense pockets of correlation (dark </a:t>
            </a:r>
            <a:pPr algn="l" indent="0" marL="0">
              <a:lnSpc>
                <a:spcPct val="145000"/>
              </a:lnSpc>
              <a:buNone/>
            </a:pPr>
            <a:r>
              <a:rPr lang="en-US" sz="1163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navy </a:t>
            </a:r>
            <a:pPr algn="l" indent="0" marL="0">
              <a:lnSpc>
                <a:spcPct val="14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firebrick </a:t>
            </a:r>
            <a:pPr algn="l" indent="0" marL="0">
              <a:lnSpc>
                <a:spcPct val="145000"/>
              </a:lnSpc>
              <a:buNone/>
            </a:pPr>
            <a:r>
              <a:rPr lang="en-US" sz="1163" b="1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pPr algn="l" indent="0" marL="0">
              <a:lnSpc>
                <a:spcPct val="145000"/>
              </a:lnSpc>
              <a:buNone/>
            </a:pPr>
            <a:r>
              <a:rPr lang="en-US" sz="11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particularly among packet-size and length variables. All pairs with |r| &gt; 0.9 were pruned before stepwise BIC.</a:t>
            </a:r>
            <a:endParaRPr lang="en-US" sz="1163" dirty="0"/>
          </a:p>
        </p:txBody>
      </p:sp>
      <p:sp>
        <p:nvSpPr>
          <p:cNvPr id="33" name="Shape 29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4" name="Text 30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4059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MLR 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5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84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the </a:t>
            </a:r>
            <a:pPr algn="l" indent="0" marL="0">
              <a:lnSpc>
                <a:spcPct val="104000"/>
              </a:lnSpc>
              <a:buNone/>
            </a:pPr>
            <a:r>
              <a:rPr lang="en-US" sz="4650" i="1" spc="-84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</a:t>
            </a:r>
            <a:pPr algn="l" indent="0" marL="0">
              <a:lnSpc>
                <a:spcPct val="104000"/>
              </a:lnSpc>
              <a:buNone/>
            </a:pPr>
            <a:r>
              <a:rPr lang="en-US" sz="4650" spc="-84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normal traffic.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762000" y="2185690"/>
            <a:ext cx="400050" cy="400050"/>
          </a:xfrm>
          <a:prstGeom prst="ellipse">
            <a:avLst/>
          </a:prstGeom>
          <a:solidFill>
            <a:srgbClr val="FBF7EC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25" y="219521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242840"/>
            <a:ext cx="6426041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b="1" spc="18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SCOPE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333500" y="2486323"/>
            <a:ext cx="6426041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First-order terms only — no interactions or polynomial expansions. Keep the model interpretable.</a:t>
            </a:r>
            <a:endParaRPr lang="en-US" sz="1313" dirty="0"/>
          </a:p>
        </p:txBody>
      </p:sp>
      <p:sp>
        <p:nvSpPr>
          <p:cNvPr id="10" name="Shape 8"/>
          <p:cNvSpPr/>
          <p:nvPr/>
        </p:nvSpPr>
        <p:spPr>
          <a:xfrm>
            <a:off x="762000" y="3122116"/>
            <a:ext cx="681037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284041"/>
            <a:ext cx="400050" cy="400050"/>
          </a:xfrm>
          <a:prstGeom prst="ellipse">
            <a:avLst/>
          </a:prstGeom>
          <a:solidFill>
            <a:srgbClr val="FBF7EC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425" y="329356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3500" y="3341191"/>
            <a:ext cx="6073621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b="1" spc="18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333500" y="3584674"/>
            <a:ext cx="6073621" cy="279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Stepwise BIC applied to the benign-only dataset to find the leanest predictor set.</a:t>
            </a:r>
            <a:endParaRPr lang="en-US" sz="1313" dirty="0"/>
          </a:p>
        </p:txBody>
      </p:sp>
      <p:sp>
        <p:nvSpPr>
          <p:cNvPr id="15" name="Shape 13"/>
          <p:cNvSpPr/>
          <p:nvPr/>
        </p:nvSpPr>
        <p:spPr>
          <a:xfrm>
            <a:off x="762000" y="3978771"/>
            <a:ext cx="681037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140696"/>
            <a:ext cx="400050" cy="400050"/>
          </a:xfrm>
          <a:prstGeom prst="ellipse">
            <a:avLst/>
          </a:prstGeom>
          <a:solidFill>
            <a:srgbClr val="FBF7EC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425" y="4150221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3500" y="4197846"/>
            <a:ext cx="5535409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b="1" spc="18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1333500" y="4441329"/>
            <a:ext cx="5535409" cy="279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predictors </a:t>
            </a:r>
            <a:pPr algn="l" indent="0" marL="0">
              <a:lnSpc>
                <a:spcPct val="145000"/>
              </a:lnSpc>
              <a:buNone/>
            </a:pPr>
            <a:r>
              <a:rPr lang="en-US" sz="1313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retained to model Flow.Bytes — see VIF check to the right.</a:t>
            </a:r>
            <a:endParaRPr lang="en-US" sz="1313" dirty="0"/>
          </a:p>
        </p:txBody>
      </p:sp>
      <p:sp>
        <p:nvSpPr>
          <p:cNvPr id="20" name="Text 18"/>
          <p:cNvSpPr/>
          <p:nvPr/>
        </p:nvSpPr>
        <p:spPr>
          <a:xfrm>
            <a:off x="7991475" y="2033290"/>
            <a:ext cx="9820561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b="1" spc="18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 · VIF</a:t>
            </a:r>
            <a:endParaRPr lang="en-US" sz="1013" dirty="0"/>
          </a:p>
        </p:txBody>
      </p:sp>
      <p:sp>
        <p:nvSpPr>
          <p:cNvPr id="21" name="Shape 19"/>
          <p:cNvSpPr/>
          <p:nvPr/>
        </p:nvSpPr>
        <p:spPr>
          <a:xfrm>
            <a:off x="7991475" y="2352973"/>
            <a:ext cx="9534525" cy="2335709"/>
          </a:xfrm>
          <a:prstGeom prst="roundRect">
            <a:avLst>
              <a:gd name="adj" fmla="val 2447"/>
            </a:avLst>
          </a:prstGeom>
          <a:solidFill>
            <a:srgbClr val="15181F"/>
          </a:solidFill>
          <a:ln/>
        </p:spPr>
      </p:sp>
      <p:sp>
        <p:nvSpPr>
          <p:cNvPr id="22" name="Text 20"/>
          <p:cNvSpPr/>
          <p:nvPr/>
        </p:nvSpPr>
        <p:spPr>
          <a:xfrm>
            <a:off x="8201025" y="2524423"/>
            <a:ext cx="9401461" cy="2030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13" i="1" dirty="0">
                <a:solidFill>
                  <a:srgbClr val="6B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Variance Inflation Factor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D4B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vif_values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car::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(m1)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(vif_values)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    act_data_pkt_fwd        PSH.Flag.Count   Avg.Bwd.Segment.Size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             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1.720699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2.261688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013" b="1" dirty="0">
                <a:solidFill>
                  <a:srgbClr val="D4B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5.937063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Bwd.Packet.Length.Std  Bwd.Packet.Length.Min    min_seg_size_forward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             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b="1" dirty="0">
                <a:solidFill>
                  <a:srgbClr val="D4B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6.830515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1.769534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1.038479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         Active.Std              Active.Max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              </a:t>
            </a:r>
            <a:endParaRPr lang="en-US" sz="1013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2.406375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2.545160</a:t>
            </a:r>
            <a:endParaRPr lang="en-US" sz="1013" dirty="0"/>
          </a:p>
        </p:txBody>
      </p:sp>
      <p:sp>
        <p:nvSpPr>
          <p:cNvPr id="23" name="Shape 21"/>
          <p:cNvSpPr/>
          <p:nvPr/>
        </p:nvSpPr>
        <p:spPr>
          <a:xfrm>
            <a:off x="7991475" y="4841081"/>
            <a:ext cx="9534525" cy="1545878"/>
          </a:xfrm>
          <a:prstGeom prst="roundRect">
            <a:avLst>
              <a:gd name="adj" fmla="val 2465"/>
            </a:avLst>
          </a:prstGeom>
          <a:solidFill>
            <a:srgbClr val="FBF7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991475" y="6377434"/>
            <a:ext cx="953452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1475" y="4841081"/>
            <a:ext cx="9534525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6" name="Shape 24"/>
          <p:cNvSpPr/>
          <p:nvPr/>
        </p:nvSpPr>
        <p:spPr>
          <a:xfrm>
            <a:off x="7991475" y="4841081"/>
            <a:ext cx="28575" cy="154587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17516475" y="4841081"/>
            <a:ext cx="9525" cy="1545878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8" name="Text 26"/>
          <p:cNvSpPr/>
          <p:nvPr/>
        </p:nvSpPr>
        <p:spPr>
          <a:xfrm>
            <a:off x="8248650" y="5041106"/>
            <a:ext cx="33679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⚑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8661648" y="5203031"/>
            <a:ext cx="8885014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CAVEAT · CLASS THRESHOLD &lt; 5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661648" y="5497116"/>
            <a:ext cx="8885014" cy="727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VIF is </a:t>
            </a:r>
            <a:pPr algn="l" indent="0" marL="0">
              <a:lnSpc>
                <a:spcPct val="150000"/>
              </a:lnSpc>
              <a:buNone/>
            </a:pPr>
            <a:r>
              <a:rPr lang="en-US" sz="1208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6.83 </a:t>
            </a:r>
            <a:pPr algn="l" indent="0" marL="0">
              <a:lnSpc>
                <a:spcPct val="150000"/>
              </a:lnSpc>
              <a:buNone/>
            </a:pPr>
            <a:r>
              <a:rPr lang="en-US" sz="120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(Bwd.Packet.Length.Std), with Avg.Bwd.Segment.Size at </a:t>
            </a:r>
            <a:pPr algn="l" indent="0" marL="0">
              <a:lnSpc>
                <a:spcPct val="150000"/>
              </a:lnSpc>
              <a:buNone/>
            </a:pPr>
            <a:r>
              <a:rPr lang="en-US" sz="1208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5.94 </a:t>
            </a:r>
            <a:pPr algn="l" indent="0" marL="0">
              <a:lnSpc>
                <a:spcPct val="150000"/>
              </a:lnSpc>
              <a:buNone/>
            </a:pPr>
            <a:r>
              <a:rPr lang="en-US" sz="120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Both sit above the class threshold of 5, below the broader rule-of-thumb of 10. We retain them because they are substantively meaningful and dropping them noticeably hurts the fit — </a:t>
            </a:r>
            <a:pPr algn="l" indent="0" marL="0">
              <a:lnSpc>
                <a:spcPct val="150000"/>
              </a:lnSpc>
              <a:buNone/>
            </a:pPr>
            <a:r>
              <a:rPr lang="en-US" sz="1208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treated as a known caveat.</a:t>
            </a:r>
            <a:endParaRPr lang="en-US" sz="1208" dirty="0"/>
          </a:p>
        </p:txBody>
      </p:sp>
      <p:sp>
        <p:nvSpPr>
          <p:cNvPr id="31" name="Shape 29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6503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DIAGNOSTICS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fit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every assumption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62000" y="1879402"/>
            <a:ext cx="9810750" cy="57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trusting any p‑value, we check residuals. The default model fails on two counts — outliers and non-normality — both visible in the diagnostic triptych.</a:t>
            </a:r>
            <a:endParaRPr lang="en-US" sz="1463" dirty="0"/>
          </a:p>
        </p:txBody>
      </p:sp>
      <p:sp>
        <p:nvSpPr>
          <p:cNvPr id="7" name="Shape 5"/>
          <p:cNvSpPr/>
          <p:nvPr/>
        </p:nvSpPr>
        <p:spPr>
          <a:xfrm>
            <a:off x="762000" y="2627412"/>
            <a:ext cx="16764000" cy="38862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0099" y="2770287"/>
            <a:ext cx="11467654" cy="36003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6723162"/>
            <a:ext cx="8248650" cy="2625775"/>
          </a:xfrm>
          <a:prstGeom prst="roundRect">
            <a:avLst>
              <a:gd name="adj" fmla="val 1451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9175" y="6961287"/>
            <a:ext cx="7966329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· ROW 1198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1019175" y="7274421"/>
            <a:ext cx="7966329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observation drives the Cook's distance plot. Row 1198 has leverage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Cook's distance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~5,800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artificially inflating R² to 0.99 and warping the regression plane.</a:t>
            </a:r>
            <a:endParaRPr lang="en-US" sz="1252" dirty="0"/>
          </a:p>
        </p:txBody>
      </p:sp>
      <p:sp>
        <p:nvSpPr>
          <p:cNvPr id="12" name="Shape 9"/>
          <p:cNvSpPr/>
          <p:nvPr/>
        </p:nvSpPr>
        <p:spPr>
          <a:xfrm>
            <a:off x="1019175" y="7884914"/>
            <a:ext cx="7734300" cy="1225897"/>
          </a:xfrm>
          <a:prstGeom prst="roundRect">
            <a:avLst>
              <a:gd name="adj" fmla="val 4662"/>
            </a:avLst>
          </a:prstGeom>
          <a:solidFill>
            <a:srgbClr val="15181F"/>
          </a:solidFill>
          <a:ln/>
        </p:spPr>
      </p:sp>
      <p:sp>
        <p:nvSpPr>
          <p:cNvPr id="13" name="Text 10"/>
          <p:cNvSpPr/>
          <p:nvPr/>
        </p:nvSpPr>
        <p:spPr>
          <a:xfrm>
            <a:off x="1190625" y="8018264"/>
            <a:ext cx="7623429" cy="997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i="1" dirty="0">
                <a:solidFill>
                  <a:srgbClr val="6B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Row 1198 Outlier ===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(tab, row.names =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Variable Row_1198 Second_Val Z_Score Times_2nd</a:t>
            </a:r>
            <a:endParaRPr lang="en-US" sz="9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Flow.Bytes  </a:t>
            </a:r>
            <a:endParaRPr lang="en-US" sz="975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D4B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10716095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977134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312.81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11.0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act_data_pkt_fwd  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D4B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2626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311.82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E8DEC4"/>
                </a:solidFill>
                <a:highlight>
                  <a:srgbClr val="1518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8C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16.5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9277350" y="6723162"/>
            <a:ext cx="8248650" cy="2625775"/>
          </a:xfrm>
          <a:prstGeom prst="roundRect">
            <a:avLst>
              <a:gd name="adj" fmla="val 1451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34525" y="6961287"/>
            <a:ext cx="7966329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NON-NORMALITY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534525" y="7274421"/>
            <a:ext cx="7966329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Q‑Q plot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massive deviation in both tails — the residuals are nowhere near normal. This destabilizes every confidence interval downstream.</a:t>
            </a:r>
            <a:endParaRPr lang="en-US" sz="1252" dirty="0"/>
          </a:p>
        </p:txBody>
      </p:sp>
      <p:sp>
        <p:nvSpPr>
          <p:cNvPr id="17" name="Text 14"/>
          <p:cNvSpPr/>
          <p:nvPr/>
        </p:nvSpPr>
        <p:spPr>
          <a:xfrm>
            <a:off x="9534525" y="7884914"/>
            <a:ext cx="796632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5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NEXT SLIDE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9534525" y="8131076"/>
            <a:ext cx="7966329" cy="27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Row 1198, then re-check whether a log transform of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Flow.Bytes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calms the residual spread.</a:t>
            </a:r>
            <a:endParaRPr lang="en-US" sz="1252" dirty="0"/>
          </a:p>
        </p:txBody>
      </p:sp>
      <p:sp>
        <p:nvSpPr>
          <p:cNvPr id="19" name="Shape 16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7911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REPAIR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fixes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 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assumptions.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62000" y="1879402"/>
            <a:ext cx="9810750" cy="308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the influential point comes out. Then a </a:t>
            </a:r>
            <a:pPr algn="l" indent="0" marL="0">
              <a:lnSpc>
                <a:spcPct val="145000"/>
              </a:lnSpc>
              <a:buNone/>
            </a:pPr>
            <a:r>
              <a:rPr lang="en-US" sz="1316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log1p(Flow.Bytes) </a:t>
            </a:r>
            <a:pPr algn="l" indent="0" marL="0">
              <a:lnSpc>
                <a:spcPct val="145000"/>
              </a:lnSpc>
              <a:buNone/>
            </a:pPr>
            <a:r>
              <a:rPr lang="en-US" sz="146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settles the heavy tail.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762000" y="2416969"/>
            <a:ext cx="8456867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DROPPING ROW 1198 · RAW RESPONSE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762000" y="2691705"/>
            <a:ext cx="8210550" cy="49530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3914477"/>
            <a:ext cx="7924800" cy="2507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2000" y="7797105"/>
            <a:ext cx="8456867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Cook's distance maximum drops from ~5,800 to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</a:t>
            </a:r>
            <a:pPr algn="l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Residuals still cluster at low fitted values and the Q‑Q tail is heavy — a transformation is warranted.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9315450" y="2416969"/>
            <a:ext cx="8456867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LOG1P(FLOW.BYTES) TRANSFORM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9315450" y="2691705"/>
            <a:ext cx="8210550" cy="49530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5" y="3924151"/>
            <a:ext cx="7924800" cy="24881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15450" y="7797105"/>
            <a:ext cx="8456867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log transform tames the worst tail behavior and partially straightens the Q‑Q line — but residuals vs fitted still show clear curvature. The polynomial terms added on Slide 10 substantially reduce both — though some residual structure remains.</a:t>
            </a:r>
            <a:endParaRPr lang="en-US" sz="1275" dirty="0"/>
          </a:p>
        </p:txBody>
      </p:sp>
      <p:sp>
        <p:nvSpPr>
          <p:cNvPr id="15" name="Shape 11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6" name="Text 12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922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MLR —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output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key takeaways.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62000" y="1879402"/>
            <a:ext cx="9810750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8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dropping Row 1198 and adding two polynomial terms to straighten the residual curve, two predictors revealed concave (downward-opening) relationships with log byte volume.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62000" y="2578298"/>
            <a:ext cx="585103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PRE-POLYNOMIAL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2000" y="2820144"/>
            <a:ext cx="5680621" cy="2286000"/>
          </a:xfrm>
          <a:prstGeom prst="roundRect">
            <a:avLst>
              <a:gd name="adj" fmla="val 1667"/>
            </a:avLst>
          </a:prstGeom>
          <a:solidFill>
            <a:srgbClr val="15181F"/>
          </a:solidFill>
          <a:ln w="9525">
            <a:solidFill>
              <a:srgbClr val="1518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797" y="2820293"/>
            <a:ext cx="2542877" cy="22858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2000" y="5239494"/>
            <a:ext cx="585103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FINAL MODEL · POLYNOMIAL TERMS ADDED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2000" y="5481340"/>
            <a:ext cx="5680621" cy="2857500"/>
          </a:xfrm>
          <a:prstGeom prst="roundRect">
            <a:avLst>
              <a:gd name="adj" fmla="val 1333"/>
            </a:avLst>
          </a:prstGeom>
          <a:solidFill>
            <a:srgbClr val="15181F"/>
          </a:solidFill>
          <a:ln w="9525">
            <a:solidFill>
              <a:srgbClr val="1518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45" y="5481489"/>
            <a:ext cx="3189982" cy="2857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09321" y="2578298"/>
            <a:ext cx="417937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· DIAGNOSTIC PLOTS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709321" y="2820144"/>
            <a:ext cx="4057650" cy="5505450"/>
          </a:xfrm>
          <a:prstGeom prst="roundRect">
            <a:avLst>
              <a:gd name="adj" fmla="val 939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61" y="2915543"/>
            <a:ext cx="2874169" cy="53148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09321" y="8420844"/>
            <a:ext cx="4179379" cy="1004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polynomial terms, residual curvature is much milder and Cook's distance dropped from ~5,800 to ~1.2 — a substantial improvement. Some downward trend in residuals, a heavy left tail, and two points (627, 1041) with Cook's &gt; 1 still remain. We treat this as a partial, not complete, repair.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033671" y="2578298"/>
            <a:ext cx="668709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1033671" y="2795885"/>
            <a:ext cx="6687099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summary tells us.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1033671" y="3369171"/>
            <a:ext cx="361950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1433721" y="3369171"/>
            <a:ext cx="6275048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52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0.6889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(Adj. 0.6869) — a realistic fit after the outlier removal and polynomial terms. RSE = 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1A1D26"/>
                </a:solidFill>
                <a:highlight>
                  <a:srgbClr val="EAE0C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1.527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log scale.</a:t>
            </a:r>
            <a:endParaRPr lang="en-US" sz="1252" dirty="0"/>
          </a:p>
        </p:txBody>
      </p:sp>
      <p:sp>
        <p:nvSpPr>
          <p:cNvPr id="21" name="Shape 16"/>
          <p:cNvSpPr/>
          <p:nvPr/>
        </p:nvSpPr>
        <p:spPr>
          <a:xfrm>
            <a:off x="11033671" y="3954066"/>
            <a:ext cx="6492329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2" name="Text 17"/>
          <p:cNvSpPr/>
          <p:nvPr/>
        </p:nvSpPr>
        <p:spPr>
          <a:xfrm>
            <a:off x="11033671" y="4096941"/>
            <a:ext cx="361950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3721" y="4096941"/>
            <a:ext cx="6275048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52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354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10 and 1599 DF · p &lt; 2.2e-16 — the model as a whole is overwhelmingly significant.</a:t>
            </a:r>
            <a:endParaRPr lang="en-US" sz="1252" dirty="0"/>
          </a:p>
        </p:txBody>
      </p:sp>
      <p:sp>
        <p:nvSpPr>
          <p:cNvPr id="24" name="Shape 19"/>
          <p:cNvSpPr/>
          <p:nvPr/>
        </p:nvSpPr>
        <p:spPr>
          <a:xfrm>
            <a:off x="11033671" y="4681835"/>
            <a:ext cx="6492329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5" name="Text 20"/>
          <p:cNvSpPr/>
          <p:nvPr/>
        </p:nvSpPr>
        <p:spPr>
          <a:xfrm>
            <a:off x="11033671" y="4824710"/>
            <a:ext cx="3619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7/8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1433721" y="4824710"/>
            <a:ext cx="627504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52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of 8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linear-term predictors significant at p &lt; 0.05 — only 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1A1D26"/>
                </a:solidFill>
                <a:highlight>
                  <a:srgbClr val="EAE0C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falls short.</a:t>
            </a:r>
            <a:endParaRPr lang="en-US" sz="1252" dirty="0"/>
          </a:p>
        </p:txBody>
      </p:sp>
      <p:sp>
        <p:nvSpPr>
          <p:cNvPr id="27" name="Shape 22"/>
          <p:cNvSpPr/>
          <p:nvPr/>
        </p:nvSpPr>
        <p:spPr>
          <a:xfrm>
            <a:off x="11033671" y="5232350"/>
            <a:ext cx="6492329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8" name="Text 23"/>
          <p:cNvSpPr/>
          <p:nvPr/>
        </p:nvSpPr>
        <p:spPr>
          <a:xfrm>
            <a:off x="11033671" y="5375225"/>
            <a:ext cx="361950" cy="715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∩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1433721" y="5375225"/>
            <a:ext cx="6275048" cy="715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quadratic terms (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1A1D26"/>
                </a:solidFill>
                <a:highlight>
                  <a:srgbClr val="EAE0C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Bwd.Packet.Length.Min²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1A1D26"/>
                </a:solidFill>
                <a:highlight>
                  <a:srgbClr val="EAE0C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act_data_pkt_fwd²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are </a:t>
            </a:r>
            <a:pPr algn="l" indent="0" marL="0">
              <a:lnSpc>
                <a:spcPct val="142000"/>
              </a:lnSpc>
              <a:buNone/>
            </a:pPr>
            <a:r>
              <a:rPr lang="en-US" sz="1252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highly significant with negative signs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confirming concave, peaked relationships with byte volume.</a:t>
            </a:r>
            <a:endParaRPr lang="en-US" sz="1252" dirty="0"/>
          </a:p>
        </p:txBody>
      </p:sp>
      <p:sp>
        <p:nvSpPr>
          <p:cNvPr id="30" name="Shape 25"/>
          <p:cNvSpPr/>
          <p:nvPr/>
        </p:nvSpPr>
        <p:spPr>
          <a:xfrm>
            <a:off x="11033671" y="6185892"/>
            <a:ext cx="6492329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1" name="Text 26"/>
          <p:cNvSpPr/>
          <p:nvPr/>
        </p:nvSpPr>
        <p:spPr>
          <a:xfrm>
            <a:off x="11033671" y="6328767"/>
            <a:ext cx="361950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11433721" y="6328767"/>
            <a:ext cx="6275048" cy="489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Compared to the pre-polynomial fit (R² = 0.5686): </a:t>
            </a:r>
            <a:pPr algn="l" indent="0" marL="0">
              <a:lnSpc>
                <a:spcPct val="142000"/>
              </a:lnSpc>
              <a:buNone/>
            </a:pPr>
            <a:r>
              <a:rPr lang="en-US" sz="1252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 percentage points </a:t>
            </a:r>
            <a:pPr algn="l" indent="0" marL="0">
              <a:lnSpc>
                <a:spcPct val="142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explained variance just from the two curvature terms.</a:t>
            </a:r>
            <a:endParaRPr lang="en-US" sz="1252" dirty="0"/>
          </a:p>
        </p:txBody>
      </p:sp>
      <p:sp>
        <p:nvSpPr>
          <p:cNvPr id="33" name="Shape 28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4" name="Text 29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2009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velocity?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762000" y="1879402"/>
            <a:ext cx="5435501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0125" y="2098477"/>
            <a:ext cx="510802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00125" y="2354163"/>
            <a:ext cx="5108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0.6889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00125" y="3116163"/>
            <a:ext cx="51080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realistic fit after removing the leverage outlier and adding polynomial terms.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426101" y="1879402"/>
            <a:ext cx="5435650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226" y="2098477"/>
            <a:ext cx="510818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SIGNIFICANCE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664226" y="2354163"/>
            <a:ext cx="510818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spc="-9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354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6664226" y="3020913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F(10, 1599) · p &lt; 2.2e-16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2090350" y="1879402"/>
            <a:ext cx="5435650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28475" y="2098477"/>
            <a:ext cx="510818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2328475" y="2354163"/>
            <a:ext cx="51081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</a:t>
            </a:r>
            <a:pPr algn="l" indent="0" marL="0">
              <a:lnSpc>
                <a:spcPct val="100000"/>
              </a:lnSpc>
              <a:buNone/>
            </a:pPr>
            <a:r>
              <a:rPr lang="en-US" sz="3150" spc="-108" kern="0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8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328475" y="3116163"/>
            <a:ext cx="510818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retained predictors but </a:t>
            </a:r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 </a:t>
            </a:r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statistically significant.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62000" y="3944838"/>
            <a:ext cx="847648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· FINAL MODEL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762000" y="4219575"/>
            <a:ext cx="8229600" cy="4048125"/>
          </a:xfrm>
          <a:prstGeom prst="roundRect">
            <a:avLst>
              <a:gd name="adj" fmla="val 941"/>
            </a:avLst>
          </a:prstGeom>
          <a:solidFill>
            <a:srgbClr val="15181F"/>
          </a:solidFill>
          <a:ln w="9525">
            <a:solidFill>
              <a:srgbClr val="15181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786" y="4219724"/>
            <a:ext cx="6993880" cy="4047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296400" y="3944838"/>
            <a:ext cx="847648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· THE CONCAVE EFFECT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9296400" y="4219575"/>
            <a:ext cx="8476488" cy="532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Holding all other variables constant, the marginal effect of a one-byte increase in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Bwd.Packet.Length.Min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log(Flow.Bytes) is:</a:t>
            </a:r>
            <a:endParaRPr lang="en-US" sz="1298" dirty="0"/>
          </a:p>
        </p:txBody>
      </p:sp>
      <p:sp>
        <p:nvSpPr>
          <p:cNvPr id="23" name="Shape 20"/>
          <p:cNvSpPr/>
          <p:nvPr/>
        </p:nvSpPr>
        <p:spPr>
          <a:xfrm>
            <a:off x="9296400" y="4866084"/>
            <a:ext cx="8229600" cy="1066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744" y="5042446"/>
            <a:ext cx="4252913" cy="71422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296400" y="6085284"/>
            <a:ext cx="8476488" cy="75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low baseline floor, a one-byte increase raises expected throughput by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~2.32%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(β = 0.02316). Due to the negative quadratic term (β = −0.0000145), this benefit diminishes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0.0029%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additional byte, peaking at </a:t>
            </a:r>
            <a:pPr algn="l" indent="0" marL="0">
              <a:lnSpc>
                <a:spcPct val="150000"/>
              </a:lnSpc>
              <a:buNone/>
            </a:pPr>
            <a:r>
              <a:rPr lang="en-US" sz="1252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798.6 bytes </a:t>
            </a:r>
            <a:pPr algn="l" indent="0" marL="0">
              <a:lnSpc>
                <a:spcPct val="150000"/>
              </a:lnSpc>
              <a:buNone/>
            </a:pPr>
            <a:r>
              <a:rPr lang="en-US" sz="1252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Past that threshold the marginal effect flips sign.</a:t>
            </a:r>
            <a:endParaRPr lang="en-US" sz="1252" dirty="0"/>
          </a:p>
        </p:txBody>
      </p:sp>
      <p:sp>
        <p:nvSpPr>
          <p:cNvPr id="26" name="Shape 22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7" name="Text 23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916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LOGISTIC 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5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84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Classifying </a:t>
            </a:r>
            <a:pPr algn="l" indent="0" marL="0">
              <a:lnSpc>
                <a:spcPct val="104000"/>
              </a:lnSpc>
              <a:buNone/>
            </a:pPr>
            <a:r>
              <a:rPr lang="en-US" sz="4650" i="1" spc="-84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</a:t>
            </a:r>
            <a:pPr algn="l" indent="0" marL="0">
              <a:lnSpc>
                <a:spcPct val="104000"/>
              </a:lnSpc>
              <a:buNone/>
            </a:pPr>
            <a:r>
              <a:rPr lang="en-US" sz="4650" spc="-84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baseline.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762000" y="2033290"/>
            <a:ext cx="5410200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0125" y="2252365"/>
            <a:ext cx="508196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00125" y="2508052"/>
            <a:ext cx="508196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spc="-57" kern="0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Attack_Flag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00125" y="2946202"/>
            <a:ext cx="508196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outcome — 0 = benign, 1 = attack. Overall attack rate in the data is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19.3%</a:t>
            </a:r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438900" y="2033290"/>
            <a:ext cx="5410200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7025" y="2252365"/>
            <a:ext cx="508196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SCOPE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677025" y="2508052"/>
            <a:ext cx="50819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677025" y="3270052"/>
            <a:ext cx="508196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First-order terms only. Iterative stepwise BIC, with VIF-based pruning. Max VIF: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4.37</a:t>
            </a:r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2115800" y="2033290"/>
            <a:ext cx="5410200" cy="1855887"/>
          </a:xfrm>
          <a:prstGeom prst="roundRect">
            <a:avLst>
              <a:gd name="adj" fmla="val 2053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53925" y="2252365"/>
            <a:ext cx="508196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9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2353925" y="2508052"/>
            <a:ext cx="50819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logit </a:t>
            </a:r>
            <a:pPr algn="l" indent="0" marL="0">
              <a:lnSpc>
                <a:spcPct val="100000"/>
              </a:lnSpc>
              <a:buNone/>
            </a:pPr>
            <a:r>
              <a:rPr lang="en-US" sz="5400" spc="-10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2353925" y="3270052"/>
            <a:ext cx="50819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GLM, maximum likelihood. Convergence in &lt; 10 iterations.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62000" y="4155877"/>
            <a:ext cx="16764000" cy="1312069"/>
          </a:xfrm>
          <a:prstGeom prst="roundRect">
            <a:avLst>
              <a:gd name="adj" fmla="val 2904"/>
            </a:avLst>
          </a:prstGeom>
          <a:solidFill>
            <a:srgbClr val="FBF7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458420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155877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4155877"/>
            <a:ext cx="28575" cy="1312069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16475" y="4155877"/>
            <a:ext cx="9525" cy="1312069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6325" y="4394002"/>
            <a:ext cx="400050" cy="400050"/>
          </a:xfrm>
          <a:prstGeom prst="ellipse">
            <a:avLst/>
          </a:prstGeom>
          <a:solidFill>
            <a:srgbClr val="B33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38225" y="4394002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666875" y="4441627"/>
            <a:ext cx="16030766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ALERT · PARTIAL SEPARATION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1666875" y="4735711"/>
            <a:ext cx="16030766" cy="532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Fwd.Packet.Length.Min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Avg.Fwd.Segment.Size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flagged for partial separation. We keep them for predictive accuracy but </a:t>
            </a:r>
            <a:pPr algn="l" indent="0" marL="0">
              <a:lnSpc>
                <a:spcPct val="150000"/>
              </a:lnSpc>
              <a:buNone/>
            </a:pPr>
            <a:r>
              <a:rPr lang="en-US" sz="1298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interpret their odds-ratio magnitudes </a:t>
            </a:r>
            <a:pPr algn="l" indent="0" marL="0">
              <a:lnSpc>
                <a:spcPct val="150000"/>
              </a:lnSpc>
              <a:buNone/>
            </a:pPr>
            <a:r>
              <a:rPr lang="en-US" sz="1298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those saturate at ±100% by construction.</a:t>
            </a:r>
            <a:endParaRPr lang="en-US" sz="1298" dirty="0"/>
          </a:p>
        </p:txBody>
      </p:sp>
      <p:sp>
        <p:nvSpPr>
          <p:cNvPr id="27" name="Text 25"/>
          <p:cNvSpPr/>
          <p:nvPr/>
        </p:nvSpPr>
        <p:spPr>
          <a:xfrm>
            <a:off x="762000" y="5677495"/>
            <a:ext cx="17266920" cy="26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8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 split discussion → moved to slide 14 (Performance), where the held-out metrics live.</a:t>
            </a:r>
            <a:endParaRPr lang="en-US" sz="1208" dirty="0"/>
          </a:p>
        </p:txBody>
      </p:sp>
      <p:sp>
        <p:nvSpPr>
          <p:cNvPr id="28" name="Shape 26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3223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FORMULATION &amp; VARIABLES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binary GLM with a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78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logit </a:t>
            </a:r>
            <a:pPr algn="l" indent="0" marL="0">
              <a:lnSpc>
                <a:spcPct val="104000"/>
              </a:lnSpc>
              <a:buNone/>
            </a:pPr>
            <a:r>
              <a:rPr lang="en-US" sz="4350" spc="-78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62000" y="1879402"/>
            <a:ext cx="9810750" cy="54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8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flow gets a probability of being an attack; the log-odds of that probability are modeled as a linear combination of the eleven retained predictors.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762000" y="2654498"/>
            <a:ext cx="6568380" cy="2661940"/>
          </a:xfrm>
          <a:prstGeom prst="roundRect">
            <a:avLst>
              <a:gd name="adj" fmla="val 1431"/>
            </a:avLst>
          </a:prstGeom>
          <a:solidFill>
            <a:srgbClr val="FBF7EC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5306913"/>
            <a:ext cx="656838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654498"/>
            <a:ext cx="656838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654498"/>
            <a:ext cx="28575" cy="2661940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11" name="Shape 9"/>
          <p:cNvSpPr/>
          <p:nvPr/>
        </p:nvSpPr>
        <p:spPr>
          <a:xfrm>
            <a:off x="7320855" y="2654498"/>
            <a:ext cx="9525" cy="2661940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475" y="2968823"/>
            <a:ext cx="6019815" cy="236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0" b="1" spc="21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FORMULATION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133475" y="3415308"/>
            <a:ext cx="6019815" cy="40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∼ Bin(1, p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33475" y="3917305"/>
            <a:ext cx="6019815" cy="40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P(Y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| X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1i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…, X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33475" y="4571702"/>
            <a:ext cx="368647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625947" y="4734520"/>
            <a:ext cx="332184" cy="9525"/>
          </a:xfrm>
          <a:prstGeom prst="rect">
            <a:avLst/>
          </a:prstGeom>
          <a:solidFill>
            <a:srgbClr val="1A1D26"/>
          </a:solidFill>
          <a:ln/>
        </p:spPr>
      </p:sp>
      <p:sp>
        <p:nvSpPr>
          <p:cNvPr id="17" name="Text 15"/>
          <p:cNvSpPr/>
          <p:nvPr/>
        </p:nvSpPr>
        <p:spPr>
          <a:xfrm>
            <a:off x="1721197" y="4476452"/>
            <a:ext cx="21788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l" indent="0" marL="0">
              <a:lnSpc>
                <a:spcPct val="110000"/>
              </a:lnSpc>
              <a:buNone/>
            </a:pPr>
            <a:r>
              <a:rPr lang="en-US" sz="112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87847" y="4772620"/>
            <a:ext cx="484584" cy="267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1 − p</a:t>
            </a:r>
            <a:pPr algn="l" indent="0" marL="0">
              <a:lnSpc>
                <a:spcPct val="110000"/>
              </a:lnSpc>
              <a:buNone/>
            </a:pPr>
            <a:r>
              <a:rPr lang="en-US" sz="112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205782" y="4554885"/>
            <a:ext cx="2379464" cy="40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β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β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1i 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⋯ + β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pPr algn="l" indent="0" marL="0">
              <a:lnSpc>
                <a:spcPct val="16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l" indent="0" marL="0">
              <a:lnSpc>
                <a:spcPct val="160000"/>
              </a:lnSpc>
              <a:buNone/>
            </a:pPr>
            <a:r>
              <a:rPr lang="en-US" sz="1375" i="1" baseline="-4000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5506938"/>
            <a:ext cx="6765432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8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side is the linear predictor (η); the left side is the log-odds of an attack. Exponentiating coefficients gives the multiplicative odds ratio per unit increase in a predictor.</a:t>
            </a:r>
            <a:endParaRPr lang="en-US" sz="1208" dirty="0"/>
          </a:p>
        </p:txBody>
      </p:sp>
      <p:sp>
        <p:nvSpPr>
          <p:cNvPr id="21" name="Text 19"/>
          <p:cNvSpPr/>
          <p:nvPr/>
        </p:nvSpPr>
        <p:spPr>
          <a:xfrm>
            <a:off x="7673280" y="2654498"/>
            <a:ext cx="1014814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GLOSSARY · PHASE 2 · 11 VARIABLES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7673280" y="3019723"/>
            <a:ext cx="1500039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23" name="Text 21"/>
          <p:cNvSpPr/>
          <p:nvPr/>
        </p:nvSpPr>
        <p:spPr>
          <a:xfrm>
            <a:off x="7730430" y="3038773"/>
            <a:ext cx="14619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Fwd.Packet.Length.Min</a:t>
            </a:r>
            <a:endParaRPr lang="en-US" sz="945" dirty="0"/>
          </a:p>
        </p:txBody>
      </p:sp>
      <p:sp>
        <p:nvSpPr>
          <p:cNvPr id="24" name="Text 22"/>
          <p:cNvSpPr/>
          <p:nvPr/>
        </p:nvSpPr>
        <p:spPr>
          <a:xfrm>
            <a:off x="9549705" y="3014960"/>
            <a:ext cx="30039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Smallest forward packet.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2732841" y="2948285"/>
            <a:ext cx="479301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26" name="Shape 24"/>
          <p:cNvSpPr/>
          <p:nvPr/>
        </p:nvSpPr>
        <p:spPr>
          <a:xfrm>
            <a:off x="12732841" y="3024485"/>
            <a:ext cx="1170087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27" name="Text 25"/>
          <p:cNvSpPr/>
          <p:nvPr/>
        </p:nvSpPr>
        <p:spPr>
          <a:xfrm>
            <a:off x="12789991" y="3043535"/>
            <a:ext cx="113198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</a:t>
            </a:r>
            <a:endParaRPr lang="en-US" sz="945" dirty="0"/>
          </a:p>
        </p:txBody>
      </p:sp>
      <p:sp>
        <p:nvSpPr>
          <p:cNvPr id="28" name="Text 26"/>
          <p:cNvSpPr/>
          <p:nvPr/>
        </p:nvSpPr>
        <p:spPr>
          <a:xfrm>
            <a:off x="14418766" y="3024485"/>
            <a:ext cx="3200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traffic is going.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673280" y="3291185"/>
            <a:ext cx="4792861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30" name="Shape 28"/>
          <p:cNvSpPr/>
          <p:nvPr/>
        </p:nvSpPr>
        <p:spPr>
          <a:xfrm>
            <a:off x="7673280" y="3367385"/>
            <a:ext cx="1434108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31" name="Text 29"/>
          <p:cNvSpPr/>
          <p:nvPr/>
        </p:nvSpPr>
        <p:spPr>
          <a:xfrm>
            <a:off x="7730430" y="3386435"/>
            <a:ext cx="13960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Avg.Fwd.Segment.Size</a:t>
            </a:r>
            <a:endParaRPr lang="en-US" sz="945" dirty="0"/>
          </a:p>
        </p:txBody>
      </p:sp>
      <p:sp>
        <p:nvSpPr>
          <p:cNvPr id="32" name="Text 30"/>
          <p:cNvSpPr/>
          <p:nvPr/>
        </p:nvSpPr>
        <p:spPr>
          <a:xfrm>
            <a:off x="9549705" y="3367385"/>
            <a:ext cx="3003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forward segment size.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12732841" y="3291185"/>
            <a:ext cx="479301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34" name="Shape 32"/>
          <p:cNvSpPr/>
          <p:nvPr/>
        </p:nvSpPr>
        <p:spPr>
          <a:xfrm>
            <a:off x="12732841" y="3367385"/>
            <a:ext cx="642193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35" name="Text 33"/>
          <p:cNvSpPr/>
          <p:nvPr/>
        </p:nvSpPr>
        <p:spPr>
          <a:xfrm>
            <a:off x="12789991" y="3386435"/>
            <a:ext cx="6040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Idle.Min</a:t>
            </a:r>
            <a:endParaRPr lang="en-US" sz="945" dirty="0"/>
          </a:p>
        </p:txBody>
      </p:sp>
      <p:sp>
        <p:nvSpPr>
          <p:cNvPr id="36" name="Text 34"/>
          <p:cNvSpPr/>
          <p:nvPr/>
        </p:nvSpPr>
        <p:spPr>
          <a:xfrm>
            <a:off x="14418766" y="3367385"/>
            <a:ext cx="3200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idle period.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7673280" y="3634085"/>
            <a:ext cx="4792861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38" name="Shape 36"/>
          <p:cNvSpPr/>
          <p:nvPr/>
        </p:nvSpPr>
        <p:spPr>
          <a:xfrm>
            <a:off x="7673280" y="3710285"/>
            <a:ext cx="1038225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39" name="Text 37"/>
          <p:cNvSpPr/>
          <p:nvPr/>
        </p:nvSpPr>
        <p:spPr>
          <a:xfrm>
            <a:off x="7730430" y="3729335"/>
            <a:ext cx="1000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URG.Flag.Count</a:t>
            </a:r>
            <a:endParaRPr lang="en-US" sz="945" dirty="0"/>
          </a:p>
        </p:txBody>
      </p:sp>
      <p:sp>
        <p:nvSpPr>
          <p:cNvPr id="40" name="Text 38"/>
          <p:cNvSpPr/>
          <p:nvPr/>
        </p:nvSpPr>
        <p:spPr>
          <a:xfrm>
            <a:off x="9549705" y="3710285"/>
            <a:ext cx="3003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Packets with TCP URG flag set.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12732841" y="3634085"/>
            <a:ext cx="479301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42" name="Shape 40"/>
          <p:cNvSpPr/>
          <p:nvPr/>
        </p:nvSpPr>
        <p:spPr>
          <a:xfrm>
            <a:off x="12732841" y="3710285"/>
            <a:ext cx="1434108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43" name="Text 41"/>
          <p:cNvSpPr/>
          <p:nvPr/>
        </p:nvSpPr>
        <p:spPr>
          <a:xfrm>
            <a:off x="12789991" y="3729335"/>
            <a:ext cx="13960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endParaRPr lang="en-US" sz="945" dirty="0"/>
          </a:p>
        </p:txBody>
      </p:sp>
      <p:sp>
        <p:nvSpPr>
          <p:cNvPr id="44" name="Text 42"/>
          <p:cNvSpPr/>
          <p:nvPr/>
        </p:nvSpPr>
        <p:spPr>
          <a:xfrm>
            <a:off x="14418766" y="3710285"/>
            <a:ext cx="3200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backward segment size.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7673280" y="3976985"/>
            <a:ext cx="4792861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46" name="Shape 44"/>
          <p:cNvSpPr/>
          <p:nvPr/>
        </p:nvSpPr>
        <p:spPr>
          <a:xfrm>
            <a:off x="7673280" y="4053185"/>
            <a:ext cx="774204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47" name="Text 45"/>
          <p:cNvSpPr/>
          <p:nvPr/>
        </p:nvSpPr>
        <p:spPr>
          <a:xfrm>
            <a:off x="7730430" y="4072235"/>
            <a:ext cx="7361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</a:t>
            </a:r>
            <a:endParaRPr lang="en-US" sz="945" dirty="0"/>
          </a:p>
        </p:txBody>
      </p:sp>
      <p:sp>
        <p:nvSpPr>
          <p:cNvPr id="48" name="Text 46"/>
          <p:cNvSpPr/>
          <p:nvPr/>
        </p:nvSpPr>
        <p:spPr>
          <a:xfrm>
            <a:off x="9549705" y="4053185"/>
            <a:ext cx="3003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Std-dev of active periods.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12732841" y="3976985"/>
            <a:ext cx="479301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50" name="Shape 48"/>
          <p:cNvSpPr/>
          <p:nvPr/>
        </p:nvSpPr>
        <p:spPr>
          <a:xfrm>
            <a:off x="12732841" y="4053185"/>
            <a:ext cx="972145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51" name="Text 49"/>
          <p:cNvSpPr/>
          <p:nvPr/>
        </p:nvSpPr>
        <p:spPr>
          <a:xfrm>
            <a:off x="12789991" y="4072235"/>
            <a:ext cx="9340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Bwd.IAT.Total</a:t>
            </a:r>
            <a:endParaRPr lang="en-US" sz="945" dirty="0"/>
          </a:p>
        </p:txBody>
      </p:sp>
      <p:sp>
        <p:nvSpPr>
          <p:cNvPr id="52" name="Text 50"/>
          <p:cNvSpPr/>
          <p:nvPr/>
        </p:nvSpPr>
        <p:spPr>
          <a:xfrm>
            <a:off x="14418766" y="4053185"/>
            <a:ext cx="3200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inter-arrival time of bwd packets.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7673280" y="4319885"/>
            <a:ext cx="4792861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54" name="Shape 52"/>
          <p:cNvSpPr/>
          <p:nvPr/>
        </p:nvSpPr>
        <p:spPr>
          <a:xfrm>
            <a:off x="7673280" y="4396085"/>
            <a:ext cx="972145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55" name="Text 53"/>
          <p:cNvSpPr/>
          <p:nvPr/>
        </p:nvSpPr>
        <p:spPr>
          <a:xfrm>
            <a:off x="7730430" y="4415135"/>
            <a:ext cx="9340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Down.Up.Ratio</a:t>
            </a:r>
            <a:endParaRPr lang="en-US" sz="945" dirty="0"/>
          </a:p>
        </p:txBody>
      </p:sp>
      <p:sp>
        <p:nvSpPr>
          <p:cNvPr id="56" name="Text 54"/>
          <p:cNvSpPr/>
          <p:nvPr/>
        </p:nvSpPr>
        <p:spPr>
          <a:xfrm>
            <a:off x="9549705" y="4396085"/>
            <a:ext cx="3003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/ upload ratio.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12732841" y="4319885"/>
            <a:ext cx="4793010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58" name="Shape 56"/>
          <p:cNvSpPr/>
          <p:nvPr/>
        </p:nvSpPr>
        <p:spPr>
          <a:xfrm>
            <a:off x="12732841" y="4396085"/>
            <a:ext cx="1632049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59" name="Text 57"/>
          <p:cNvSpPr/>
          <p:nvPr/>
        </p:nvSpPr>
        <p:spPr>
          <a:xfrm>
            <a:off x="12789991" y="4415135"/>
            <a:ext cx="15939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Init_Win_bytes_backward</a:t>
            </a:r>
            <a:endParaRPr lang="en-US" sz="945" dirty="0"/>
          </a:p>
        </p:txBody>
      </p:sp>
      <p:sp>
        <p:nvSpPr>
          <p:cNvPr id="60" name="Text 58"/>
          <p:cNvSpPr/>
          <p:nvPr/>
        </p:nvSpPr>
        <p:spPr>
          <a:xfrm>
            <a:off x="14418766" y="4396085"/>
            <a:ext cx="32002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TCP receive window from server.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7673280" y="4662785"/>
            <a:ext cx="4792861" cy="9525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62" name="Shape 60"/>
          <p:cNvSpPr/>
          <p:nvPr/>
        </p:nvSpPr>
        <p:spPr>
          <a:xfrm>
            <a:off x="7673280" y="4738985"/>
            <a:ext cx="1038225" cy="200025"/>
          </a:xfrm>
          <a:prstGeom prst="roundRect">
            <a:avLst>
              <a:gd name="adj" fmla="val 14286"/>
            </a:avLst>
          </a:prstGeom>
          <a:solidFill>
            <a:srgbClr val="EAE0C7"/>
          </a:solidFill>
          <a:ln/>
        </p:spPr>
      </p:sp>
      <p:sp>
        <p:nvSpPr>
          <p:cNvPr id="63" name="Text 61"/>
          <p:cNvSpPr/>
          <p:nvPr/>
        </p:nvSpPr>
        <p:spPr>
          <a:xfrm>
            <a:off x="7730430" y="4758035"/>
            <a:ext cx="1000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PSH.Flag.Count</a:t>
            </a:r>
            <a:endParaRPr lang="en-US" sz="945" dirty="0"/>
          </a:p>
        </p:txBody>
      </p:sp>
      <p:sp>
        <p:nvSpPr>
          <p:cNvPr id="64" name="Text 62"/>
          <p:cNvSpPr/>
          <p:nvPr/>
        </p:nvSpPr>
        <p:spPr>
          <a:xfrm>
            <a:off x="9549705" y="4738985"/>
            <a:ext cx="3003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Packets with TCP PSH flag set.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66" name="Text 64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17914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spc="-62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catches attacks at </a:t>
            </a:r>
            <a:pPr algn="l" indent="0" marL="0">
              <a:lnSpc>
                <a:spcPct val="104000"/>
              </a:lnSpc>
              <a:buNone/>
            </a:pPr>
            <a:r>
              <a:rPr lang="en-US" sz="3450" i="1" spc="-62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</a:t>
            </a:r>
            <a:pPr algn="l" indent="0" marL="0">
              <a:lnSpc>
                <a:spcPct val="104000"/>
              </a:lnSpc>
              <a:buNone/>
            </a:pPr>
            <a:r>
              <a:rPr lang="en-US" sz="3450" spc="-62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762000" y="1703338"/>
            <a:ext cx="2727275" cy="345728"/>
          </a:xfrm>
          <a:prstGeom prst="roundRect">
            <a:avLst>
              <a:gd name="adj" fmla="val 50000"/>
            </a:avLst>
          </a:prstGeom>
          <a:solidFill>
            <a:srgbClr val="FBF7EC"/>
          </a:solidFill>
          <a:ln w="9525">
            <a:solidFill>
              <a:srgbClr val="B5D7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4875" y="1779538"/>
            <a:ext cx="252334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47" kern="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· 600 ROWS (30%)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84525" y="1703338"/>
            <a:ext cx="2465487" cy="345728"/>
          </a:xfrm>
          <a:prstGeom prst="roundRect">
            <a:avLst>
              <a:gd name="adj" fmla="val 50000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7400" y="1779538"/>
            <a:ext cx="2255937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47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1,397 ROWS (70%)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5262" y="1703338"/>
            <a:ext cx="1740694" cy="345728"/>
          </a:xfrm>
          <a:prstGeom prst="roundRect">
            <a:avLst>
              <a:gd name="adj" fmla="val 50000"/>
            </a:avLst>
          </a:prstGeom>
          <a:solidFill>
            <a:srgbClr val="FBF7EC"/>
          </a:solidFill>
          <a:ln w="9525">
            <a:solidFill>
              <a:srgbClr val="D4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8137" y="1779538"/>
            <a:ext cx="153114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47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1,997 ROWS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2125266"/>
            <a:ext cx="1726692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Likelihood-Ratio Test · χ² = 878.25 · p = 2.94e-181 — overall model is overwhelmingly significant.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762000" y="2503884"/>
            <a:ext cx="6614071" cy="1525191"/>
          </a:xfrm>
          <a:prstGeom prst="roundRect">
            <a:avLst>
              <a:gd name="adj" fmla="val 2498"/>
            </a:avLst>
          </a:prstGeom>
          <a:solidFill>
            <a:srgbClr val="FBF7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019550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2503884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2503884"/>
            <a:ext cx="28575" cy="152519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6546" y="2503884"/>
            <a:ext cx="9525" cy="152519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8" name="Text 16"/>
          <p:cNvSpPr/>
          <p:nvPr/>
        </p:nvSpPr>
        <p:spPr>
          <a:xfrm>
            <a:off x="1019175" y="2722959"/>
            <a:ext cx="6302334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6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019175" y="2950964"/>
            <a:ext cx="6302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90.3%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19175" y="3636764"/>
            <a:ext cx="630233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Youden's-optimal cutoff — overall correct call rate on the held-out set.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762000" y="4162425"/>
            <a:ext cx="6614071" cy="1525191"/>
          </a:xfrm>
          <a:prstGeom prst="roundRect">
            <a:avLst>
              <a:gd name="adj" fmla="val 2498"/>
            </a:avLst>
          </a:prstGeom>
          <a:solidFill>
            <a:srgbClr val="FBF7EC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678091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162425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4162425"/>
            <a:ext cx="28575" cy="1525191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546" y="4162425"/>
            <a:ext cx="9525" cy="152519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175" y="4381500"/>
            <a:ext cx="6302334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6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19175" y="4609505"/>
            <a:ext cx="6302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95.3%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019175" y="5295305"/>
            <a:ext cx="630233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Youden's-optimal cutoff — of all true attacks, the model catches this many.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762000" y="5820966"/>
            <a:ext cx="6614071" cy="1525191"/>
          </a:xfrm>
          <a:prstGeom prst="roundRect">
            <a:avLst>
              <a:gd name="adj" fmla="val 2498"/>
            </a:avLst>
          </a:prstGeom>
          <a:solidFill>
            <a:srgbClr val="FBF7EC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7336631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5820966"/>
            <a:ext cx="6614071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5820966"/>
            <a:ext cx="28575" cy="152519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7366546" y="5820966"/>
            <a:ext cx="9525" cy="1525191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4" name="Text 32"/>
          <p:cNvSpPr/>
          <p:nvPr/>
        </p:nvSpPr>
        <p:spPr>
          <a:xfrm>
            <a:off x="1019175" y="6040041"/>
            <a:ext cx="6302334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65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019175" y="6268045"/>
            <a:ext cx="63023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96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89.0%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1019175" y="6953845"/>
            <a:ext cx="630233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tuning threshold via Youden's Index — correct clearance rate for benign traffic.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7604671" y="2503884"/>
            <a:ext cx="1021896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· TEST SET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7604671" y="2731889"/>
            <a:ext cx="9921329" cy="495300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9525">
            <a:solidFill>
              <a:srgbClr val="D7CDB4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7963" y="2922389"/>
            <a:ext cx="8674745" cy="4571851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604671" y="7799189"/>
            <a:ext cx="1246287" cy="345728"/>
          </a:xfrm>
          <a:prstGeom prst="roundRect">
            <a:avLst>
              <a:gd name="adj" fmla="val 50000"/>
            </a:avLst>
          </a:prstGeom>
          <a:solidFill>
            <a:srgbClr val="FBF7EC"/>
          </a:solidFill>
          <a:ln w="9525">
            <a:solidFill>
              <a:srgbClr val="D4B56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47546" y="7875389"/>
            <a:ext cx="1036737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147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0.9625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557891" y="7865864"/>
            <a:ext cx="820715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guessing model tracks the dashed diagonal — ours hugs the top-left corner. At default 0.5 cutoff: acc 91.2%, sens 78.9%, spec 94.5%.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44" name="Text 41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9492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49326" y="609600"/>
            <a:ext cx="34539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COEFFICIENT 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spc="-62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ct val="104000"/>
              </a:lnSpc>
              <a:buNone/>
            </a:pPr>
            <a:r>
              <a:rPr lang="en-US" sz="3450" i="1" spc="-62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</a:t>
            </a:r>
            <a:pPr algn="l" indent="0" marL="0">
              <a:lnSpc>
                <a:spcPct val="104000"/>
              </a:lnSpc>
              <a:buNone/>
            </a:pPr>
            <a:r>
              <a:rPr lang="en-US" sz="3450" spc="-62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an attack.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741438"/>
            <a:ext cx="981075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summary on the left, percent-change-in-odds per 1-SD increase on the right. The signs split cleanly in two directions.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133749"/>
            <a:ext cx="851573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 OUTPUT · SUMMARY(FINAL_MODEL)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762000" y="2361754"/>
            <a:ext cx="8267700" cy="5583287"/>
          </a:xfrm>
          <a:prstGeom prst="roundRect">
            <a:avLst>
              <a:gd name="adj" fmla="val 1024"/>
            </a:avLst>
          </a:prstGeom>
          <a:solidFill>
            <a:srgbClr val="15181F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" y="2533204"/>
            <a:ext cx="8096631" cy="5278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summary(final_model)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glm(formula = Attack_Flag ~ Fwd.Packet.Length.Min + Avg.Fwd.Segment.Size +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URG.Flag.Count + Active.Std + Down.Up.Ratio + Destination.Port +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Idle.Min + Avg.Bwd.Segment.Size + Bwd.IAT.Total + Init_Win_bytes_backward +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PSH.Flag.Count, family = binomial, data = train,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 = glm.control(maxit = 100))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Estimate Std. Error z value Pr(&gt;|z|)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        6.347e-02  2.066e-01   0.307 0.758635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Fwd.Packet.Length.Min   -1.291e-01  2.434e-02  -5.303 1.14e-07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Avg.Fwd.Segment.Size    -8.241e-02  1.127e-02  -7.315 2.57e-13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URG.Flag.Count          -8.178e+00  1.820e+00  -4.493 7.04e-06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Active.Std              -6.012e-01  1.005e+01  -0.060 0.952305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Down.Up.Ratio            1.520e+00  3.124e-01   4.866 1.14e-06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Destination.Port        -3.827e-05  8.449e-06  -4.529 5.92e-06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Idle.Min                 7.587e-08  1.455e-08   5.213 1.86e-07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     1.086e-03  2.818e-04   3.852 0.000117 ***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Bwd.IAT.Total           -2.480e-08  1.328e-08  -1.867 0.061856 .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Init_Win_bytes_backward -6.841e-05  2.587e-05  -2.644 0.008188 **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PSH.Flag.Count          -1.503e-02  3.333e-01  -0.045 0.964032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Signif. codes:  0 '***' 0.001 '**' 0.01 '*' 0.05 '.' 0.1 ' ' 1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(Dispersion parameter for binomial family taken to be 1)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 deviance: 1336.70  on 1396  degrees of freedom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deviance:  458.46  on 1385  degrees of freedom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AIC: 482.46</a:t>
            </a: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endParaRPr lang="en-US" sz="863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E8D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Fisher Scoring iterations: 34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9258300" y="2133749"/>
            <a:ext cx="851573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SIGNALS · INCREASE THE ODDS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9258300" y="2361754"/>
            <a:ext cx="8267700" cy="897582"/>
          </a:xfrm>
          <a:prstGeom prst="roundRect">
            <a:avLst>
              <a:gd name="adj" fmla="val 424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58325" y="2618929"/>
            <a:ext cx="691443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Idle.Min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228516" y="2523679"/>
            <a:ext cx="10974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+319.3%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458325" y="2945606"/>
            <a:ext cx="810367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spc="33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1-SD increase · 95% CI [+178.4%, +562.8%] · p &lt; 0.001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9258300" y="3354586"/>
            <a:ext cx="8267700" cy="897582"/>
          </a:xfrm>
          <a:prstGeom prst="roundRect">
            <a:avLst>
              <a:gd name="adj" fmla="val 4245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58325" y="3611761"/>
            <a:ext cx="690738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Down.Up.Ratio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221670" y="3516511"/>
            <a:ext cx="1104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+187.8%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58325" y="3938439"/>
            <a:ext cx="810367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spc="33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1-SD increase · 95% CI [+96.2%, +325.7%] · p &lt; 0.001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258300" y="4347418"/>
            <a:ext cx="8515731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Attacks often feature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prolonged idle states </a:t>
            </a:r>
            <a:pPr algn="l" indent="0" marL="0">
              <a:lnSpc>
                <a:spcPct val="145000"/>
              </a:lnSpc>
              <a:buNone/>
            </a:pPr>
            <a:r>
              <a:rPr lang="en-US" sz="101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asymmetric upload/download </a:t>
            </a:r>
            <a:pPr algn="l" indent="0" marL="0">
              <a:lnSpc>
                <a:spcPct val="145000"/>
              </a:lnSpc>
              <a:buNone/>
            </a:pPr>
            <a:r>
              <a:rPr lang="en-US" sz="101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fingerprint of automated, one-way traffic.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9258300" y="4705201"/>
            <a:ext cx="851573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SIGNALS · SEPARATION-FLAGGED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9258300" y="4933206"/>
            <a:ext cx="8267700" cy="897582"/>
          </a:xfrm>
          <a:prstGeom prst="roundRect">
            <a:avLst>
              <a:gd name="adj" fmla="val 4245"/>
            </a:avLst>
          </a:prstGeom>
          <a:solidFill>
            <a:srgbClr val="FBF7EC">
              <a:alpha val="92000"/>
            </a:srgbClr>
          </a:solidFill>
          <a:ln w="9525">
            <a:solidFill>
              <a:srgbClr val="D7CDB4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58325" y="5190381"/>
            <a:ext cx="710988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Fwd.Packet.Length.Min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418272" y="5095131"/>
            <a:ext cx="9077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−100%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458325" y="5517059"/>
            <a:ext cx="810367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spc="33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· separation-flagged (see Slide 12)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9258300" y="5926038"/>
            <a:ext cx="8267700" cy="897582"/>
          </a:xfrm>
          <a:prstGeom prst="roundRect">
            <a:avLst>
              <a:gd name="adj" fmla="val 4245"/>
            </a:avLst>
          </a:prstGeom>
          <a:solidFill>
            <a:srgbClr val="FBF7EC">
              <a:alpha val="92000"/>
            </a:srgbClr>
          </a:solidFill>
          <a:ln w="9525">
            <a:solidFill>
              <a:srgbClr val="D7CDB4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8325" y="6183213"/>
            <a:ext cx="710988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Avg.Fwd.Segment.Size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418272" y="6087963"/>
            <a:ext cx="9077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−100%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58325" y="6509891"/>
            <a:ext cx="810367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spc="33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· separation-flagged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258300" y="6918871"/>
            <a:ext cx="8515731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Odds ratios saturate at −100% because attacks rarely show normal forward packet sizes. Treat as a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</a:t>
            </a:r>
            <a:pPr algn="l" indent="0" marL="0">
              <a:lnSpc>
                <a:spcPct val="145000"/>
              </a:lnSpc>
              <a:buNone/>
            </a:pPr>
            <a:r>
              <a:rPr lang="en-US" sz="1013" i="1" dirty="0">
                <a:solidFill>
                  <a:srgbClr val="5A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only.</a:t>
            </a:r>
            <a:endParaRPr lang="en-US" sz="1013" dirty="0"/>
          </a:p>
        </p:txBody>
      </p:sp>
      <p:sp>
        <p:nvSpPr>
          <p:cNvPr id="30" name="Shape 28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336589" y="9723239"/>
            <a:ext cx="226561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8345" y="609600"/>
            <a:ext cx="843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15515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51633" y="609600"/>
            <a:ext cx="47703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24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DEFINE NORMAL, ISOLATE THE ABNORMAL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152525"/>
            <a:ext cx="1726692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7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73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7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isolate the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73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abnormal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73" kern="0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762000" y="1916013"/>
            <a:ext cx="8248650" cy="2533799"/>
          </a:xfrm>
          <a:prstGeom prst="roundRect">
            <a:avLst>
              <a:gd name="adj" fmla="val 1504"/>
            </a:avLst>
          </a:prstGeom>
          <a:solidFill>
            <a:srgbClr val="FBF7EC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4440287"/>
            <a:ext cx="824865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916013"/>
            <a:ext cx="8248650" cy="2857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916013"/>
            <a:ext cx="9525" cy="2533799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0" name="Shape 8"/>
          <p:cNvSpPr/>
          <p:nvPr/>
        </p:nvSpPr>
        <p:spPr>
          <a:xfrm>
            <a:off x="9001125" y="1916013"/>
            <a:ext cx="9525" cy="2533799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1" name="Shape 9"/>
          <p:cNvSpPr/>
          <p:nvPr/>
        </p:nvSpPr>
        <p:spPr>
          <a:xfrm>
            <a:off x="942975" y="1830288"/>
            <a:ext cx="1745307" cy="165646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175" y="1830288"/>
            <a:ext cx="166910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THE BASELINE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8225" y="2230338"/>
            <a:ext cx="79270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Linear 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8225" y="2866579"/>
            <a:ext cx="1028700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124075" y="2809429"/>
            <a:ext cx="6808661" cy="48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traffic volume is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reasonably predictable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</a:t>
            </a:r>
            <a:pPr algn="l" indent="0" marL="0">
              <a:lnSpc>
                <a:spcPct val="145000"/>
              </a:lnSpc>
              <a:buNone/>
            </a:pPr>
            <a:r>
              <a:rPr lang="en-US" sz="1104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0.69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1104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RSE ≈ 1.53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log scale — driven primarily by base segment sizes ( </a:t>
            </a:r>
            <a:pPr algn="l" indent="0" marL="0">
              <a:lnSpc>
                <a:spcPct val="145000"/>
              </a:lnSpc>
              <a:buNone/>
            </a:pPr>
            <a:r>
              <a:rPr lang="en-US" sz="1104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Avg.Bwd.Segment.Size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active data packets.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8225" y="3349079"/>
            <a:ext cx="76962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17" name="Text 15"/>
          <p:cNvSpPr/>
          <p:nvPr/>
        </p:nvSpPr>
        <p:spPr>
          <a:xfrm>
            <a:off x="1038225" y="3511004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TRAIT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124075" y="3453854"/>
            <a:ext cx="6808661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inherently </a:t>
            </a:r>
            <a:pPr algn="l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heavy-tailed and heteroscedastic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 log transform was required before any baseline inference could be trusted.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77350" y="1916013"/>
            <a:ext cx="8248650" cy="2533799"/>
          </a:xfrm>
          <a:prstGeom prst="roundRect">
            <a:avLst>
              <a:gd name="adj" fmla="val 1504"/>
            </a:avLst>
          </a:prstGeom>
          <a:solidFill>
            <a:srgbClr val="FBF7E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7350" y="4440287"/>
            <a:ext cx="824865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1" name="Shape 19"/>
          <p:cNvSpPr/>
          <p:nvPr/>
        </p:nvSpPr>
        <p:spPr>
          <a:xfrm>
            <a:off x="9277350" y="1916013"/>
            <a:ext cx="8248650" cy="28575"/>
          </a:xfrm>
          <a:prstGeom prst="rect">
            <a:avLst/>
          </a:prstGeom>
          <a:solidFill>
            <a:srgbClr val="B33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77350" y="1916013"/>
            <a:ext cx="9525" cy="2533799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7516475" y="1916013"/>
            <a:ext cx="9525" cy="2533799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24" name="Shape 22"/>
          <p:cNvSpPr/>
          <p:nvPr/>
        </p:nvSpPr>
        <p:spPr>
          <a:xfrm>
            <a:off x="9458325" y="1830288"/>
            <a:ext cx="1761530" cy="165646"/>
          </a:xfrm>
          <a:prstGeom prst="rect">
            <a:avLst/>
          </a:prstGeom>
          <a:solidFill>
            <a:srgbClr val="F4EEDF"/>
          </a:solidFill>
          <a:ln/>
        </p:spPr>
      </p:sp>
      <p:sp>
        <p:nvSpPr>
          <p:cNvPr id="25" name="Text 23"/>
          <p:cNvSpPr/>
          <p:nvPr/>
        </p:nvSpPr>
        <p:spPr>
          <a:xfrm>
            <a:off x="9534525" y="1830288"/>
            <a:ext cx="168533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62" kern="0" dirty="0">
                <a:solidFill>
                  <a:srgbClr val="B3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THE ANOMALY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53575" y="2230338"/>
            <a:ext cx="79270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i="1" dirty="0">
                <a:solidFill>
                  <a:srgbClr val="B3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2866579"/>
            <a:ext cx="1028700" cy="341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0639425" y="2809429"/>
            <a:ext cx="6808661" cy="70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Malicious traffic deviates sharply from the baseline. It operates disproportionately on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Registered Ports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(44.4% attack rate) and shows anomalous timing (</a:t>
            </a:r>
            <a:pPr algn="l" indent="0" marL="0">
              <a:lnSpc>
                <a:spcPct val="145000"/>
              </a:lnSpc>
              <a:buNone/>
            </a:pPr>
            <a:r>
              <a:rPr lang="en-US" sz="1104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Idle.Min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asymmetric flow ( </a:t>
            </a:r>
            <a:pPr algn="l" indent="0" marL="0">
              <a:lnSpc>
                <a:spcPct val="145000"/>
              </a:lnSpc>
              <a:buNone/>
            </a:pPr>
            <a:r>
              <a:rPr lang="en-US" sz="1104" dirty="0">
                <a:solidFill>
                  <a:srgbClr val="2C3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Down.Up.Ratio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53575" y="3569940"/>
            <a:ext cx="76962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0" name="Text 28"/>
          <p:cNvSpPr/>
          <p:nvPr/>
        </p:nvSpPr>
        <p:spPr>
          <a:xfrm>
            <a:off x="9553575" y="3731865"/>
            <a:ext cx="10287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32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TRAIT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0639425" y="3674715"/>
            <a:ext cx="6808661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deviations let a first-order logistic model isolate attacks with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95.3% sensitivity at the Youden's-optimal cutoff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3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(accuracy 90.3%, AUC = 0.9625).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2000" y="4678412"/>
            <a:ext cx="16764000" cy="1085850"/>
          </a:xfrm>
          <a:prstGeom prst="roundRect">
            <a:avLst>
              <a:gd name="adj" fmla="val 3509"/>
            </a:avLst>
          </a:prstGeom>
          <a:solidFill>
            <a:srgbClr val="FBF7EC"/>
          </a:solidFill>
          <a:ln w="9525">
            <a:solidFill>
              <a:srgbClr val="D7CD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8225" y="4927997"/>
            <a:ext cx="151211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mathematically defining the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of benign flow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anomalous network intrusions become statistically glaring — enabling highly sensitive automated detection.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5947529" y="4859387"/>
            <a:ext cx="109805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95.3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16893183" y="5030837"/>
            <a:ext cx="35659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5871329" y="5449937"/>
            <a:ext cx="137844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spc="150" kern="0" dirty="0">
                <a:solidFill>
                  <a:srgbClr val="5A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SENSITIVITY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2000" y="9580364"/>
            <a:ext cx="16764000" cy="9525"/>
          </a:xfrm>
          <a:prstGeom prst="rect">
            <a:avLst/>
          </a:prstGeom>
          <a:solidFill>
            <a:srgbClr val="D7CDB4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9723239"/>
            <a:ext cx="50162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CICIDS 2017 INTRUSION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851261" y="9723239"/>
            <a:ext cx="275498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spc="216" kern="0" dirty="0">
                <a:solidFill>
                  <a:srgbClr val="8A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II · MAY 2026 · FIN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2026-05-21T05:57:05Z</dcterms:created>
  <dcterms:modified xsi:type="dcterms:W3CDTF">2026-05-21T05:57:05Z</dcterms:modified>
</cp:coreProperties>
</file>