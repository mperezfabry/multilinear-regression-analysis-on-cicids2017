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EDF"/>
    <a:srgbClr val="FBF7EC"/>
    <a:srgbClr val="151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45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BB6A3-4A40-1F6C-0E7E-5DB67D95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A65CE-4E34-9AE8-CC2F-6821F60D6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B973C-21A2-5893-6BD9-AB119FDDD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E68EE-3C0E-076A-0A7D-A96C4DD5F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02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47750"/>
            <a:ext cx="812314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b="1" kern="0" spc="203" dirty="0">
                <a:solidFill>
                  <a:srgbClr val="B58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1125" b="1" kern="0" spc="203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· STATISTICS II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047750" y="1559719"/>
            <a:ext cx="8123148" cy="4745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9300" kern="0" spc="-26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Analysis of </a:t>
            </a:r>
            <a:r>
              <a:rPr lang="en-US" sz="9300" i="1" kern="0" spc="-26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CICIDS 2017 </a:t>
            </a:r>
            <a:r>
              <a:rPr lang="en-US" sz="9300" kern="0" spc="-26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Intrusion </a:t>
            </a:r>
            <a:r>
              <a:rPr lang="en-US" sz="9300" i="1" kern="0" spc="-260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9300" dirty="0"/>
          </a:p>
        </p:txBody>
      </p:sp>
      <p:sp>
        <p:nvSpPr>
          <p:cNvPr id="4" name="Shape 2"/>
          <p:cNvSpPr/>
          <p:nvPr/>
        </p:nvSpPr>
        <p:spPr>
          <a:xfrm>
            <a:off x="1047750" y="7404348"/>
            <a:ext cx="7886551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7680573"/>
            <a:ext cx="822960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normal traffic and isolating threats via multiple linear &amp; logistic regression.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9004548"/>
            <a:ext cx="812314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b="1" kern="0" spc="23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IDC 5205 · MAY 2026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9601051" y="0"/>
            <a:ext cx="8686800" cy="10287000"/>
          </a:xfrm>
          <a:prstGeom prst="rect">
            <a:avLst/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051" y="0"/>
            <a:ext cx="9525" cy="10287000"/>
          </a:xfrm>
          <a:prstGeom prst="rect">
            <a:avLst/>
          </a:prstGeom>
          <a:solidFill>
            <a:srgbClr val="C1B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-180000">
            <a:off x="11377464" y="2571750"/>
            <a:ext cx="5143500" cy="5143500"/>
          </a:xfrm>
          <a:prstGeom prst="rect">
            <a:avLst/>
          </a:prstGeom>
          <a:solidFill>
            <a:srgbClr val="FBF7EC"/>
          </a:solidFill>
          <a:ln/>
          <a:effectLst>
            <a:outerShdw blurRad="571500" dist="285750" dir="5400000" algn="bl" rotWithShape="0">
              <a:srgbClr val="14253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346498" y="2778257"/>
            <a:ext cx="436705" cy="436706"/>
          </a:xfrm>
          <a:prstGeom prst="roundRect">
            <a:avLst>
              <a:gd name="adj" fmla="val 2181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799504" y="2754508"/>
            <a:ext cx="436854" cy="436713"/>
          </a:xfrm>
          <a:prstGeom prst="roundRect">
            <a:avLst>
              <a:gd name="adj" fmla="val 2181"/>
            </a:avLst>
          </a:prstGeom>
          <a:solidFill>
            <a:srgbClr val="E5B5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252659" y="2730759"/>
            <a:ext cx="436855" cy="436713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705814" y="2707018"/>
            <a:ext cx="436706" cy="436706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158820" y="2683269"/>
            <a:ext cx="436855" cy="436713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611976" y="2659521"/>
            <a:ext cx="436854" cy="436713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065131" y="2635772"/>
            <a:ext cx="436854" cy="436713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4518286" y="2612030"/>
            <a:ext cx="436706" cy="436706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971293" y="2588282"/>
            <a:ext cx="436854" cy="43671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424447" y="2564533"/>
            <a:ext cx="436855" cy="43671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877603" y="2540784"/>
            <a:ext cx="436854" cy="436713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370239" y="3231263"/>
            <a:ext cx="436714" cy="436854"/>
          </a:xfrm>
          <a:prstGeom prst="roundRect">
            <a:avLst>
              <a:gd name="adj" fmla="val 2181"/>
            </a:avLst>
          </a:prstGeom>
          <a:solidFill>
            <a:srgbClr val="E5B5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823246" y="3207514"/>
            <a:ext cx="436862" cy="436862"/>
          </a:xfrm>
          <a:prstGeom prst="roundRect">
            <a:avLst>
              <a:gd name="adj" fmla="val 2180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276399" y="3183766"/>
            <a:ext cx="436863" cy="436862"/>
          </a:xfrm>
          <a:prstGeom prst="roundRect">
            <a:avLst>
              <a:gd name="adj" fmla="val 2180"/>
            </a:avLst>
          </a:prstGeom>
          <a:solidFill>
            <a:srgbClr val="E5B5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729556" y="3160025"/>
            <a:ext cx="436713" cy="43685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182562" y="3136276"/>
            <a:ext cx="436863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635717" y="3112527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4088871" y="3088778"/>
            <a:ext cx="436863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4542026" y="3065037"/>
            <a:ext cx="436714" cy="43685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995034" y="3041288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5448188" y="3017539"/>
            <a:ext cx="436863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5901343" y="2993791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393987" y="3684418"/>
            <a:ext cx="436714" cy="43685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846994" y="3660670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5B5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2300149" y="3636921"/>
            <a:ext cx="436862" cy="436862"/>
          </a:xfrm>
          <a:prstGeom prst="roundRect">
            <a:avLst>
              <a:gd name="adj" fmla="val 2180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2753304" y="3613180"/>
            <a:ext cx="436714" cy="43685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3206310" y="3589431"/>
            <a:ext cx="436863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3659466" y="3565682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112620" y="3541933"/>
            <a:ext cx="436863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4565776" y="3518192"/>
            <a:ext cx="436713" cy="43685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5018782" y="3494443"/>
            <a:ext cx="436863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5471937" y="3470694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5925093" y="3446945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1417737" y="4137574"/>
            <a:ext cx="436705" cy="436706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1870743" y="4113824"/>
            <a:ext cx="436855" cy="43671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2323898" y="4090076"/>
            <a:ext cx="436855" cy="43671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2777053" y="4066335"/>
            <a:ext cx="436706" cy="436706"/>
          </a:xfrm>
          <a:prstGeom prst="roundRect">
            <a:avLst>
              <a:gd name="adj" fmla="val 2181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3230060" y="4042586"/>
            <a:ext cx="436854" cy="436713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3683215" y="4018837"/>
            <a:ext cx="436854" cy="436713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136370" y="3995088"/>
            <a:ext cx="436855" cy="436713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89525" y="3971347"/>
            <a:ext cx="436706" cy="436706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5042531" y="3947598"/>
            <a:ext cx="436855" cy="436713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5495687" y="3923849"/>
            <a:ext cx="436854" cy="436713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5948840" y="3900101"/>
            <a:ext cx="436855" cy="436713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441477" y="4590580"/>
            <a:ext cx="436714" cy="436854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1894483" y="4566831"/>
            <a:ext cx="436863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2347639" y="4543082"/>
            <a:ext cx="436862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2800794" y="4519341"/>
            <a:ext cx="436713" cy="436855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3253800" y="4495592"/>
            <a:ext cx="436862" cy="436862"/>
          </a:xfrm>
          <a:prstGeom prst="roundRect">
            <a:avLst>
              <a:gd name="adj" fmla="val 2180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3706955" y="4471843"/>
            <a:ext cx="436863" cy="436862"/>
          </a:xfrm>
          <a:prstGeom prst="roundRect">
            <a:avLst>
              <a:gd name="adj" fmla="val 2180"/>
            </a:avLst>
          </a:prstGeom>
          <a:solidFill>
            <a:srgbClr val="E5B5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160110" y="4448094"/>
            <a:ext cx="436863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613266" y="4424353"/>
            <a:ext cx="436713" cy="436854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5066272" y="4400605"/>
            <a:ext cx="436863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5519427" y="4376856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5972582" y="4353107"/>
            <a:ext cx="436863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1465226" y="5043735"/>
            <a:ext cx="436714" cy="43685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1918233" y="5019986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2371388" y="4996237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2824543" y="4972496"/>
            <a:ext cx="436714" cy="43685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3277550" y="4948747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5B5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3730704" y="4924999"/>
            <a:ext cx="436863" cy="436862"/>
          </a:xfrm>
          <a:prstGeom prst="roundRect">
            <a:avLst>
              <a:gd name="adj" fmla="val 2180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4183860" y="4901250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5B5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4637015" y="4877509"/>
            <a:ext cx="436714" cy="43685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5090021" y="4853760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5543177" y="4830011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5996331" y="4806262"/>
            <a:ext cx="436863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1488975" y="5496890"/>
            <a:ext cx="436713" cy="43685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1941982" y="5473141"/>
            <a:ext cx="436863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2395136" y="5449392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2848291" y="5425651"/>
            <a:ext cx="436714" cy="436854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3301299" y="5401902"/>
            <a:ext cx="436862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3754453" y="5378154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5B5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4207608" y="5354405"/>
            <a:ext cx="436863" cy="436862"/>
          </a:xfrm>
          <a:prstGeom prst="roundRect">
            <a:avLst>
              <a:gd name="adj" fmla="val 2180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4660763" y="5330664"/>
            <a:ext cx="436713" cy="43685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5113770" y="5306915"/>
            <a:ext cx="436862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5566924" y="5283166"/>
            <a:ext cx="436863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6020080" y="5259417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1512724" y="5950045"/>
            <a:ext cx="436706" cy="436706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1965730" y="5926296"/>
            <a:ext cx="436855" cy="436713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2418886" y="5902547"/>
            <a:ext cx="436854" cy="436713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2872040" y="5878806"/>
            <a:ext cx="436706" cy="436706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3325047" y="5855058"/>
            <a:ext cx="436855" cy="436713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3778202" y="5831309"/>
            <a:ext cx="436855" cy="436713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4231357" y="5807560"/>
            <a:ext cx="436855" cy="436713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4684513" y="5783818"/>
            <a:ext cx="436705" cy="436706"/>
          </a:xfrm>
          <a:prstGeom prst="roundRect">
            <a:avLst>
              <a:gd name="adj" fmla="val 2181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5137518" y="5760070"/>
            <a:ext cx="436855" cy="436713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5590674" y="5736321"/>
            <a:ext cx="436855" cy="43671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6043829" y="5712572"/>
            <a:ext cx="436854" cy="436713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1536466" y="6403052"/>
            <a:ext cx="436713" cy="43685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1989472" y="6379302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2442627" y="6355554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2895781" y="6331813"/>
            <a:ext cx="436714" cy="43685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3348788" y="6308064"/>
            <a:ext cx="436863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3801944" y="6284315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4255098" y="6260566"/>
            <a:ext cx="436862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4708253" y="6236825"/>
            <a:ext cx="436713" cy="436854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5161259" y="6213077"/>
            <a:ext cx="436863" cy="436862"/>
          </a:xfrm>
          <a:prstGeom prst="roundRect">
            <a:avLst>
              <a:gd name="adj" fmla="val 2180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5614414" y="6189327"/>
            <a:ext cx="436863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6067570" y="6165579"/>
            <a:ext cx="436862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1560214" y="6856207"/>
            <a:ext cx="436713" cy="436855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12013220" y="6832458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2466375" y="6808709"/>
            <a:ext cx="436863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2919530" y="6784968"/>
            <a:ext cx="436714" cy="43685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3372537" y="6761219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3825692" y="6737470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4278847" y="6713722"/>
            <a:ext cx="436862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14732002" y="6689980"/>
            <a:ext cx="436714" cy="436855"/>
          </a:xfrm>
          <a:prstGeom prst="roundRect">
            <a:avLst>
              <a:gd name="adj" fmla="val 2181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5185008" y="6666231"/>
            <a:ext cx="436863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15638164" y="6642482"/>
            <a:ext cx="436862" cy="436862"/>
          </a:xfrm>
          <a:prstGeom prst="roundRect">
            <a:avLst>
              <a:gd name="adj" fmla="val 2180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6091319" y="6618734"/>
            <a:ext cx="436862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1583963" y="7309362"/>
            <a:ext cx="436714" cy="436854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2036969" y="7285613"/>
            <a:ext cx="436863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12490124" y="7261864"/>
            <a:ext cx="436863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2943280" y="7238123"/>
            <a:ext cx="436713" cy="436855"/>
          </a:xfrm>
          <a:prstGeom prst="roundRect">
            <a:avLst>
              <a:gd name="adj" fmla="val 2181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13396286" y="7214374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3849441" y="7190625"/>
            <a:ext cx="436862" cy="436862"/>
          </a:xfrm>
          <a:prstGeom prst="roundRect">
            <a:avLst>
              <a:gd name="adj" fmla="val 2180"/>
            </a:avLst>
          </a:prstGeom>
          <a:solidFill>
            <a:srgbClr val="70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4302596" y="7166876"/>
            <a:ext cx="436863" cy="436862"/>
          </a:xfrm>
          <a:prstGeom prst="roundRect">
            <a:avLst>
              <a:gd name="adj" fmla="val 2180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4755750" y="7143136"/>
            <a:ext cx="436714" cy="436854"/>
          </a:xfrm>
          <a:prstGeom prst="roundRect">
            <a:avLst>
              <a:gd name="adj" fmla="val 2181"/>
            </a:avLst>
          </a:prstGeom>
          <a:solidFill>
            <a:srgbClr val="EAE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15208758" y="7119386"/>
            <a:ext cx="436862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15661913" y="7095638"/>
            <a:ext cx="436863" cy="436862"/>
          </a:xfrm>
          <a:prstGeom prst="roundRect">
            <a:avLst>
              <a:gd name="adj" fmla="val 218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6115068" y="7071889"/>
            <a:ext cx="436862" cy="436862"/>
          </a:xfrm>
          <a:prstGeom prst="roundRect">
            <a:avLst>
              <a:gd name="adj" fmla="val 2180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26047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· RESEARCH QUESTIONS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1514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</a:t>
            </a:r>
            <a:r>
              <a:rPr lang="en-US" sz="5700" i="1" kern="0" spc="-103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</a:t>
            </a: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</a:t>
            </a:r>
            <a:r>
              <a:rPr lang="en-US" sz="5700" i="1" kern="0" spc="-103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</a:t>
            </a: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047750" y="2466357"/>
            <a:ext cx="85322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split the question in two: first describe normal network behavior, then learn what makes an attack look different.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607444"/>
            <a:ext cx="4893469" cy="6473876"/>
          </a:xfrm>
          <a:prstGeom prst="roundRect">
            <a:avLst>
              <a:gd name="adj" fmla="val 389"/>
            </a:avLst>
          </a:prstGeom>
          <a:solidFill>
            <a:srgbClr val="EFE7D2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6325" y="3550294"/>
            <a:ext cx="4836319" cy="57150"/>
          </a:xfrm>
          <a:prstGeom prst="roundRect">
            <a:avLst>
              <a:gd name="adj" fmla="val 33333"/>
            </a:avLst>
          </a:prstGeom>
          <a:solidFill>
            <a:srgbClr val="2C313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81125" y="3655911"/>
            <a:ext cx="4353520" cy="373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DATASET TERRAIN</a:t>
            </a:r>
            <a:endParaRPr lang="en-US" sz="1125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81125" y="4086917"/>
            <a:ext cx="4353520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5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CICIDS 2017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381125" y="4744016"/>
            <a:ext cx="4353520" cy="750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81125" y="4997324"/>
            <a:ext cx="3790935" cy="56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Canadian Institute for Cybersecurity.</a:t>
            </a:r>
            <a:endParaRPr lang="en-US" sz="18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81125" y="5854900"/>
            <a:ext cx="4353520" cy="42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SCOPE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81125" y="6308824"/>
            <a:ext cx="3828185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79 columns 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describing packet sizes, timing, TCP flags, and routing.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81125" y="7686378"/>
            <a:ext cx="435352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81125" y="7960221"/>
            <a:ext cx="3965689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~250 rows 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drawn from each raw CSV across 8 days of traffic, cleaned to remove infinities and NAs.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07919" y="3607444"/>
            <a:ext cx="5382816" cy="6473876"/>
          </a:xfrm>
          <a:prstGeom prst="roundRect">
            <a:avLst>
              <a:gd name="adj" fmla="val 354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6494" y="3550294"/>
            <a:ext cx="5325666" cy="57150"/>
          </a:xfrm>
          <a:prstGeom prst="roundRect">
            <a:avLst>
              <a:gd name="adj" fmla="val 33333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41294" y="3682827"/>
            <a:ext cx="4857548" cy="34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b="1" kern="0" spc="203" dirty="0">
                <a:solidFill>
                  <a:srgbClr val="1E3A5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PHASE 1 · MLR</a:t>
            </a:r>
            <a:endParaRPr lang="en-US" sz="1125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41294" y="4067867"/>
            <a:ext cx="4857548" cy="79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5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what's normal.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6541294" y="4757535"/>
            <a:ext cx="485754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41294" y="4994918"/>
            <a:ext cx="19358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Benign traffic only.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41294" y="5850656"/>
            <a:ext cx="4857548" cy="360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41294" y="6250978"/>
            <a:ext cx="4737519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Which network flow features best predict total byte volume 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(Flow.Bytes)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41294" y="7523113"/>
            <a:ext cx="485754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GOAL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41294" y="7796957"/>
            <a:ext cx="4515551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Build a statistical baseline that captures the shape of normal traffic.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1857434" y="3607444"/>
            <a:ext cx="5382816" cy="6473876"/>
          </a:xfrm>
          <a:prstGeom prst="roundRect">
            <a:avLst>
              <a:gd name="adj" fmla="val 354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886009" y="3550294"/>
            <a:ext cx="5325666" cy="57150"/>
          </a:xfrm>
          <a:prstGeom prst="roundRect">
            <a:avLst>
              <a:gd name="adj" fmla="val 33333"/>
            </a:avLst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190809" y="3682827"/>
            <a:ext cx="4857548" cy="34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b="1" kern="0" spc="203" dirty="0">
                <a:solidFill>
                  <a:srgbClr val="B3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LOGISTIC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2190809" y="4067867"/>
            <a:ext cx="4857548" cy="79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50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the culprit.</a:t>
            </a:r>
            <a:endParaRPr lang="en-US" sz="2850" dirty="0"/>
          </a:p>
        </p:txBody>
      </p:sp>
      <p:sp>
        <p:nvSpPr>
          <p:cNvPr id="31" name="Text 29"/>
          <p:cNvSpPr/>
          <p:nvPr/>
        </p:nvSpPr>
        <p:spPr>
          <a:xfrm>
            <a:off x="12190809" y="4779564"/>
            <a:ext cx="4857548" cy="411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190809" y="5083224"/>
            <a:ext cx="31892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All traffic — benign and attack.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190809" y="5821508"/>
            <a:ext cx="485754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190809" y="6148907"/>
            <a:ext cx="4392763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Which features actually </a:t>
            </a: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distinguish 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attack flows from benign ones?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2190809" y="7513588"/>
            <a:ext cx="485754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GOAL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190809" y="7787432"/>
            <a:ext cx="4711306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Identify the risk factors and classify each flow as benign or attack.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3501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· DESCRIPTIVE STATISTICS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723644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traffic is </a:t>
            </a:r>
            <a:r>
              <a:rPr lang="en-US" sz="5700" i="1" kern="0" spc="-103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highly dispersed</a:t>
            </a: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047750" y="2167086"/>
            <a:ext cx="11525250" cy="939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densities of three key flow features.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 how tightly benign traffic clusters versus the scattered, heavy-tailed shape of attacks.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47750" y="3210967"/>
            <a:ext cx="7715250" cy="1923008"/>
          </a:xfrm>
          <a:prstGeom prst="roundRect">
            <a:avLst>
              <a:gd name="adj" fmla="val 991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6825" y="3315742"/>
            <a:ext cx="3291840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2C313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Density of </a:t>
            </a:r>
            <a:r>
              <a:rPr lang="en-US" sz="1600" dirty="0">
                <a:solidFill>
                  <a:srgbClr val="2C313E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Destination.Port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893" y="3391942"/>
            <a:ext cx="8533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05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88473" y="3391942"/>
            <a:ext cx="831652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05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1050" dirty="0"/>
          </a:p>
        </p:txBody>
      </p:sp>
      <p:pic>
        <p:nvPicPr>
          <p:cNvPr id="34" name="Picture 33" descr="density2_Destination_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25" y="3752850"/>
            <a:ext cx="7277100" cy="12382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47750" y="5343525"/>
            <a:ext cx="7715250" cy="1923008"/>
          </a:xfrm>
          <a:prstGeom prst="roundRect">
            <a:avLst>
              <a:gd name="adj" fmla="val 991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66824" y="5524500"/>
            <a:ext cx="4130675" cy="441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2C313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Density of </a:t>
            </a:r>
            <a:r>
              <a:rPr lang="en-US" sz="1600" dirty="0">
                <a:solidFill>
                  <a:srgbClr val="2C313E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Avg.Bwd.Segment.Size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858893" y="5524500"/>
            <a:ext cx="8533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05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88473" y="5524500"/>
            <a:ext cx="831652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05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1050" dirty="0"/>
          </a:p>
        </p:txBody>
      </p:sp>
      <p:pic>
        <p:nvPicPr>
          <p:cNvPr id="35" name="Picture 34" descr="density2_Avg_Bwd_Segment_S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5895231"/>
            <a:ext cx="7277100" cy="12382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476083"/>
            <a:ext cx="7715250" cy="1923008"/>
          </a:xfrm>
          <a:prstGeom prst="roundRect">
            <a:avLst>
              <a:gd name="adj" fmla="val 991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266824" y="7657058"/>
            <a:ext cx="4346575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2C313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Density of </a:t>
            </a:r>
            <a:r>
              <a:rPr lang="en-US" sz="1600" dirty="0">
                <a:solidFill>
                  <a:srgbClr val="2C313E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Packet.Length.Variance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858893" y="7657058"/>
            <a:ext cx="8533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05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788473" y="7657058"/>
            <a:ext cx="831652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05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1050" dirty="0"/>
          </a:p>
        </p:txBody>
      </p:sp>
      <p:pic>
        <p:nvPicPr>
          <p:cNvPr id="36" name="Picture 35" descr="density2_Packet_Length_Vari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825" y="8017966"/>
            <a:ext cx="7277100" cy="123825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525000" y="4398913"/>
            <a:ext cx="28575" cy="1551831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9801225" y="4269879"/>
            <a:ext cx="7662196" cy="41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VISUAL FINDING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9801225" y="4739432"/>
            <a:ext cx="7662196" cy="1097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000" b="1" dirty="0">
                <a:solidFill>
                  <a:srgbClr val="1E3A5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benign curves 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are similar to the </a:t>
            </a:r>
            <a:r>
              <a:rPr lang="en-US" sz="2000" b="1" dirty="0">
                <a:solidFill>
                  <a:srgbClr val="B33A2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attack curves </a:t>
            </a:r>
            <a:r>
              <a:rPr lang="en-US" sz="2000" dirty="0"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except for the left tails.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9510712" y="6274594"/>
            <a:ext cx="28575" cy="1898452"/>
          </a:xfrm>
          <a:prstGeom prst="rect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9801225" y="6159500"/>
            <a:ext cx="7662196" cy="360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9801225" y="6577013"/>
            <a:ext cx="7662196" cy="1638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To break in or flood a server, attackers </a:t>
            </a:r>
            <a:r>
              <a:rPr lang="en-US" sz="2000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must manipulate standard packet sizes and port usage 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. That manipulation leaves an observable statistical footprint — and that footprint is exactly what the next two models are built to read.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33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2974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· CATEGORICAL 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port category </a:t>
            </a:r>
            <a:r>
              <a:rPr lang="en-US" sz="5700" i="1" kern="0" spc="-103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</a:t>
            </a: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where attacks hide.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047750" y="2186136"/>
            <a:ext cx="5283549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i="1" dirty="0">
                <a:solidFill>
                  <a:srgbClr val="2C313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We mapped </a:t>
            </a:r>
            <a:r>
              <a:rPr lang="en-US" sz="1800" i="1" dirty="0">
                <a:solidFill>
                  <a:srgbClr val="2C313E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Destination.Port </a:t>
            </a:r>
            <a:r>
              <a:rPr lang="en-US" sz="2250" i="1" dirty="0">
                <a:solidFill>
                  <a:srgbClr val="2C313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to the three IANA ranges, then measured how often each range carries an attack.</a:t>
            </a:r>
            <a:endParaRPr lang="en-US" sz="2250" dirty="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686324"/>
            <a:ext cx="5257800" cy="2254895"/>
          </a:xfrm>
          <a:prstGeom prst="roundRect">
            <a:avLst>
              <a:gd name="adj" fmla="val 845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87926" y="3848249"/>
            <a:ext cx="37474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i="1" dirty="0">
                <a:solidFill>
                  <a:srgbClr val="8A8E99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62075" y="3981599"/>
            <a:ext cx="476802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Dynamic Ports</a:t>
            </a:r>
            <a:endParaRPr lang="en-US" sz="21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62075" y="4406354"/>
            <a:ext cx="476802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52" dirty="0">
                <a:solidFill>
                  <a:srgbClr val="5A6173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49152 – 65535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62075" y="4809232"/>
            <a:ext cx="4629150" cy="133350"/>
          </a:xfrm>
          <a:prstGeom prst="roundRect">
            <a:avLst>
              <a:gd name="adj" fmla="val 50000"/>
            </a:avLst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62075" y="4809232"/>
            <a:ext cx="4434632" cy="1333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96707" y="4809232"/>
            <a:ext cx="194370" cy="133350"/>
          </a:xfrm>
          <a:prstGeom prst="rect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62074" y="5037832"/>
            <a:ext cx="1851025" cy="231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95.8% benign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37849" y="5027785"/>
            <a:ext cx="1706951" cy="231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B33A2E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4.2% attack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15100" y="3686324"/>
            <a:ext cx="5257800" cy="2254895"/>
          </a:xfrm>
          <a:prstGeom prst="roundRect">
            <a:avLst>
              <a:gd name="adj" fmla="val 845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55276" y="3848249"/>
            <a:ext cx="37474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i="1" dirty="0">
                <a:solidFill>
                  <a:srgbClr val="8A8E99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29425" y="3981599"/>
            <a:ext cx="476802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Well-known Ports</a:t>
            </a:r>
            <a:endParaRPr lang="en-US" sz="2100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29425" y="4406354"/>
            <a:ext cx="476802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52" dirty="0">
                <a:solidFill>
                  <a:srgbClr val="5A6173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0 – 1023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29425" y="4809232"/>
            <a:ext cx="4629150" cy="133350"/>
          </a:xfrm>
          <a:prstGeom prst="roundRect">
            <a:avLst>
              <a:gd name="adj" fmla="val 50000"/>
            </a:avLst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29425" y="4809232"/>
            <a:ext cx="3828306" cy="1333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657731" y="4809232"/>
            <a:ext cx="800695" cy="133350"/>
          </a:xfrm>
          <a:prstGeom prst="rect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29424" y="5037832"/>
            <a:ext cx="2091577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82.7% benign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06248" y="5037833"/>
            <a:ext cx="2028527" cy="221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B33A2E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17.3% attack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982450" y="3686324"/>
            <a:ext cx="5257800" cy="2254895"/>
          </a:xfrm>
          <a:prstGeom prst="roundRect">
            <a:avLst>
              <a:gd name="adj" fmla="val 845"/>
            </a:avLst>
          </a:prstGeom>
          <a:solidFill>
            <a:srgbClr val="FBEFE9"/>
          </a:solidFill>
          <a:ln w="19050">
            <a:solidFill>
              <a:srgbClr val="B33A2E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713101" y="3857774"/>
            <a:ext cx="37474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i="1" dirty="0">
                <a:solidFill>
                  <a:srgbClr val="8A8E99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 dirty="0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306300" y="3991124"/>
            <a:ext cx="474840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Registered Ports</a:t>
            </a:r>
            <a:endParaRPr lang="en-US" sz="2100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06300" y="4415879"/>
            <a:ext cx="474840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52" dirty="0">
                <a:solidFill>
                  <a:srgbClr val="5A6173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1024 – 49151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2306300" y="4818757"/>
            <a:ext cx="4610100" cy="133350"/>
          </a:xfrm>
          <a:prstGeom prst="roundRect">
            <a:avLst>
              <a:gd name="adj" fmla="val 50000"/>
            </a:avLst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2306300" y="4818757"/>
            <a:ext cx="2563118" cy="1333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4869418" y="4818757"/>
            <a:ext cx="2046833" cy="133350"/>
          </a:xfrm>
          <a:prstGeom prst="rect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306300" y="5027785"/>
            <a:ext cx="2286000" cy="26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55.6% benign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125700" y="5047357"/>
            <a:ext cx="1866900" cy="336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B33A2E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44.4% attack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306300" y="5387876"/>
            <a:ext cx="4748403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8C2722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Nearly half of all flows here are hostile.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47750" y="6226969"/>
            <a:ext cx="16192500" cy="1765250"/>
          </a:xfrm>
          <a:prstGeom prst="roundRect">
            <a:avLst>
              <a:gd name="adj" fmla="val 1422"/>
            </a:avLst>
          </a:prstGeom>
          <a:solidFill>
            <a:srgbClr val="1A1D26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352550" y="6436519"/>
            <a:ext cx="7202164" cy="95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F3EED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 Chi-square test confirms a </a:t>
            </a:r>
            <a:r>
              <a:rPr lang="en-US" sz="2000" b="1" dirty="0">
                <a:solidFill>
                  <a:srgbClr val="F3DAD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highly significant </a:t>
            </a:r>
            <a:r>
              <a:rPr lang="en-US" sz="2000" dirty="0">
                <a:solidFill>
                  <a:srgbClr val="F3EED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relationship between destination port category and attack status — the registered range is a real, statistical hot zone, not noise.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2459420" y="6908974"/>
            <a:ext cx="4533180" cy="370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F3EED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χ² = </a:t>
            </a:r>
            <a:r>
              <a:rPr lang="en-US" sz="1650" dirty="0">
                <a:solidFill>
                  <a:srgbClr val="E2A458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135.83 </a:t>
            </a:r>
            <a:r>
              <a:rPr lang="en-US" sz="1650" dirty="0">
                <a:solidFill>
                  <a:srgbClr val="F3EED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df = 2 p &lt; </a:t>
            </a:r>
            <a:r>
              <a:rPr lang="en-US" sz="1650" dirty="0">
                <a:solidFill>
                  <a:srgbClr val="E2A458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2.22e-16</a:t>
            </a:r>
            <a:endParaRPr lang="en-US" sz="1650" dirty="0">
              <a:latin typeface="Georgia" panose="02040502050405020303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33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3272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PRE-MODELING · VARIABLE SELECTION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Pruning the redundant predictors.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047750" y="2052787"/>
            <a:ext cx="9155729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either model is fit, we screen the candidate predictors for multicollinearity.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Heavily redundant variables get cut by stepwise BIC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47750" y="3039517"/>
            <a:ext cx="7943850" cy="4875311"/>
          </a:xfrm>
          <a:prstGeom prst="roundRect">
            <a:avLst>
              <a:gd name="adj" fmla="val 400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66825" y="3220492"/>
            <a:ext cx="279115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MLR Predictor Correlations</a:t>
            </a:r>
            <a:endParaRPr lang="en-US" sz="18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31286" y="3315742"/>
            <a:ext cx="141743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kern="0" spc="156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PHASE 1 · 9 VARS</a:t>
            </a:r>
            <a:endParaRPr lang="en-US" sz="975" dirty="0">
              <a:latin typeface="Georgia" panose="02040502050405020303" pitchFamily="18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605" y="3616941"/>
            <a:ext cx="4297888" cy="4297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6825" y="7648357"/>
            <a:ext cx="24214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kern="0" spc="98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−1</a:t>
            </a:r>
            <a:endParaRPr lang="en-US" sz="975" dirty="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528018" y="7700000"/>
            <a:ext cx="6983313" cy="76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4253E"/>
              </a:gs>
              <a:gs pos="50000">
                <a:srgbClr val="EAE2CE"/>
              </a:gs>
              <a:gs pos="100000">
                <a:srgbClr val="B33A2E"/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606582" y="7648357"/>
            <a:ext cx="24214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kern="0" spc="98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+1</a:t>
            </a:r>
            <a:endParaRPr lang="en-US" sz="975" dirty="0">
              <a:latin typeface="Georgia" panose="02040502050405020303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296400" y="3039517"/>
            <a:ext cx="7943850" cy="4875311"/>
          </a:xfrm>
          <a:prstGeom prst="roundRect">
            <a:avLst>
              <a:gd name="adj" fmla="val 400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515475" y="3220492"/>
            <a:ext cx="304639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Logistic Predictor Correlations</a:t>
            </a:r>
            <a:endParaRPr lang="en-US" sz="1800" dirty="0">
              <a:latin typeface="Georgia" panose="020405020504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585877" y="3315742"/>
            <a:ext cx="151149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kern="0" spc="156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PHASE 2 · 13 VARS</a:t>
            </a:r>
            <a:endParaRPr lang="en-US" sz="975" dirty="0">
              <a:latin typeface="Georgia" panose="02040502050405020303" pitchFamily="18" charset="0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3999" y="3584659"/>
            <a:ext cx="4610615" cy="461061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515475" y="7648357"/>
            <a:ext cx="24214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kern="0" spc="98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−1</a:t>
            </a:r>
            <a:endParaRPr lang="en-US" sz="975" dirty="0">
              <a:latin typeface="Georgia" panose="02040502050405020303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9776668" y="7700000"/>
            <a:ext cx="6983313" cy="76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4253E"/>
              </a:gs>
              <a:gs pos="50000">
                <a:srgbClr val="EAE2CE"/>
              </a:gs>
              <a:gs pos="100000">
                <a:srgbClr val="B33A2E"/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6855232" y="7648357"/>
            <a:ext cx="24214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kern="0" spc="98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+1</a:t>
            </a:r>
            <a:endParaRPr lang="en-US" sz="975" dirty="0">
              <a:latin typeface="Georgia" panose="02040502050405020303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1047750" y="7970044"/>
            <a:ext cx="16192500" cy="1255365"/>
          </a:xfrm>
          <a:prstGeom prst="roundRect">
            <a:avLst>
              <a:gd name="adj" fmla="val 1517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1304925" y="8090499"/>
            <a:ext cx="2011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kern="0" spc="168" dirty="0">
                <a:solidFill>
                  <a:srgbClr val="B33A2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304925" y="8355265"/>
            <a:ext cx="7897654" cy="738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Both matrices show intense pockets of correlation (dark </a:t>
            </a:r>
            <a:r>
              <a:rPr lang="en-US" sz="1600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navy </a:t>
            </a:r>
            <a:r>
              <a:rPr lang="en-US" sz="16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and firebrick </a:t>
            </a:r>
            <a:r>
              <a:rPr lang="en-US" sz="1600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red </a:t>
            </a:r>
            <a:r>
              <a:rPr lang="en-US" sz="16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), particularly among packet-size and length variables.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9315450" y="8090499"/>
            <a:ext cx="2011680" cy="264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kern="0" spc="168" dirty="0">
                <a:solidFill>
                  <a:srgbClr val="B33A2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9315450" y="8343737"/>
            <a:ext cx="7897654" cy="738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To keep the models stable, all highly correlated pairs </a:t>
            </a:r>
            <a:r>
              <a:rPr lang="en-US" sz="1600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(|r| &gt; 0.9) </a:t>
            </a:r>
            <a:r>
              <a:rPr lang="en-US" sz="16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were pruned before stepwise variable selection.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18340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MLR SETUP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the </a:t>
            </a:r>
            <a:r>
              <a:rPr lang="en-US" sz="5700" i="1" kern="0" spc="-103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</a:t>
            </a: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normal traffic.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26594" y="2395686"/>
            <a:ext cx="419100" cy="419100"/>
          </a:xfrm>
          <a:prstGeom prst="ellipse">
            <a:avLst/>
          </a:prstGeom>
          <a:solidFill>
            <a:srgbClr val="1A1D26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36650" y="235758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BF7EC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5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19250" y="2357586"/>
            <a:ext cx="623273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Model scope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19250" y="2782341"/>
            <a:ext cx="6232739" cy="1669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First-order terms only — no interactions or polynomial expansions. Keep the model interpretable.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8550" y="4558605"/>
            <a:ext cx="419100" cy="419100"/>
          </a:xfrm>
          <a:prstGeom prst="ellipse">
            <a:avLst/>
          </a:prstGeom>
          <a:solidFill>
            <a:srgbClr val="1A1D26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19200" y="451928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BF7EC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5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98092" y="4558605"/>
            <a:ext cx="6232739" cy="708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Variable selection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19250" y="4971182"/>
            <a:ext cx="6232739" cy="1174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Stepwise BIC applied to the benign-only dataset to find the leanest predictor set.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47750" y="6352902"/>
            <a:ext cx="419100" cy="419100"/>
          </a:xfrm>
          <a:prstGeom prst="ellipse">
            <a:avLst/>
          </a:prstGeom>
          <a:solidFill>
            <a:srgbClr val="1A1D26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75263" y="627548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BF7EC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5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95670" y="6271641"/>
            <a:ext cx="6232739" cy="708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98092" y="6684586"/>
            <a:ext cx="5683250" cy="1183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8 predictors </a:t>
            </a:r>
            <a:r>
              <a:rPr lang="en-US" sz="2400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retained to model </a:t>
            </a:r>
            <a:r>
              <a:rPr lang="en-US" sz="2400" dirty="0">
                <a:solidFill>
                  <a:srgbClr val="2C313E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Flow.Bytes</a:t>
            </a:r>
            <a:r>
              <a:rPr lang="en-US" sz="2400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80053" y="2164258"/>
            <a:ext cx="922900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MULTICOLLINEARITY CHECK · VIF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80053" y="2665214"/>
            <a:ext cx="8960197" cy="2928342"/>
          </a:xfrm>
          <a:prstGeom prst="roundRect">
            <a:avLst>
              <a:gd name="adj" fmla="val 1301"/>
            </a:avLst>
          </a:prstGeom>
          <a:solidFill>
            <a:srgbClr val="15181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27703" y="2874764"/>
            <a:ext cx="8733703" cy="2547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i="1" dirty="0">
                <a:solidFill>
                  <a:srgbClr val="7A8190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# Variance Inflation Factor </a:t>
            </a:r>
            <a:r>
              <a:rPr lang="en-US" sz="1275" dirty="0">
                <a:solidFill>
                  <a:srgbClr val="E2A458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vif_values</a:t>
            </a: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 &lt;- car::</a:t>
            </a:r>
            <a:r>
              <a:rPr lang="en-US" sz="1275" dirty="0">
                <a:solidFill>
                  <a:srgbClr val="C7B17A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vif</a:t>
            </a: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(mlr_model) </a:t>
            </a:r>
            <a:r>
              <a:rPr lang="en-US" sz="1275" dirty="0">
                <a:solidFill>
                  <a:srgbClr val="C7B17A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print </a:t>
            </a: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(vif_values)</a:t>
            </a:r>
            <a:endParaRPr lang="en-US" sz="1275" dirty="0">
              <a:latin typeface="Georgia" panose="02040502050405020303" pitchFamily="18" charset="0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1275" dirty="0">
              <a:latin typeface="Georgia" panose="02040502050405020303" pitchFamily="18" charset="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##      act_data_pkt_fwd        PSH.Flag.Count   Avg.Bwd.Segment.Size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##               </a:t>
            </a:r>
            <a:r>
              <a:rPr lang="en-US" sz="1275" dirty="0">
                <a:solidFill>
                  <a:srgbClr val="98C7E2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1.720699</a:t>
            </a: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275" dirty="0">
                <a:solidFill>
                  <a:srgbClr val="98C7E2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2.261688</a:t>
            </a: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275" dirty="0">
                <a:solidFill>
                  <a:srgbClr val="98C7E2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5.937063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##  Bwd.Packet.Length.Std  Bwd.Packet.Length.Min    min_seg_size_forward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##               </a:t>
            </a:r>
            <a:r>
              <a:rPr lang="en-US" sz="1275" dirty="0">
                <a:solidFill>
                  <a:srgbClr val="98C7E2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6.830515</a:t>
            </a: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275" dirty="0">
                <a:solidFill>
                  <a:srgbClr val="98C7E2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1.769534</a:t>
            </a: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275" dirty="0">
                <a:solidFill>
                  <a:srgbClr val="98C7E2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1.038479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##           Active.Std              Active.Max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##               </a:t>
            </a:r>
            <a:r>
              <a:rPr lang="en-US" sz="1275" dirty="0">
                <a:solidFill>
                  <a:srgbClr val="98C7E2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2.406375</a:t>
            </a:r>
            <a:r>
              <a:rPr lang="en-US" sz="1275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275" dirty="0">
                <a:solidFill>
                  <a:srgbClr val="98C7E2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2.545160</a:t>
            </a:r>
          </a:p>
        </p:txBody>
      </p:sp>
      <p:sp>
        <p:nvSpPr>
          <p:cNvPr id="21" name="Shape 19"/>
          <p:cNvSpPr/>
          <p:nvPr/>
        </p:nvSpPr>
        <p:spPr>
          <a:xfrm>
            <a:off x="8280053" y="5765006"/>
            <a:ext cx="8960197" cy="1100390"/>
          </a:xfrm>
          <a:prstGeom prst="rect">
            <a:avLst/>
          </a:prstGeom>
          <a:solidFill>
            <a:srgbClr val="EAF1EA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80053" y="5765005"/>
            <a:ext cx="45719" cy="1187051"/>
          </a:xfrm>
          <a:prstGeom prst="rect">
            <a:avLst/>
          </a:prstGeom>
          <a:solidFill>
            <a:srgbClr val="6B7F5C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556278" y="6006554"/>
            <a:ext cx="342900" cy="342900"/>
          </a:xfrm>
          <a:prstGeom prst="ellipse">
            <a:avLst/>
          </a:prstGeom>
          <a:solidFill>
            <a:srgbClr val="6B7F5C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20486" y="5987504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51798" y="5944075"/>
            <a:ext cx="8159631" cy="124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b="1" dirty="0">
                <a:solidFill>
                  <a:srgbClr val="2D4E1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All clear. 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Max VIF is </a:t>
            </a: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6.83 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, well below the standard threshold of 10. Our predictors are stable enough to interpret.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20584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DIAGNOSTICS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92116" y="419100"/>
            <a:ext cx="624334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fit breaks every assumption.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047750" y="2167086"/>
            <a:ext cx="1046362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5A6173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Before trusting any p-value, we check residuals. The default model fails on three counts — here's what each diagnostic plot is telling us.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7750" y="3294105"/>
            <a:ext cx="4887440" cy="542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B33A2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50" y="3603919"/>
            <a:ext cx="3648233" cy="2993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Row 1198 sits at a leverage of </a:t>
            </a:r>
            <a:r>
              <a:rPr lang="en-US" sz="2400" b="1" dirty="0"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0.99 </a:t>
            </a:r>
            <a:r>
              <a:rPr lang="en-US" sz="2400" dirty="0"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— a single point artificially inflating the model's R² to 0.99.</a:t>
            </a:r>
            <a:endParaRPr lang="en-US" sz="2400" dirty="0">
              <a:latin typeface="Georgia" panose="02040502050405020303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40B7EC-4A12-6404-E8AA-8C046F5FBAEF}"/>
              </a:ext>
            </a:extLst>
          </p:cNvPr>
          <p:cNvGrpSpPr/>
          <p:nvPr/>
        </p:nvGrpSpPr>
        <p:grpSpPr>
          <a:xfrm>
            <a:off x="4968823" y="3155231"/>
            <a:ext cx="8718899" cy="6212434"/>
            <a:chOff x="6059537" y="2982366"/>
            <a:chExt cx="6181231" cy="4436569"/>
          </a:xfrm>
        </p:grpSpPr>
        <p:sp>
          <p:nvSpPr>
            <p:cNvPr id="11" name="Shape 9"/>
            <p:cNvSpPr/>
            <p:nvPr/>
          </p:nvSpPr>
          <p:spPr>
            <a:xfrm>
              <a:off x="6059537" y="2982366"/>
              <a:ext cx="6181231" cy="4436569"/>
            </a:xfrm>
            <a:prstGeom prst="roundRect">
              <a:avLst>
                <a:gd name="adj" fmla="val 346"/>
              </a:avLst>
            </a:prstGeom>
            <a:solidFill>
              <a:srgbClr val="FBF7EC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240512" y="3220492"/>
              <a:ext cx="2846189" cy="1951137"/>
            </a:xfrm>
            <a:prstGeom prst="rect">
              <a:avLst/>
            </a:prstGeom>
            <a:solidFill>
              <a:srgbClr val="FCFAF4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6326237" y="3287167"/>
              <a:ext cx="2754981" cy="2175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975" i="1" dirty="0">
                  <a:solidFill>
                    <a:srgbClr val="5A617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Residuals vs Fitted</a:t>
              </a:r>
              <a:endParaRPr lang="en-US" sz="975" dirty="0"/>
            </a:p>
          </p:txBody>
        </p:sp>
        <p:pic>
          <p:nvPicPr>
            <p:cNvPr id="31" name="Picture 30" descr="raw_resid_fitt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6236" y="3561905"/>
              <a:ext cx="2674739" cy="1619250"/>
            </a:xfrm>
            <a:prstGeom prst="rect">
              <a:avLst/>
            </a:prstGeom>
          </p:spPr>
        </p:pic>
        <p:sp>
          <p:nvSpPr>
            <p:cNvPr id="15" name="Shape 12"/>
            <p:cNvSpPr/>
            <p:nvPr/>
          </p:nvSpPr>
          <p:spPr>
            <a:xfrm>
              <a:off x="9201001" y="3220492"/>
              <a:ext cx="2846338" cy="1951137"/>
            </a:xfrm>
            <a:prstGeom prst="rect">
              <a:avLst/>
            </a:prstGeom>
            <a:solidFill>
              <a:srgbClr val="FCFAF4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9286726" y="3287167"/>
              <a:ext cx="2755135" cy="2175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975" i="1" dirty="0">
                  <a:solidFill>
                    <a:srgbClr val="5A617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Normal Q-Q</a:t>
              </a:r>
              <a:endParaRPr lang="en-US" sz="975" dirty="0"/>
            </a:p>
          </p:txBody>
        </p:sp>
        <p:pic>
          <p:nvPicPr>
            <p:cNvPr id="32" name="Picture 31" descr="raw_qq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86726" y="3561905"/>
              <a:ext cx="2674888" cy="1619250"/>
            </a:xfrm>
            <a:prstGeom prst="rect">
              <a:avLst/>
            </a:prstGeom>
          </p:spPr>
        </p:pic>
        <p:sp>
          <p:nvSpPr>
            <p:cNvPr id="18" name="Shape 14"/>
            <p:cNvSpPr/>
            <p:nvPr/>
          </p:nvSpPr>
          <p:spPr>
            <a:xfrm>
              <a:off x="6240512" y="5285929"/>
              <a:ext cx="2846189" cy="1951137"/>
            </a:xfrm>
            <a:prstGeom prst="rect">
              <a:avLst/>
            </a:prstGeom>
            <a:solidFill>
              <a:srgbClr val="FCFAF4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5"/>
            <p:cNvSpPr/>
            <p:nvPr/>
          </p:nvSpPr>
          <p:spPr>
            <a:xfrm>
              <a:off x="6326237" y="5352604"/>
              <a:ext cx="2754981" cy="2175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975" i="1" dirty="0">
                  <a:solidFill>
                    <a:srgbClr val="5A617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Scale-Location</a:t>
              </a:r>
              <a:endParaRPr lang="en-US" sz="975" dirty="0"/>
            </a:p>
          </p:txBody>
        </p:sp>
        <p:pic>
          <p:nvPicPr>
            <p:cNvPr id="33" name="Picture 32" descr="raw_scale_lo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7741" y="5594003"/>
              <a:ext cx="2674739" cy="1619250"/>
            </a:xfrm>
            <a:prstGeom prst="rect">
              <a:avLst/>
            </a:prstGeom>
          </p:spPr>
        </p:pic>
        <p:sp>
          <p:nvSpPr>
            <p:cNvPr id="21" name="Shape 16"/>
            <p:cNvSpPr/>
            <p:nvPr/>
          </p:nvSpPr>
          <p:spPr>
            <a:xfrm>
              <a:off x="9201001" y="5285929"/>
              <a:ext cx="2846338" cy="1951137"/>
            </a:xfrm>
            <a:prstGeom prst="rect">
              <a:avLst/>
            </a:prstGeom>
            <a:solidFill>
              <a:srgbClr val="FCFAF4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7"/>
            <p:cNvSpPr/>
            <p:nvPr/>
          </p:nvSpPr>
          <p:spPr>
            <a:xfrm>
              <a:off x="9286726" y="5352604"/>
              <a:ext cx="2755135" cy="2175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975" i="1" dirty="0">
                  <a:solidFill>
                    <a:srgbClr val="5A617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Residuals vs Leverage</a:t>
              </a:r>
              <a:endParaRPr lang="en-US" sz="975" dirty="0"/>
            </a:p>
          </p:txBody>
        </p:sp>
        <p:pic>
          <p:nvPicPr>
            <p:cNvPr id="34" name="Picture 33" descr="raw_lev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86726" y="5594003"/>
              <a:ext cx="2674888" cy="1619250"/>
            </a:xfrm>
            <a:prstGeom prst="rect">
              <a:avLst/>
            </a:prstGeom>
          </p:spPr>
        </p:pic>
      </p:grpSp>
      <p:sp>
        <p:nvSpPr>
          <p:cNvPr id="27" name="Text 21"/>
          <p:cNvSpPr/>
          <p:nvPr/>
        </p:nvSpPr>
        <p:spPr>
          <a:xfrm>
            <a:off x="13960562" y="3039517"/>
            <a:ext cx="3422045" cy="927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1E3A5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NON-NORMALITY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13942995" y="3488674"/>
            <a:ext cx="3439612" cy="3287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400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Q-Q plot </a:t>
            </a:r>
            <a:r>
              <a:rPr lang="en-US" sz="24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shows massive deviation in both tails — the residuals are nowhere near normal. This destabilizes every confidence interval downstream.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14120614" y="6796658"/>
            <a:ext cx="2503686" cy="359907"/>
          </a:xfrm>
          <a:prstGeom prst="roundRect">
            <a:avLst>
              <a:gd name="adj" fmla="val 5510"/>
            </a:avLst>
          </a:prstGeom>
          <a:solidFill>
            <a:srgbClr val="EFE7D2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14234914" y="6836231"/>
            <a:ext cx="3195836" cy="56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5A6173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Shapiro-Wilk · p &lt; 2.2e-16</a:t>
            </a:r>
            <a:endParaRPr lang="en-US" sz="11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21376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MODEL REPAIR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fixes restore the assumptions.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2243286"/>
            <a:ext cx="7962900" cy="1332458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4925" y="2305906"/>
            <a:ext cx="533400" cy="567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B33A2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12239" y="2321645"/>
            <a:ext cx="70244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Outlier removal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33575" y="2729284"/>
            <a:ext cx="7024497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Pruned the single high-leverage point (Row 1198) that was inflating R² to 0.99 and warping the regression plane.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77350" y="2243286"/>
            <a:ext cx="7962900" cy="1332458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34525" y="2339777"/>
            <a:ext cx="533400" cy="458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B33A2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3175" y="2336404"/>
            <a:ext cx="70244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Diagnostic robustness check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63175" y="2663428"/>
            <a:ext cx="7024497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Refit with </a:t>
            </a: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log1p(Flow.Bytes) </a:t>
            </a:r>
            <a:r>
              <a:rPr lang="en-US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as a variance check (plots below). Slide 9 keeps the raw-byte fit so coefficients stay interpretable.</a:t>
            </a:r>
            <a:endParaRPr lang="en-US" dirty="0">
              <a:latin typeface="Georgia" panose="02040502050405020303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D7BB90-C753-2FE7-C161-FB6D1AA7474A}"/>
              </a:ext>
            </a:extLst>
          </p:cNvPr>
          <p:cNvGrpSpPr/>
          <p:nvPr/>
        </p:nvGrpSpPr>
        <p:grpSpPr>
          <a:xfrm>
            <a:off x="1047750" y="3785295"/>
            <a:ext cx="9696450" cy="5584477"/>
            <a:chOff x="1047750" y="3785295"/>
            <a:chExt cx="8320980" cy="4149923"/>
          </a:xfrm>
        </p:grpSpPr>
        <p:sp>
          <p:nvSpPr>
            <p:cNvPr id="14" name="Shape 12"/>
            <p:cNvSpPr/>
            <p:nvPr/>
          </p:nvSpPr>
          <p:spPr>
            <a:xfrm>
              <a:off x="1047750" y="3785295"/>
              <a:ext cx="8320980" cy="4149923"/>
            </a:xfrm>
            <a:prstGeom prst="rect">
              <a:avLst/>
            </a:prstGeom>
            <a:solidFill>
              <a:srgbClr val="FBF7EC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>
                <a:latin typeface="Georgia" panose="02040502050405020303" pitchFamily="18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1190625" y="3928170"/>
              <a:ext cx="3969990" cy="1884462"/>
            </a:xfrm>
            <a:prstGeom prst="rect">
              <a:avLst/>
            </a:prstGeom>
            <a:solidFill>
              <a:srgbClr val="FCFAF4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>
                <a:latin typeface="Georgia" panose="02040502050405020303" pitchFamily="18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276350" y="3994845"/>
              <a:ext cx="3912496" cy="2175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975" i="1" dirty="0">
                  <a:solidFill>
                    <a:srgbClr val="5A6173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Log · Residuals vs Fitted</a:t>
              </a:r>
              <a:endParaRPr lang="en-US" sz="975" dirty="0">
                <a:latin typeface="Georgia" panose="02040502050405020303" pitchFamily="18" charset="0"/>
              </a:endParaRPr>
            </a:p>
          </p:txBody>
        </p:sp>
        <p:pic>
          <p:nvPicPr>
            <p:cNvPr id="34" name="Picture 33" descr="log_resid_fitt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5875" y="4288631"/>
              <a:ext cx="3798540" cy="1571625"/>
            </a:xfrm>
            <a:prstGeom prst="rect">
              <a:avLst/>
            </a:prstGeom>
          </p:spPr>
        </p:pic>
        <p:sp>
          <p:nvSpPr>
            <p:cNvPr id="18" name="Shape 15"/>
            <p:cNvSpPr/>
            <p:nvPr/>
          </p:nvSpPr>
          <p:spPr>
            <a:xfrm>
              <a:off x="5255865" y="3928170"/>
              <a:ext cx="3969990" cy="1884462"/>
            </a:xfrm>
            <a:prstGeom prst="rect">
              <a:avLst/>
            </a:prstGeom>
            <a:solidFill>
              <a:srgbClr val="FCFAF4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>
                <a:latin typeface="Georgia" panose="02040502050405020303" pitchFamily="18" charset="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5341590" y="3994845"/>
              <a:ext cx="3912496" cy="2175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975" i="1" dirty="0">
                  <a:solidFill>
                    <a:srgbClr val="5A6173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Log · Normal Q-Q</a:t>
              </a:r>
              <a:endParaRPr lang="en-US" sz="975" dirty="0">
                <a:latin typeface="Georgia" panose="02040502050405020303" pitchFamily="18" charset="0"/>
              </a:endParaRPr>
            </a:p>
          </p:txBody>
        </p:sp>
        <p:pic>
          <p:nvPicPr>
            <p:cNvPr id="35" name="Picture 34" descr="log_qq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41590" y="4304779"/>
              <a:ext cx="3798540" cy="1571625"/>
            </a:xfrm>
            <a:prstGeom prst="rect">
              <a:avLst/>
            </a:prstGeom>
          </p:spPr>
        </p:pic>
        <p:sp>
          <p:nvSpPr>
            <p:cNvPr id="21" name="Shape 17"/>
            <p:cNvSpPr/>
            <p:nvPr/>
          </p:nvSpPr>
          <p:spPr>
            <a:xfrm>
              <a:off x="1190625" y="5907881"/>
              <a:ext cx="3969990" cy="1884462"/>
            </a:xfrm>
            <a:prstGeom prst="rect">
              <a:avLst/>
            </a:prstGeom>
            <a:solidFill>
              <a:srgbClr val="FCFAF4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>
                <a:latin typeface="Georgia" panose="02040502050405020303" pitchFamily="18" charset="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1276350" y="5974556"/>
              <a:ext cx="3912496" cy="2175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975" i="1" dirty="0">
                  <a:solidFill>
                    <a:srgbClr val="5A6173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Log · Scale-Location</a:t>
              </a:r>
              <a:endParaRPr lang="en-US" sz="975" dirty="0">
                <a:latin typeface="Georgia" panose="02040502050405020303" pitchFamily="18" charset="0"/>
              </a:endParaRPr>
            </a:p>
          </p:txBody>
        </p:sp>
        <p:pic>
          <p:nvPicPr>
            <p:cNvPr id="36" name="Picture 35" descr="log_scale_lo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6350" y="6154043"/>
              <a:ext cx="3798540" cy="1571625"/>
            </a:xfrm>
            <a:prstGeom prst="rect">
              <a:avLst/>
            </a:prstGeom>
          </p:spPr>
        </p:pic>
        <p:sp>
          <p:nvSpPr>
            <p:cNvPr id="24" name="Shape 19"/>
            <p:cNvSpPr/>
            <p:nvPr/>
          </p:nvSpPr>
          <p:spPr>
            <a:xfrm>
              <a:off x="5255865" y="5907881"/>
              <a:ext cx="3969990" cy="1884462"/>
            </a:xfrm>
            <a:prstGeom prst="rect">
              <a:avLst/>
            </a:prstGeom>
            <a:solidFill>
              <a:srgbClr val="FCFAF4"/>
            </a:solidFill>
            <a:ln w="9525">
              <a:solidFill>
                <a:srgbClr val="D7CDB4"/>
              </a:solidFill>
              <a:prstDash val="solid"/>
            </a:ln>
          </p:spPr>
          <p:txBody>
            <a:bodyPr/>
            <a:lstStyle/>
            <a:p>
              <a:endParaRPr lang="en-US">
                <a:latin typeface="Georgia" panose="02040502050405020303" pitchFamily="18" charset="0"/>
              </a:endParaRPr>
            </a:p>
          </p:txBody>
        </p:sp>
        <p:sp>
          <p:nvSpPr>
            <p:cNvPr id="25" name="Text 20"/>
            <p:cNvSpPr/>
            <p:nvPr/>
          </p:nvSpPr>
          <p:spPr>
            <a:xfrm>
              <a:off x="5341590" y="5974556"/>
              <a:ext cx="3912496" cy="2175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975" i="1" dirty="0">
                  <a:solidFill>
                    <a:srgbClr val="5A6173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Log · Residuals vs Leverage</a:t>
              </a:r>
              <a:endParaRPr lang="en-US" sz="975" dirty="0">
                <a:latin typeface="Georgia" panose="02040502050405020303" pitchFamily="18" charset="0"/>
              </a:endParaRPr>
            </a:p>
          </p:txBody>
        </p:sp>
        <p:pic>
          <p:nvPicPr>
            <p:cNvPr id="37" name="Picture 36" descr="log_lev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41590" y="6154043"/>
              <a:ext cx="3798540" cy="1571625"/>
            </a:xfrm>
            <a:prstGeom prst="rect">
              <a:avLst/>
            </a:prstGeom>
          </p:spPr>
        </p:pic>
      </p:grpSp>
      <p:sp>
        <p:nvSpPr>
          <p:cNvPr id="27" name="Shape 21"/>
          <p:cNvSpPr/>
          <p:nvPr/>
        </p:nvSpPr>
        <p:spPr>
          <a:xfrm>
            <a:off x="10955091" y="5143500"/>
            <a:ext cx="6285010" cy="3084314"/>
          </a:xfrm>
          <a:prstGeom prst="rect">
            <a:avLst/>
          </a:prstGeom>
          <a:solidFill>
            <a:srgbClr val="EAF1EA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10955091" y="5143500"/>
            <a:ext cx="23855" cy="3084314"/>
          </a:xfrm>
          <a:prstGeom prst="rect">
            <a:avLst/>
          </a:prstGeom>
          <a:solidFill>
            <a:srgbClr val="6B7F5C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11214472" y="5553295"/>
            <a:ext cx="5859286" cy="182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b="1" kern="0" spc="203" dirty="0">
                <a:solidFill>
                  <a:srgbClr val="2D4E1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SYNTHESIS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11214472" y="5978827"/>
            <a:ext cx="5859286" cy="741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The Scale-Location plot flattens and the Q-Q line straightens — confirming the heavy-tailed structure. Slide 9 reports the raw-scale model after outlier removal, so coefficients stay in byte units.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1047750" y="95697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1047750" y="97507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15125700" y="97507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23467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INTERPRETATION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normal traffic volume?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4088011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2243286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33500" y="2431999"/>
            <a:ext cx="497067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R-SQUARED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33500" y="2769989"/>
            <a:ext cx="49706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84" dirty="0">
                <a:solidFill>
                  <a:srgbClr val="1E3A5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0.6249</a:t>
            </a:r>
            <a:endParaRPr lang="en-US" sz="42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33500" y="3379589"/>
            <a:ext cx="497067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5A6173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A realistic fit after removing the leverage outlier.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45151" y="2252811"/>
            <a:ext cx="9525" cy="1835200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40426" y="2391965"/>
            <a:ext cx="496102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OVERALL SIGNIFICANCE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40426" y="2769989"/>
            <a:ext cx="49610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84" dirty="0">
                <a:solidFill>
                  <a:srgbClr val="1E3A5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F = 333.35</a:t>
            </a:r>
            <a:endParaRPr lang="en-US" sz="4200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40426" y="3379589"/>
            <a:ext cx="496102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5A6173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F(8, 1601) · p &lt; 2.2e-16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842700" y="2252811"/>
            <a:ext cx="9525" cy="1835200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137975" y="2415852"/>
            <a:ext cx="496102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PREDICTORS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137975" y="2769989"/>
            <a:ext cx="49610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84" dirty="0">
                <a:solidFill>
                  <a:srgbClr val="1E3A5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8 / 8</a:t>
            </a:r>
            <a:endParaRPr lang="en-US" sz="4200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137975" y="3379589"/>
            <a:ext cx="496102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5A6173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All retained predictors are statistically significant.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7750" y="4421386"/>
            <a:ext cx="768028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DOMINANT DRIVERS · PER 1-SD CHANGE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47750" y="4731744"/>
            <a:ext cx="768028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DRIVER 1 · 1-SD INCREASE MOVES FLOW.BYTES BY 82.99% OF ITS SD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47750" y="5555756"/>
            <a:ext cx="76802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E3A5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Avg.Bwd.Segment.Size</a:t>
            </a:r>
            <a:endParaRPr lang="en-US" sz="1800" dirty="0">
              <a:latin typeface="Georgia" panose="020405020504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47750" y="6020547"/>
            <a:ext cx="7456587" cy="228600"/>
          </a:xfrm>
          <a:prstGeom prst="roundRect">
            <a:avLst>
              <a:gd name="adj" fmla="val 8333"/>
            </a:avLst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47750" y="6020547"/>
            <a:ext cx="6188125" cy="2286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2106" y="5978833"/>
            <a:ext cx="62785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82.99%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47750" y="6325347"/>
            <a:ext cx="7680284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Larger average backward segment sizes are the strongest signal of higher byte volume.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47750" y="7066310"/>
            <a:ext cx="768028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DRIVER 2 · 1-SD INCREASE REDUCES FLOW.BYTES BY 58.41% OF ITS SD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47750" y="7740755"/>
            <a:ext cx="76802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E3A5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Bwd.Packet.Length.Std</a:t>
            </a:r>
            <a:endParaRPr lang="en-US" sz="1800" dirty="0">
              <a:latin typeface="Georgia" panose="020405020504050203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47750" y="8205546"/>
            <a:ext cx="7456587" cy="228600"/>
          </a:xfrm>
          <a:prstGeom prst="roundRect">
            <a:avLst>
              <a:gd name="adj" fmla="val 8333"/>
            </a:avLst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47750" y="8205546"/>
            <a:ext cx="3355330" cy="2286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47090" y="8156729"/>
            <a:ext cx="33607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−58.41%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47750" y="8510346"/>
            <a:ext cx="7680284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Greater variability in backward packet length predicts lower byte volume — irregular packet sizing breaks the normal-traffic baseline.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37737" y="4421386"/>
            <a:ext cx="8448589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203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95% CONFIDENCE INTERVALS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037737" y="4863105"/>
            <a:ext cx="8202513" cy="4335217"/>
          </a:xfrm>
          <a:prstGeom prst="roundRect">
            <a:avLst>
              <a:gd name="adj" fmla="val 1274"/>
            </a:avLst>
          </a:prstGeom>
          <a:solidFill>
            <a:srgbClr val="15181F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285387" y="4971455"/>
            <a:ext cx="7953289" cy="627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7B17A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confint</a:t>
            </a:r>
            <a:r>
              <a:rPr lang="en-US" sz="1600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(mlr_model, level = </a:t>
            </a:r>
            <a:r>
              <a:rPr lang="en-US" sz="1600" dirty="0">
                <a:solidFill>
                  <a:srgbClr val="98C7E2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0.95 </a:t>
            </a:r>
            <a:r>
              <a:rPr lang="en-US" sz="1600" dirty="0">
                <a:solidFill>
                  <a:srgbClr val="E8DEC4"/>
                </a:solidFill>
                <a:highlight>
                  <a:srgbClr val="15181F"/>
                </a:highlight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6E7E020-78BD-7F5A-D197-5A79AF185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256323"/>
              </p:ext>
            </p:extLst>
          </p:nvPr>
        </p:nvGraphicFramePr>
        <p:xfrm>
          <a:off x="9285387" y="5538267"/>
          <a:ext cx="5245351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656">
                  <a:extLst>
                    <a:ext uri="{9D8B030D-6E8A-4147-A177-3AD203B41FA5}">
                      <a16:colId xmlns:a16="http://schemas.microsoft.com/office/drawing/2014/main" val="94909697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369898588"/>
                    </a:ext>
                  </a:extLst>
                </a:gridCol>
                <a:gridCol w="1270535">
                  <a:extLst>
                    <a:ext uri="{9D8B030D-6E8A-4147-A177-3AD203B41FA5}">
                      <a16:colId xmlns:a16="http://schemas.microsoft.com/office/drawing/2014/main" val="1572969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F4EED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4EEDF"/>
                          </a:solidFill>
                        </a:rPr>
                        <a:t>2.5%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4EEDF"/>
                          </a:solidFill>
                        </a:rPr>
                        <a:t>97.5%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502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4EEDF"/>
                          </a:solidFill>
                        </a:rPr>
                        <a:t>Intercept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-13,006.5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-3,892.136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6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act_data_pkt_fwd</a:t>
                      </a:r>
                      <a:r>
                        <a:rPr lang="en-US" sz="1600" dirty="0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600" dirty="0">
                        <a:solidFill>
                          <a:srgbClr val="F4EED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1,671.243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1,991.878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40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PSH.Flag.Count</a:t>
                      </a:r>
                      <a:r>
                        <a:rPr lang="en-US" sz="1600" dirty="0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600" dirty="0">
                        <a:solidFill>
                          <a:srgbClr val="F4EED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-9,793.332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-2,656.97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70900"/>
                  </a:ext>
                </a:extLst>
              </a:tr>
              <a:tr h="12218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4EEDF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Avg.Bwd.Segment.Size</a:t>
                      </a:r>
                      <a:r>
                        <a:rPr lang="en-US" sz="1600" dirty="0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600" dirty="0">
                        <a:solidFill>
                          <a:srgbClr val="F4EED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94.9016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113.2506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900553"/>
                  </a:ext>
                </a:extLst>
              </a:tr>
              <a:tr h="1171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Bwd.Packet.Length.Std</a:t>
                      </a:r>
                      <a:r>
                        <a:rPr lang="en-US" sz="1600" dirty="0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600" dirty="0">
                        <a:solidFill>
                          <a:srgbClr val="F4EED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-83.6379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-</a:t>
                      </a:r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63.8259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657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Bwd.Packet.Length.Min</a:t>
                      </a:r>
                      <a:r>
                        <a:rPr lang="en-US" sz="1600" dirty="0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600" dirty="0">
                        <a:solidFill>
                          <a:srgbClr val="F4EED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-118.3284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-87.5425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11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min_seg_size_forward</a:t>
                      </a:r>
                      <a:r>
                        <a:rPr lang="en-US" sz="1600" dirty="0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600" dirty="0">
                        <a:solidFill>
                          <a:srgbClr val="F4EED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96.1574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434.2465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477885"/>
                  </a:ext>
                </a:extLst>
              </a:tr>
              <a:tr h="159611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Active.Std</a:t>
                      </a:r>
                      <a:r>
                        <a:rPr lang="en-US" sz="1600" dirty="0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600" dirty="0">
                        <a:solidFill>
                          <a:srgbClr val="F4EED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-.0478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-.0294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959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Active.Max</a:t>
                      </a:r>
                      <a:r>
                        <a:rPr lang="en-US" sz="1600" dirty="0">
                          <a:solidFill>
                            <a:srgbClr val="F4EEDF"/>
                          </a:solidFill>
                          <a:highlight>
                            <a:srgbClr val="15181F"/>
                          </a:highlight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600" dirty="0">
                        <a:solidFill>
                          <a:srgbClr val="F4EED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.0106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98C7E2"/>
                          </a:solidFill>
                          <a:latin typeface="Georgia" panose="02040502050405020303" pitchFamily="18" charset="0"/>
                          <a:ea typeface="Courier New" pitchFamily="34" charset="-122"/>
                          <a:cs typeface="Courier New" pitchFamily="34" charset="-120"/>
                        </a:rPr>
                        <a:t>.0155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9318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22775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LOGISTIC SETUP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Classifying </a:t>
            </a:r>
            <a:r>
              <a:rPr lang="en-US" sz="5700" i="1" kern="0" spc="-103" dirty="0">
                <a:solidFill>
                  <a:srgbClr val="B33A2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threats </a:t>
            </a:r>
            <a:r>
              <a:rPr lang="en-US" sz="5700" kern="0" spc="-103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from the baseline.</a:t>
            </a:r>
            <a:endParaRPr lang="en-US" sz="5700" dirty="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47750" y="2357586"/>
            <a:ext cx="5245001" cy="1987600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62074" y="2508572"/>
            <a:ext cx="4754841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62075" y="2865239"/>
            <a:ext cx="4754841" cy="450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kern="0" spc="-39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Attack_Flag</a:t>
            </a:r>
            <a:endParaRPr lang="en-US" sz="195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62075" y="3238731"/>
            <a:ext cx="4754841" cy="554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Binary outcome — 0 = benign, 1 = attack. Overall attack rate in the data is </a:t>
            </a: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19.3%</a:t>
            </a:r>
            <a:r>
              <a:rPr lang="en-US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21351" y="2357586"/>
            <a:ext cx="5245150" cy="1987600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35676" y="2510358"/>
            <a:ext cx="475499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DATA SPLIT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35676" y="2979539"/>
            <a:ext cx="475499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kern="0" spc="-66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70 </a:t>
            </a:r>
            <a:r>
              <a:rPr lang="en-US" sz="2100" kern="0" spc="-66" dirty="0">
                <a:solidFill>
                  <a:srgbClr val="5A6173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/ </a:t>
            </a:r>
            <a:r>
              <a:rPr lang="en-US" sz="3300" kern="0" spc="-66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300" dirty="0">
              <a:latin typeface="Georgia" panose="020405020504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35676" y="3629025"/>
            <a:ext cx="3231505" cy="2667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45263" y="3575311"/>
            <a:ext cx="3328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Training · 1,397 rows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067181" y="3629025"/>
            <a:ext cx="1384846" cy="266700"/>
          </a:xfrm>
          <a:prstGeom prst="rect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67180" y="3613411"/>
            <a:ext cx="1613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Testing · 600 rows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995100" y="2357586"/>
            <a:ext cx="5245150" cy="1987600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09424" y="2482825"/>
            <a:ext cx="475499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MODEL SCOPE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309425" y="2979539"/>
            <a:ext cx="475499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kern="0" spc="-66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11 predictors</a:t>
            </a:r>
            <a:endParaRPr lang="en-US" sz="3300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09425" y="3445743"/>
            <a:ext cx="4754995" cy="554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First-order terms only. Iterative stepwise BIC and VIF-based pruning. Max VIF: </a:t>
            </a: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4.37</a:t>
            </a:r>
            <a:r>
              <a:rPr lang="en-US" dirty="0">
                <a:solidFill>
                  <a:srgbClr val="2C313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57275" y="4777033"/>
            <a:ext cx="16192500" cy="1392734"/>
          </a:xfrm>
          <a:prstGeom prst="rect">
            <a:avLst/>
          </a:prstGeom>
          <a:solidFill>
            <a:srgbClr val="FAF1D6"/>
          </a:solidFill>
          <a:ln/>
        </p:spPr>
        <p:txBody>
          <a:bodyPr/>
          <a:lstStyle/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57275" y="6160242"/>
            <a:ext cx="16192500" cy="9525"/>
          </a:xfrm>
          <a:prstGeom prst="rect">
            <a:avLst/>
          </a:prstGeom>
          <a:solidFill>
            <a:srgbClr val="D4B568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57275" y="4777033"/>
            <a:ext cx="16192500" cy="9525"/>
          </a:xfrm>
          <a:prstGeom prst="rect">
            <a:avLst/>
          </a:prstGeom>
          <a:solidFill>
            <a:srgbClr val="D4B568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57275" y="4777033"/>
            <a:ext cx="57150" cy="1392734"/>
          </a:xfrm>
          <a:prstGeom prst="rect">
            <a:avLst/>
          </a:prstGeom>
          <a:solidFill>
            <a:srgbClr val="D4B568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7240250" y="4777033"/>
            <a:ext cx="9525" cy="1392734"/>
          </a:xfrm>
          <a:prstGeom prst="rect">
            <a:avLst/>
          </a:prstGeom>
          <a:solidFill>
            <a:srgbClr val="D4B568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419225" y="4966377"/>
            <a:ext cx="419100" cy="419100"/>
          </a:xfrm>
          <a:prstGeom prst="ellipse">
            <a:avLst/>
          </a:prstGeom>
          <a:solidFill>
            <a:srgbClr val="B5872C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52574" y="497375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AF1D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50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982248" y="4942232"/>
            <a:ext cx="15334202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203" dirty="0">
                <a:solidFill>
                  <a:srgbClr val="6B52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DIAGNOSTIC ALERT · PARTIAL SEPARATION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047874" y="5312970"/>
            <a:ext cx="15059025" cy="652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dirty="0">
                <a:solidFill>
                  <a:srgbClr val="3F2F0A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Active.Std, Fwd.Packet.Length.Min, and Avg.Fwd.Segment.Size </a:t>
            </a:r>
            <a:r>
              <a:rPr lang="en-US" dirty="0">
                <a:solidFill>
                  <a:srgbClr val="3F2F0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were flagged for partial separation. We keep them for predictive accuracy but don't interpret their odds-ratio magnitudes.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8EFFC-8979-03A2-464A-A2220E63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11A9C9-FEDF-9682-E4A6-D8189554DF07}"/>
              </a:ext>
            </a:extLst>
          </p:cNvPr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0A4BB8-3093-5053-EC41-5582EB1AD688}"/>
              </a:ext>
            </a:extLst>
          </p:cNvPr>
          <p:cNvSpPr/>
          <p:nvPr/>
        </p:nvSpPr>
        <p:spPr>
          <a:xfrm>
            <a:off x="1257300" y="456158"/>
            <a:ext cx="22775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LOGISTIC SETUP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C6DDB0-DCA3-A071-0B48-05DACDC782F2}"/>
              </a:ext>
            </a:extLst>
          </p:cNvPr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13</a:t>
            </a:r>
            <a:endParaRPr lang="en-US" sz="1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7C7741-C3E1-85DE-31C2-49EF5F10C2EF}"/>
              </a:ext>
            </a:extLst>
          </p:cNvPr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i="1" kern="0" spc="-103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Variable explanation and model details.</a:t>
            </a:r>
            <a:endParaRPr lang="en-US" sz="5700" i="1" dirty="0">
              <a:latin typeface="Georgia" panose="02040502050405020303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64FF135-E678-AE59-DC85-50AB59DEB301}"/>
              </a:ext>
            </a:extLst>
          </p:cNvPr>
          <p:cNvSpPr/>
          <p:nvPr/>
        </p:nvSpPr>
        <p:spPr>
          <a:xfrm>
            <a:off x="1112292" y="3982825"/>
            <a:ext cx="16127958" cy="5207948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B1E9368-CEB1-D134-D0D7-5BA115441323}"/>
              </a:ext>
            </a:extLst>
          </p:cNvPr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9D3B0C1-4B55-20F2-C73B-E4B14BA9DF1A}"/>
              </a:ext>
            </a:extLst>
          </p:cNvPr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37B99C8-A965-18DF-775E-6A484DFE96AE}"/>
              </a:ext>
            </a:extLst>
          </p:cNvPr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6B0655C-305E-0C29-EC67-CB07ADF61432}"/>
              </a:ext>
            </a:extLst>
          </p:cNvPr>
          <p:cNvGraphicFramePr>
            <a:graphicFrameLocks noGrp="1"/>
          </p:cNvGraphicFramePr>
          <p:nvPr/>
        </p:nvGraphicFramePr>
        <p:xfrm>
          <a:off x="1333500" y="4213133"/>
          <a:ext cx="15671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415">
                  <a:extLst>
                    <a:ext uri="{9D8B030D-6E8A-4147-A177-3AD203B41FA5}">
                      <a16:colId xmlns:a16="http://schemas.microsoft.com/office/drawing/2014/main" val="949096975"/>
                    </a:ext>
                  </a:extLst>
                </a:gridCol>
                <a:gridCol w="12703385">
                  <a:extLst>
                    <a:ext uri="{9D8B030D-6E8A-4147-A177-3AD203B41FA5}">
                      <a16:colId xmlns:a16="http://schemas.microsoft.com/office/drawing/2014/main" val="1572969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15181F"/>
                          </a:solidFill>
                        </a:rPr>
                        <a:t>Variable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15181F"/>
                          </a:solidFill>
                        </a:rPr>
                        <a:t>Definition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502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sz="2000" b="0" i="0" kern="1200" dirty="0" err="1">
                          <a:solidFill>
                            <a:srgbClr val="1518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Fwd.Packet.Length.Min</a:t>
                      </a:r>
                      <a:endParaRPr lang="en-US" sz="2000" b="0" i="0" kern="1200" dirty="0">
                        <a:solidFill>
                          <a:srgbClr val="15181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Smallest forward packet</a:t>
                      </a:r>
                      <a:endParaRPr lang="en-US" sz="2000" dirty="0">
                        <a:solidFill>
                          <a:srgbClr val="15181F"/>
                        </a:solidFill>
                        <a:latin typeface="Georgia" panose="02040502050405020303" pitchFamily="18" charset="0"/>
                        <a:ea typeface="Courier New" pitchFamily="34" charset="-122"/>
                        <a:cs typeface="Courier New" pitchFamily="34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6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Avg.Fwd.Segment.Size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forward segment size </a:t>
                      </a:r>
                      <a:endParaRPr lang="en-US" sz="2000" dirty="0">
                        <a:solidFill>
                          <a:srgbClr val="15181F"/>
                        </a:solidFill>
                        <a:latin typeface="Georgia" panose="02040502050405020303" pitchFamily="18" charset="0"/>
                        <a:ea typeface="Courier New" pitchFamily="34" charset="-122"/>
                        <a:cs typeface="Courier New" pitchFamily="34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359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URG.Flag.Count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packets with TCP URG flag set</a:t>
                      </a:r>
                      <a:endParaRPr lang="en-US" sz="2000" dirty="0">
                        <a:solidFill>
                          <a:srgbClr val="15181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66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sz="2000" b="0" i="0" kern="1200" dirty="0" err="1">
                          <a:solidFill>
                            <a:srgbClr val="1518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Active.Std</a:t>
                      </a:r>
                      <a:r>
                        <a:rPr lang="en-US" sz="2000" b="0" i="0" kern="1200" dirty="0">
                          <a:solidFill>
                            <a:srgbClr val="1518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 deviation of active periods</a:t>
                      </a:r>
                      <a:endParaRPr lang="en-US" sz="2000" dirty="0">
                        <a:solidFill>
                          <a:srgbClr val="15181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900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Down.Up.Ratio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15181F"/>
                          </a:solidFill>
                        </a:rPr>
                        <a:t>The download and upload ratio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988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Destination.Port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traffic is going</a:t>
                      </a:r>
                      <a:endParaRPr lang="en-US" sz="2000" dirty="0">
                        <a:solidFill>
                          <a:srgbClr val="15181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620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Idle.Min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Shortest idle period</a:t>
                      </a:r>
                      <a:endParaRPr lang="en-US" sz="2000" dirty="0">
                        <a:solidFill>
                          <a:srgbClr val="15181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36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Avg.Bwd.Segment.Size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backward segment size </a:t>
                      </a:r>
                      <a:endParaRPr lang="en-US" sz="2000" dirty="0">
                        <a:solidFill>
                          <a:srgbClr val="15181F"/>
                        </a:solidFill>
                        <a:latin typeface="Georgia" panose="02040502050405020303" pitchFamily="18" charset="0"/>
                        <a:ea typeface="Courier New" pitchFamily="34" charset="-122"/>
                        <a:cs typeface="Courier New" pitchFamily="34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089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Bwd.IAT.Total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inter-arrival time of backward packets</a:t>
                      </a:r>
                      <a:endParaRPr lang="en-US" sz="2000" dirty="0">
                        <a:solidFill>
                          <a:srgbClr val="15181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088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rgbClr val="1518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Init_Win_bytes_backward</a:t>
                      </a:r>
                      <a:endParaRPr lang="en-US" sz="2000" b="0" i="0" kern="1200" dirty="0">
                        <a:solidFill>
                          <a:srgbClr val="15181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Initial TCP receive window from server</a:t>
                      </a:r>
                      <a:endParaRPr lang="en-US" sz="2000" dirty="0">
                        <a:solidFill>
                          <a:srgbClr val="15181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818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rgbClr val="1518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PSH.Flag.Count</a:t>
                      </a:r>
                      <a:r>
                        <a:rPr lang="en-US" sz="2000" b="0" i="0" kern="1200" dirty="0">
                          <a:solidFill>
                            <a:srgbClr val="1518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packets with TCP PSH flag set</a:t>
                      </a:r>
                      <a:endParaRPr lang="en-US" sz="2000" dirty="0">
                        <a:solidFill>
                          <a:srgbClr val="15181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420017"/>
                  </a:ext>
                </a:extLst>
              </a:tr>
            </a:tbl>
          </a:graphicData>
        </a:graphic>
      </p:graphicFrame>
      <p:grpSp>
        <p:nvGrpSpPr>
          <p:cNvPr id="49" name="Group 48">
            <a:extLst>
              <a:ext uri="{FF2B5EF4-FFF2-40B4-BE49-F238E27FC236}">
                <a16:creationId xmlns:a16="http://schemas.microsoft.com/office/drawing/2014/main" id="{8F224DF3-C8E1-A9AD-B1AA-F68AE5F72898}"/>
              </a:ext>
            </a:extLst>
          </p:cNvPr>
          <p:cNvGrpSpPr/>
          <p:nvPr/>
        </p:nvGrpSpPr>
        <p:grpSpPr>
          <a:xfrm>
            <a:off x="1123950" y="2068217"/>
            <a:ext cx="16259175" cy="1733633"/>
            <a:chOff x="1114425" y="2333171"/>
            <a:chExt cx="16259175" cy="2518200"/>
          </a:xfrm>
        </p:grpSpPr>
        <p:sp>
          <p:nvSpPr>
            <p:cNvPr id="42" name="Shape 19">
              <a:extLst>
                <a:ext uri="{FF2B5EF4-FFF2-40B4-BE49-F238E27FC236}">
                  <a16:creationId xmlns:a16="http://schemas.microsoft.com/office/drawing/2014/main" id="{C28608F1-F85B-491D-A996-D14E99B75D95}"/>
                </a:ext>
              </a:extLst>
            </p:cNvPr>
            <p:cNvSpPr/>
            <p:nvPr/>
          </p:nvSpPr>
          <p:spPr>
            <a:xfrm>
              <a:off x="1114425" y="2333171"/>
              <a:ext cx="16192500" cy="2518200"/>
            </a:xfrm>
            <a:prstGeom prst="rect">
              <a:avLst/>
            </a:prstGeom>
            <a:solidFill>
              <a:srgbClr val="FAF1D6"/>
            </a:solidFill>
            <a:ln/>
          </p:spPr>
          <p:txBody>
            <a:bodyPr/>
            <a:lstStyle/>
            <a:p>
              <a:endParaRPr lang="en-US" dirty="0">
                <a:latin typeface="Georgia" panose="02040502050405020303" pitchFamily="18" charset="0"/>
              </a:endParaRPr>
            </a:p>
          </p:txBody>
        </p:sp>
        <p:sp>
          <p:nvSpPr>
            <p:cNvPr id="43" name="Shape 20">
              <a:extLst>
                <a:ext uri="{FF2B5EF4-FFF2-40B4-BE49-F238E27FC236}">
                  <a16:creationId xmlns:a16="http://schemas.microsoft.com/office/drawing/2014/main" id="{B7B395D8-D8CA-5458-B54B-84AED12C7AD2}"/>
                </a:ext>
              </a:extLst>
            </p:cNvPr>
            <p:cNvSpPr/>
            <p:nvPr/>
          </p:nvSpPr>
          <p:spPr>
            <a:xfrm>
              <a:off x="1114425" y="4834149"/>
              <a:ext cx="16192500" cy="17222"/>
            </a:xfrm>
            <a:prstGeom prst="rect">
              <a:avLst/>
            </a:prstGeom>
            <a:solidFill>
              <a:srgbClr val="D4B568"/>
            </a:solidFill>
            <a:ln/>
          </p:spPr>
          <p:txBody>
            <a:bodyPr/>
            <a:lstStyle/>
            <a:p>
              <a:endParaRPr lang="en-US">
                <a:latin typeface="Georgia" panose="02040502050405020303" pitchFamily="18" charset="0"/>
              </a:endParaRPr>
            </a:p>
          </p:txBody>
        </p:sp>
        <p:sp>
          <p:nvSpPr>
            <p:cNvPr id="44" name="Shape 21">
              <a:extLst>
                <a:ext uri="{FF2B5EF4-FFF2-40B4-BE49-F238E27FC236}">
                  <a16:creationId xmlns:a16="http://schemas.microsoft.com/office/drawing/2014/main" id="{3858660C-5279-B872-23C3-9794B0D19D8F}"/>
                </a:ext>
              </a:extLst>
            </p:cNvPr>
            <p:cNvSpPr/>
            <p:nvPr/>
          </p:nvSpPr>
          <p:spPr>
            <a:xfrm>
              <a:off x="1114425" y="2333171"/>
              <a:ext cx="16192500" cy="17222"/>
            </a:xfrm>
            <a:prstGeom prst="rect">
              <a:avLst/>
            </a:prstGeom>
            <a:solidFill>
              <a:srgbClr val="D4B568"/>
            </a:solidFill>
            <a:ln/>
          </p:spPr>
          <p:txBody>
            <a:bodyPr/>
            <a:lstStyle/>
            <a:p>
              <a:endParaRPr lang="en-US">
                <a:latin typeface="Georgia" panose="02040502050405020303" pitchFamily="18" charset="0"/>
              </a:endParaRPr>
            </a:p>
          </p:txBody>
        </p:sp>
        <p:sp>
          <p:nvSpPr>
            <p:cNvPr id="45" name="Shape 22">
              <a:extLst>
                <a:ext uri="{FF2B5EF4-FFF2-40B4-BE49-F238E27FC236}">
                  <a16:creationId xmlns:a16="http://schemas.microsoft.com/office/drawing/2014/main" id="{83F0236E-F363-46C5-BF3F-BC9FA9237A03}"/>
                </a:ext>
              </a:extLst>
            </p:cNvPr>
            <p:cNvSpPr/>
            <p:nvPr/>
          </p:nvSpPr>
          <p:spPr>
            <a:xfrm>
              <a:off x="1114425" y="2333171"/>
              <a:ext cx="57150" cy="2518200"/>
            </a:xfrm>
            <a:prstGeom prst="rect">
              <a:avLst/>
            </a:prstGeom>
            <a:solidFill>
              <a:srgbClr val="D4B568"/>
            </a:solidFill>
            <a:ln/>
          </p:spPr>
          <p:txBody>
            <a:bodyPr/>
            <a:lstStyle/>
            <a:p>
              <a:endParaRPr lang="en-US">
                <a:latin typeface="Georgia" panose="02040502050405020303" pitchFamily="18" charset="0"/>
              </a:endParaRPr>
            </a:p>
          </p:txBody>
        </p:sp>
        <p:sp>
          <p:nvSpPr>
            <p:cNvPr id="46" name="Shape 23">
              <a:extLst>
                <a:ext uri="{FF2B5EF4-FFF2-40B4-BE49-F238E27FC236}">
                  <a16:creationId xmlns:a16="http://schemas.microsoft.com/office/drawing/2014/main" id="{F2F5227B-078B-6E89-B64C-F29DDB108869}"/>
                </a:ext>
              </a:extLst>
            </p:cNvPr>
            <p:cNvSpPr/>
            <p:nvPr/>
          </p:nvSpPr>
          <p:spPr>
            <a:xfrm>
              <a:off x="17297400" y="2333171"/>
              <a:ext cx="9525" cy="2518200"/>
            </a:xfrm>
            <a:prstGeom prst="rect">
              <a:avLst/>
            </a:prstGeom>
            <a:solidFill>
              <a:srgbClr val="D4B568"/>
            </a:solidFill>
            <a:ln/>
          </p:spPr>
          <p:txBody>
            <a:bodyPr/>
            <a:lstStyle/>
            <a:p>
              <a:endParaRPr lang="en-US">
                <a:latin typeface="Georgia" panose="02040502050405020303" pitchFamily="18" charset="0"/>
              </a:endParaRPr>
            </a:p>
          </p:txBody>
        </p:sp>
        <p:sp>
          <p:nvSpPr>
            <p:cNvPr id="47" name="Text 26">
              <a:extLst>
                <a:ext uri="{FF2B5EF4-FFF2-40B4-BE49-F238E27FC236}">
                  <a16:creationId xmlns:a16="http://schemas.microsoft.com/office/drawing/2014/main" id="{BE5D49B2-3697-8F15-F3EE-1C8E61C7C521}"/>
                </a:ext>
              </a:extLst>
            </p:cNvPr>
            <p:cNvSpPr/>
            <p:nvPr/>
          </p:nvSpPr>
          <p:spPr>
            <a:xfrm>
              <a:off x="1323975" y="2481032"/>
              <a:ext cx="16049625" cy="38885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600" b="1" kern="0" spc="203" dirty="0">
                  <a:solidFill>
                    <a:srgbClr val="6B521A"/>
                  </a:solidFill>
                  <a:latin typeface="Georgia" panose="02040502050405020303" pitchFamily="18" charset="0"/>
                  <a:ea typeface="Arial" pitchFamily="34" charset="-122"/>
                  <a:cs typeface="Arial" pitchFamily="34" charset="-120"/>
                </a:rPr>
                <a:t>GLM FORMULATION</a:t>
              </a:r>
              <a:endParaRPr lang="en-US" sz="1600" dirty="0">
                <a:latin typeface="Georgia" panose="02040502050405020303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 27">
                  <a:extLst>
                    <a:ext uri="{FF2B5EF4-FFF2-40B4-BE49-F238E27FC236}">
                      <a16:creationId xmlns:a16="http://schemas.microsoft.com/office/drawing/2014/main" id="{70B22CDB-176E-52BA-555A-C0FEAB5C211A}"/>
                    </a:ext>
                  </a:extLst>
                </p:cNvPr>
                <p:cNvSpPr/>
                <p:nvPr/>
              </p:nvSpPr>
              <p:spPr>
                <a:xfrm>
                  <a:off x="1362074" y="3045910"/>
                  <a:ext cx="15801975" cy="1597449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Bin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1,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dirty="0"/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=1|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pi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/>
                    <a:t> </a:t>
                  </a:r>
                </a:p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>
            <p:sp>
              <p:nvSpPr>
                <p:cNvPr id="48" name="Text 27">
                  <a:extLst>
                    <a:ext uri="{FF2B5EF4-FFF2-40B4-BE49-F238E27FC236}">
                      <a16:creationId xmlns:a16="http://schemas.microsoft.com/office/drawing/2014/main" id="{70B22CDB-176E-52BA-555A-C0FEAB5C21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2074" y="3045910"/>
                  <a:ext cx="15801975" cy="1597449"/>
                </a:xfrm>
                <a:prstGeom prst="rect">
                  <a:avLst/>
                </a:prstGeom>
                <a:blipFill>
                  <a:blip r:embed="rId3"/>
                  <a:stretch>
                    <a:fillRect l="-386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00914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21306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PERFORMANCE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catches attacks at near-perfect rates.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047750" y="2186136"/>
            <a:ext cx="4610746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2C313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The overall model is </a:t>
            </a:r>
            <a:r>
              <a:rPr lang="en-US" sz="2100" b="1" i="1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highly significant </a:t>
            </a:r>
            <a:r>
              <a:rPr lang="en-US" sz="2100" i="1" dirty="0">
                <a:solidFill>
                  <a:srgbClr val="2C313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— Likelihood Ratio Test χ² = 878.25, p = 2.94e-181.</a:t>
            </a:r>
            <a:endParaRPr lang="en-US" sz="2100" dirty="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3628132"/>
            <a:ext cx="8200876" cy="1200150"/>
          </a:xfrm>
          <a:prstGeom prst="rect">
            <a:avLst/>
          </a:prstGeom>
          <a:solidFill>
            <a:srgbClr val="FBF7EC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47750" y="4818757"/>
            <a:ext cx="8200876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47750" y="3628132"/>
            <a:ext cx="8200876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7750" y="3628132"/>
            <a:ext cx="47625" cy="12001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239101" y="3628132"/>
            <a:ext cx="9525" cy="1200150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7487" y="3722488"/>
            <a:ext cx="565083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16630" y="4013091"/>
            <a:ext cx="5286226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At a 0.5 probability cutoff — how often the model gets the call right overall.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48326" y="3866257"/>
            <a:ext cx="220027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kern="0" spc="-150" dirty="0">
                <a:solidFill>
                  <a:srgbClr val="1E3A5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91.2%</a:t>
            </a:r>
            <a:endParaRPr lang="en-US" sz="6000" dirty="0">
              <a:latin typeface="Georgia" panose="020405020504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47750" y="5056882"/>
            <a:ext cx="8200876" cy="1200150"/>
          </a:xfrm>
          <a:prstGeom prst="rect">
            <a:avLst/>
          </a:prstGeom>
          <a:solidFill>
            <a:srgbClr val="FBF7EC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47750" y="6247507"/>
            <a:ext cx="8200876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47750" y="5056882"/>
            <a:ext cx="8200876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47750" y="5056882"/>
            <a:ext cx="47625" cy="12001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101" y="5056882"/>
            <a:ext cx="9525" cy="1200150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07105" y="5103093"/>
            <a:ext cx="565083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97580" y="5429846"/>
            <a:ext cx="5374521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Of all the true attacks in the data, the model successfully catches this many.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48326" y="5295007"/>
            <a:ext cx="220027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kern="0" spc="-150" dirty="0">
                <a:solidFill>
                  <a:srgbClr val="1E3A5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95.3%</a:t>
            </a:r>
            <a:endParaRPr lang="en-US" sz="6000" dirty="0">
              <a:latin typeface="Georgia" panose="020405020504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47750" y="6485632"/>
            <a:ext cx="8200876" cy="1200150"/>
          </a:xfrm>
          <a:prstGeom prst="rect">
            <a:avLst/>
          </a:prstGeom>
          <a:solidFill>
            <a:srgbClr val="FBF7EC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47750" y="7676257"/>
            <a:ext cx="8200876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47750" y="6485632"/>
            <a:ext cx="8200876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47750" y="6485632"/>
            <a:ext cx="47625" cy="1200150"/>
          </a:xfrm>
          <a:prstGeom prst="rect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239101" y="6485632"/>
            <a:ext cx="9525" cy="1200150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07105" y="6550893"/>
            <a:ext cx="565083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SPECIFICITY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07105" y="6870591"/>
            <a:ext cx="5295751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After tuning the threshold via Youden's Index — how often it correctly clears benign traffic.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48326" y="6723757"/>
            <a:ext cx="220027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kern="0" spc="-150" dirty="0">
                <a:solidFill>
                  <a:srgbClr val="B33A2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89.0%</a:t>
            </a:r>
            <a:endParaRPr lang="en-US" sz="6000" dirty="0">
              <a:latin typeface="Georgia" panose="020405020504050203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643639" y="3628132"/>
            <a:ext cx="7596611" cy="4900910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166699" y="3885307"/>
            <a:ext cx="1099989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ROC Curve</a:t>
            </a:r>
            <a:endParaRPr lang="en-US" sz="1650" dirty="0">
              <a:latin typeface="Georgia" panose="020405020504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185183" y="3836475"/>
            <a:ext cx="1283494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kern="0" spc="72" dirty="0">
                <a:solidFill>
                  <a:srgbClr val="5A6173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AUC = 0.9625</a:t>
            </a:r>
            <a:endParaRPr lang="en-US" sz="1200" dirty="0">
              <a:latin typeface="Georgia" panose="02040502050405020303" pitchFamily="18" charset="0"/>
            </a:endParaRPr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4227" y="4185262"/>
            <a:ext cx="4197311" cy="392974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9759143" y="8037165"/>
            <a:ext cx="748110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5A6173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A model that simply guesses would track the dashed diagonal. Ours hugs the top-left corner.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35153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PHASE 2 · COEFFICIENT INTERPRETATION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The anatomy of an attack.</a:t>
            </a:r>
            <a:endParaRPr lang="en-US" sz="5700" dirty="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186136"/>
            <a:ext cx="11376484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i="1" dirty="0">
                <a:solidFill>
                  <a:srgbClr val="2C313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To make the slopes practical, we measured the </a:t>
            </a:r>
            <a:r>
              <a:rPr lang="en-US" sz="1950" b="1" i="1" dirty="0">
                <a:solidFill>
                  <a:srgbClr val="1A1D26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percentage change in the odds of an attack </a:t>
            </a:r>
            <a:r>
              <a:rPr lang="en-US" sz="1950" i="1" dirty="0">
                <a:solidFill>
                  <a:srgbClr val="2C313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for every 1-standard-deviation increase in each predictor. The signs split cleanly in two directions.</a:t>
            </a:r>
            <a:endParaRPr lang="en-US" sz="195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7750" y="3216622"/>
            <a:ext cx="8093869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B33A2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High-risk signals · </a:t>
            </a:r>
            <a:r>
              <a:rPr lang="en-US" sz="1650" i="1" dirty="0">
                <a:solidFill>
                  <a:srgbClr val="5A6173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increase the odds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47750" y="3887092"/>
            <a:ext cx="45719" cy="1302419"/>
          </a:xfrm>
          <a:prstGeom prst="rect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28725" y="3887092"/>
            <a:ext cx="7907465" cy="588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Idle.Min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28725" y="4225677"/>
            <a:ext cx="790746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kern="0" spc="-54" dirty="0">
                <a:solidFill>
                  <a:srgbClr val="B33A2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+319.3% </a:t>
            </a:r>
            <a:r>
              <a:rPr lang="en-US" sz="2000" kern="0" spc="-54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per 1-SD increase</a:t>
            </a:r>
            <a:endParaRPr lang="en-US" sz="2000" dirty="0">
              <a:latin typeface="Georgia" panose="02040502050405020303" pitchFamily="18" charset="0"/>
            </a:endParaRPr>
          </a:p>
          <a:p>
            <a:pPr marL="0" indent="0" algn="l">
              <a:lnSpc>
                <a:spcPct val="145000"/>
              </a:lnSpc>
              <a:spcBef>
                <a:spcPts val="400"/>
              </a:spcBef>
              <a:buNone/>
            </a:pPr>
            <a:r>
              <a:rPr lang="en-US" sz="2000" kern="0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95% CI [+178.4%, +562.8%] · p &lt; 0.001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44226" y="5646761"/>
            <a:ext cx="45719" cy="1277913"/>
          </a:xfrm>
          <a:prstGeom prst="rect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25201" y="5646762"/>
            <a:ext cx="790746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Down.Up.Ratio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25201" y="5985346"/>
            <a:ext cx="790746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kern="0" spc="-54" dirty="0">
                <a:solidFill>
                  <a:srgbClr val="B33A2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+187.8% </a:t>
            </a:r>
            <a:r>
              <a:rPr lang="en-US" sz="2000" kern="0" spc="-54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per 1-SD increase</a:t>
            </a:r>
            <a:endParaRPr lang="en-US" sz="2000" dirty="0">
              <a:latin typeface="Georgia" panose="02040502050405020303" pitchFamily="18" charset="0"/>
            </a:endParaRPr>
          </a:p>
          <a:p>
            <a:pPr marL="0" indent="0" algn="l">
              <a:lnSpc>
                <a:spcPct val="145000"/>
              </a:lnSpc>
              <a:spcBef>
                <a:spcPts val="400"/>
              </a:spcBef>
              <a:buNone/>
            </a:pPr>
            <a:r>
              <a:rPr lang="en-US" sz="2000" kern="0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95% CI [+96.2%, +325.7%] · p &lt; 0.001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44226" y="7357588"/>
            <a:ext cx="7858125" cy="1590377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63301" y="7419357"/>
            <a:ext cx="329599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63301" y="7713809"/>
            <a:ext cx="7642574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Attacks often feature </a:t>
            </a: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prolonged idle states 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asymmetric upload/download behavior 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— the fingerprint of automated, one-way traffic.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382125" y="3216622"/>
            <a:ext cx="8093869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3A5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Protective signals · </a:t>
            </a:r>
            <a:r>
              <a:rPr lang="en-US" sz="1650" i="1" dirty="0">
                <a:solidFill>
                  <a:srgbClr val="5A6173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decrease the odds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382125" y="3887092"/>
            <a:ext cx="45719" cy="795611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63100" y="3887093"/>
            <a:ext cx="790746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Fwd.Packet.Length.Min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63100" y="4225676"/>
            <a:ext cx="7907465" cy="869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kern="0" spc="-54" dirty="0">
                <a:solidFill>
                  <a:srgbClr val="1E3A5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−100% </a:t>
            </a:r>
            <a:r>
              <a:rPr lang="en-US" sz="2000" kern="0" spc="-54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unstable · separation-flagged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380775" y="5604296"/>
            <a:ext cx="45719" cy="7576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61750" y="5604296"/>
            <a:ext cx="790746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Avg.Fwd.Segment.Size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61749" y="6009555"/>
            <a:ext cx="79074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kern="0" spc="-54" dirty="0">
                <a:solidFill>
                  <a:srgbClr val="1E3A5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−100% </a:t>
            </a:r>
            <a:r>
              <a:rPr lang="en-US" sz="2000" kern="0" spc="-54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unstable · separation-flagged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80775" y="6533430"/>
            <a:ext cx="7858125" cy="1721719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599849" y="6605337"/>
            <a:ext cx="292261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b="1" kern="0" spc="189" dirty="0">
                <a:solidFill>
                  <a:srgbClr val="5A6173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99850" y="6986337"/>
            <a:ext cx="7642574" cy="877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Both predictors are </a:t>
            </a:r>
            <a:r>
              <a:rPr lang="en-US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flagged for separation </a:t>
            </a:r>
            <a:r>
              <a:rPr lang="en-US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(see slide 10) — odds ratios saturate at −100% because attacks rarely show normal forward packet sizes. Treat as a qualitative signal only.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47750" y="93792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7750" y="9560272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125700" y="95602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505123"/>
            <a:ext cx="76200" cy="76200"/>
          </a:xfrm>
          <a:prstGeom prst="ellipse">
            <a:avLst/>
          </a:prstGeom>
          <a:solidFill>
            <a:srgbClr val="B58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300" y="456158"/>
            <a:ext cx="12290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705808" y="419100"/>
            <a:ext cx="61064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/ 13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</a:t>
            </a:r>
            <a:r>
              <a:rPr lang="en-US" sz="5700" i="1" kern="0" spc="-103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</a:t>
            </a: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isolate the </a:t>
            </a:r>
            <a:r>
              <a:rPr lang="en-US" sz="5700" i="1" kern="0" spc="-103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abnormal</a:t>
            </a:r>
            <a:r>
              <a:rPr lang="en-US" sz="5700" kern="0" spc="-103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2338536"/>
            <a:ext cx="7924800" cy="5050968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57275" y="2348061"/>
            <a:ext cx="7905750" cy="12903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3025" y="2433786"/>
            <a:ext cx="7554278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i="1" dirty="0">
                <a:solidFill>
                  <a:srgbClr val="FFFFFF">
                    <a:alpha val="85000"/>
                  </a:srgbClr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Phase 01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43025" y="2779326"/>
            <a:ext cx="19273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kern="0" spc="-27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The Baseline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43025" y="3219223"/>
            <a:ext cx="755427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kern="0" spc="144" dirty="0">
                <a:solidFill>
                  <a:srgbClr val="FFFFFF">
                    <a:alpha val="80000"/>
                  </a:srgbClr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MULTIPLE LINEAR REGRESSION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3025" y="3718396"/>
            <a:ext cx="755427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b="1" kern="0" spc="189" dirty="0">
                <a:solidFill>
                  <a:srgbClr val="1E3A5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43025" y="4068440"/>
            <a:ext cx="7554278" cy="613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Normal traffic volume is highly predictable, driven primarily by base segment sizes ( 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Avg.Bwd.Segment.Size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) and active data packets.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43025" y="5600789"/>
            <a:ext cx="755427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b="1" kern="0" spc="189" dirty="0">
                <a:solidFill>
                  <a:srgbClr val="1E3A5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SYSTEMIC TRAIT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43025" y="5918449"/>
            <a:ext cx="7554278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The data is inherently heavy-tailed and heteroscedastic — a log-transform was required before any baseline inference could be trusted.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315450" y="2384482"/>
            <a:ext cx="7924800" cy="4995497"/>
          </a:xfrm>
          <a:prstGeom prst="rect">
            <a:avLst/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324975" y="2348061"/>
            <a:ext cx="7905750" cy="1290340"/>
          </a:xfrm>
          <a:prstGeom prst="rect">
            <a:avLst/>
          </a:prstGeom>
          <a:solidFill>
            <a:srgbClr val="B33A2E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10725" y="2442679"/>
            <a:ext cx="7554278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i="1" dirty="0">
                <a:solidFill>
                  <a:srgbClr val="FFFFFF">
                    <a:alpha val="85000"/>
                  </a:srgbClr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Phase 02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10725" y="2805075"/>
            <a:ext cx="20423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kern="0" spc="-27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The Anomaly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10725" y="3214650"/>
            <a:ext cx="755427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kern="0" spc="144" dirty="0">
                <a:solidFill>
                  <a:srgbClr val="FFFFFF">
                    <a:alpha val="80000"/>
                  </a:srgbClr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10725" y="3682836"/>
            <a:ext cx="755427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b="1" kern="0" spc="189" dirty="0">
                <a:solidFill>
                  <a:srgbClr val="B33A2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610725" y="4068440"/>
            <a:ext cx="7554278" cy="903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Malicious traffic deviates sharply from the baseline. It operates disproportionately on </a:t>
            </a:r>
            <a:r>
              <a:rPr lang="en-US" sz="2000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Registered Ports 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(44.4% attack rate) and shows anomalous timing (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Idle.Min 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) and asymmetric flow ( 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Courier New" pitchFamily="34" charset="-122"/>
                <a:cs typeface="Courier New" pitchFamily="34" charset="-120"/>
              </a:rPr>
              <a:t>Down.Up.Ratio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).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10725" y="5955953"/>
            <a:ext cx="755427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b="1" kern="0" spc="189" dirty="0">
                <a:solidFill>
                  <a:srgbClr val="B33A2E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SYSTEMIC TRAIT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10725" y="6370401"/>
            <a:ext cx="7554278" cy="606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These deviations let a first-order logistic model isolate attacks with </a:t>
            </a:r>
            <a:r>
              <a:rPr lang="en-US" sz="2000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91.2% accuracy 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and an AUC of </a:t>
            </a:r>
            <a:r>
              <a:rPr lang="en-US" sz="2000" b="1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0.9625</a:t>
            </a:r>
            <a:r>
              <a:rPr lang="en-US" sz="2000" dirty="0">
                <a:solidFill>
                  <a:srgbClr val="1A1D2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38225" y="7835354"/>
            <a:ext cx="16192500" cy="1457325"/>
          </a:xfrm>
          <a:prstGeom prst="rect">
            <a:avLst/>
          </a:prstGeom>
          <a:solidFill>
            <a:srgbClr val="1A1D26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085976" y="8178254"/>
            <a:ext cx="1378539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i="1" dirty="0">
                <a:solidFill>
                  <a:srgbClr val="F3EED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By mathematically defining the </a:t>
            </a:r>
            <a:r>
              <a:rPr lang="en-US" sz="2250" dirty="0">
                <a:solidFill>
                  <a:srgbClr val="E2A458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shape of benign flow </a:t>
            </a:r>
            <a:r>
              <a:rPr lang="en-US" sz="2250" i="1" dirty="0">
                <a:solidFill>
                  <a:srgbClr val="F3EED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, anomalous network intrusions become statistically glaring — enabling highly sensitive ( </a:t>
            </a:r>
            <a:r>
              <a:rPr lang="en-US" sz="2250" dirty="0">
                <a:solidFill>
                  <a:srgbClr val="E2A458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95.3%</a:t>
            </a:r>
            <a:r>
              <a:rPr lang="en-US" sz="2250" i="1" dirty="0">
                <a:solidFill>
                  <a:srgbClr val="F3EED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) automated detection.</a:t>
            </a:r>
            <a:endParaRPr lang="en-US" sz="2250" dirty="0">
              <a:latin typeface="Georgia" panose="020405020504050203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47750" y="9684097"/>
            <a:ext cx="16192500" cy="9525"/>
          </a:xfrm>
          <a:prstGeom prst="rect">
            <a:avLst/>
          </a:prstGeom>
          <a:solidFill>
            <a:srgbClr val="D7C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7750" y="9738529"/>
            <a:ext cx="47638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CICIDS2017 INTRUSION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125700" y="9865072"/>
            <a:ext cx="219075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68" dirty="0">
                <a:solidFill>
                  <a:srgbClr val="8A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II · MAY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2055</Words>
  <Application>Microsoft Office PowerPoint</Application>
  <PresentationFormat>Custom</PresentationFormat>
  <Paragraphs>331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Kate Kinz.</cp:lastModifiedBy>
  <cp:revision>39</cp:revision>
  <dcterms:created xsi:type="dcterms:W3CDTF">2026-05-18T19:47:55Z</dcterms:created>
  <dcterms:modified xsi:type="dcterms:W3CDTF">2026-05-19T23:04:44Z</dcterms:modified>
</cp:coreProperties>
</file>